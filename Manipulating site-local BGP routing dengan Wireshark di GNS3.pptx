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5"/>
  </p:notesMasterIdLst>
  <p:sldIdLst>
    <p:sldId id="339" r:id="rId2"/>
    <p:sldId id="399" r:id="rId3"/>
    <p:sldId id="400" r:id="rId4"/>
    <p:sldId id="401" r:id="rId5"/>
    <p:sldId id="395" r:id="rId6"/>
    <p:sldId id="398" r:id="rId7"/>
    <p:sldId id="397" r:id="rId8"/>
    <p:sldId id="396" r:id="rId9"/>
    <p:sldId id="393" r:id="rId10"/>
    <p:sldId id="402" r:id="rId11"/>
    <p:sldId id="403" r:id="rId12"/>
    <p:sldId id="384" r:id="rId13"/>
    <p:sldId id="39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Manuel Fradinho" initials="MF"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DFF"/>
    <a:srgbClr val="00B2A5"/>
    <a:srgbClr val="00D9C7"/>
    <a:srgbClr val="73FDD6"/>
    <a:srgbClr val="FF40FF"/>
    <a:srgbClr val="A92C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79922" autoAdjust="0"/>
  </p:normalViewPr>
  <p:slideViewPr>
    <p:cSldViewPr snapToGrid="0">
      <p:cViewPr varScale="1">
        <p:scale>
          <a:sx n="62" d="100"/>
          <a:sy n="62" d="100"/>
        </p:scale>
        <p:origin x="360" y="60"/>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A3E45-57A9-44A4-8D02-ECC452318D6C}" type="datetimeFigureOut">
              <a:rPr lang="en-US" smtClean="0"/>
              <a:t>4/23/2026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B232A1-099D-4B50-B749-7C373A0D848E}" type="slidenum">
              <a:rPr lang="en-US" smtClean="0"/>
              <a:t>‹#›</a:t>
            </a:fld>
            <a:endParaRPr lang="en-US"/>
          </a:p>
        </p:txBody>
      </p:sp>
    </p:spTree>
    <p:extLst>
      <p:ext uri="{BB962C8B-B14F-4D97-AF65-F5344CB8AC3E}">
        <p14:creationId xmlns:p14="http://schemas.microsoft.com/office/powerpoint/2010/main" val="2638543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https://github.com/Rakibul73/Cisco_Network_Routing_Switching</a:t>
            </a:r>
          </a:p>
          <a:p>
            <a:r>
              <a:rPr lang="en-US" dirty="0" smtClean="0"/>
              <a:t>https://github.com/Rakibul73/Cisco_Network_Routing_Switching/tree/main/Problem_Lab_BGP</a:t>
            </a:r>
          </a:p>
          <a:p>
            <a:r>
              <a:rPr lang="en-US" dirty="0" smtClean="0"/>
              <a:t>https://networklessons.com/labs/bgp-professional-lab-1#BGP_Prefer_eBGP_over_iBGP</a:t>
            </a:r>
          </a:p>
          <a:p>
            <a:endParaRPr lang="en-US" dirty="0" smtClean="0"/>
          </a:p>
          <a:p>
            <a:endParaRPr lang="en-US" dirty="0" smtClean="0"/>
          </a:p>
          <a:p>
            <a:r>
              <a:rPr lang="en-US" dirty="0" smtClean="0"/>
              <a:t>https://github.com/Rakibul73/whiteboard-app</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a:t>
            </a:fld>
            <a:endParaRPr lang="en-US"/>
          </a:p>
        </p:txBody>
      </p:sp>
    </p:spTree>
    <p:extLst>
      <p:ext uri="{BB962C8B-B14F-4D97-AF65-F5344CB8AC3E}">
        <p14:creationId xmlns:p14="http://schemas.microsoft.com/office/powerpoint/2010/main" val="326982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https://www.networkacademy.io/ccie-enterprise/sdwan/what-is-a-centralized-control-policy</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2</a:t>
            </a:fld>
            <a:endParaRPr lang="en-US"/>
          </a:p>
        </p:txBody>
      </p:sp>
    </p:spTree>
    <p:extLst>
      <p:ext uri="{BB962C8B-B14F-4D97-AF65-F5344CB8AC3E}">
        <p14:creationId xmlns:p14="http://schemas.microsoft.com/office/powerpoint/2010/main" val="34202147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Lab #2 Two LANs connected by a router</a:t>
            </a:r>
          </a:p>
          <a:p>
            <a:r>
              <a:rPr lang="en-US" dirty="0" smtClean="0"/>
              <a:t>http://wpage.unina.it/rcanonic/didattica/gns3-labs/lab2/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Lab #16 </a:t>
            </a:r>
            <a:r>
              <a:rPr lang="en-US" sz="1200" b="1" i="0" kern="1200" dirty="0" smtClean="0">
                <a:solidFill>
                  <a:schemeClr val="tx1"/>
                </a:solidFill>
                <a:effectLst/>
                <a:latin typeface="+mn-lt"/>
                <a:ea typeface="+mn-ea"/>
                <a:cs typeface="+mn-cs"/>
              </a:rPr>
              <a:t>MPLS with static Label Switched Path (LSP)</a:t>
            </a:r>
          </a:p>
          <a:p>
            <a:r>
              <a:rPr lang="en-US" dirty="0" smtClean="0"/>
              <a:t>http://wpage.unina.it/rcanonic/didattica/gns3-labs/lab16/</a:t>
            </a:r>
          </a:p>
          <a:p>
            <a:endParaRPr lang="en-US" dirty="0" smtClean="0"/>
          </a:p>
          <a:p>
            <a:r>
              <a:rPr lang="en-US" dirty="0" smtClean="0"/>
              <a:t>https://www.quisted.net/index.php/2018/04/30/lab-viii-mpls-mp-bgp-eompls/</a:t>
            </a:r>
          </a:p>
          <a:p>
            <a:endParaRPr lang="en-US" dirty="0" smtClean="0"/>
          </a:p>
          <a:p>
            <a:r>
              <a:rPr lang="en-US" dirty="0" smtClean="0"/>
              <a:t>https://blog.pierky.com/gns3-lab-bgp-multihoming-to-a-single-provider-with-partial-routing/</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5</a:t>
            </a:fld>
            <a:endParaRPr lang="en-US"/>
          </a:p>
        </p:txBody>
      </p:sp>
    </p:spTree>
    <p:extLst>
      <p:ext uri="{BB962C8B-B14F-4D97-AF65-F5344CB8AC3E}">
        <p14:creationId xmlns:p14="http://schemas.microsoft.com/office/powerpoint/2010/main" val="39363112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http://wpage.unina.it/rcanonic/didattica/gns3-labs/lab2/</a:t>
            </a:r>
          </a:p>
          <a:p>
            <a:r>
              <a:rPr lang="en-US" dirty="0" smtClean="0"/>
              <a:t>https://www.networkacademy.io/ccie-enterprise/sdwan/localized-policies</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7</a:t>
            </a:fld>
            <a:endParaRPr lang="en-US"/>
          </a:p>
        </p:txBody>
      </p:sp>
    </p:spTree>
    <p:extLst>
      <p:ext uri="{BB962C8B-B14F-4D97-AF65-F5344CB8AC3E}">
        <p14:creationId xmlns:p14="http://schemas.microsoft.com/office/powerpoint/2010/main" val="225634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https://www.slideserve.com/hatten/lecture-7-l2-mpls-vpn-vpws-h-vpls-powerpoint-ppt-presentation</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8</a:t>
            </a:fld>
            <a:endParaRPr lang="en-US"/>
          </a:p>
        </p:txBody>
      </p:sp>
    </p:spTree>
    <p:extLst>
      <p:ext uri="{BB962C8B-B14F-4D97-AF65-F5344CB8AC3E}">
        <p14:creationId xmlns:p14="http://schemas.microsoft.com/office/powerpoint/2010/main" val="4199519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http://wpage.unina.it/rcanonic/didattica/gns3-labs/lab16/</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9</a:t>
            </a:fld>
            <a:endParaRPr lang="en-US"/>
          </a:p>
        </p:txBody>
      </p:sp>
    </p:spTree>
    <p:extLst>
      <p:ext uri="{BB962C8B-B14F-4D97-AF65-F5344CB8AC3E}">
        <p14:creationId xmlns:p14="http://schemas.microsoft.com/office/powerpoint/2010/main" val="1859360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Lab #2 Two LANs connected by a router</a:t>
            </a:r>
          </a:p>
          <a:p>
            <a:r>
              <a:rPr lang="en-US" dirty="0" smtClean="0"/>
              <a:t>http://wpage.unina.it/rcanonic/didattica/gns3-labs/lab2/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Lab #16 </a:t>
            </a:r>
            <a:r>
              <a:rPr lang="en-US" sz="1200" b="1" i="0" kern="1200" dirty="0" smtClean="0">
                <a:solidFill>
                  <a:schemeClr val="tx1"/>
                </a:solidFill>
                <a:effectLst/>
                <a:latin typeface="+mn-lt"/>
                <a:ea typeface="+mn-ea"/>
                <a:cs typeface="+mn-cs"/>
              </a:rPr>
              <a:t>MPLS with static Label Switched Path (LSP)</a:t>
            </a:r>
          </a:p>
          <a:p>
            <a:r>
              <a:rPr lang="en-US" dirty="0" smtClean="0"/>
              <a:t>http://wpage.unina.it/rcanonic/didattica/gns3-labs/lab16/</a:t>
            </a:r>
          </a:p>
          <a:p>
            <a:endParaRPr lang="en-US" dirty="0" smtClean="0"/>
          </a:p>
          <a:p>
            <a:r>
              <a:rPr lang="en-US" dirty="0" smtClean="0"/>
              <a:t>https://www.quisted.net/index.php/2018/04/30/lab-viii-mpls-mp-bgp-eompls/</a:t>
            </a:r>
          </a:p>
          <a:p>
            <a:endParaRPr lang="en-US" dirty="0" smtClean="0"/>
          </a:p>
          <a:p>
            <a:r>
              <a:rPr lang="en-US" dirty="0" smtClean="0"/>
              <a:t>https://blog.pierky.com/gns3-lab-bgp-multihoming-to-a-single-provider-with-partial-routing/</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10</a:t>
            </a:fld>
            <a:endParaRPr lang="en-US"/>
          </a:p>
        </p:txBody>
      </p:sp>
    </p:spTree>
    <p:extLst>
      <p:ext uri="{BB962C8B-B14F-4D97-AF65-F5344CB8AC3E}">
        <p14:creationId xmlns:p14="http://schemas.microsoft.com/office/powerpoint/2010/main" val="1564265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Lab #2 Two LANs connected by a router</a:t>
            </a:r>
          </a:p>
          <a:p>
            <a:r>
              <a:rPr lang="en-US" dirty="0" smtClean="0"/>
              <a:t>http://wpage.unina.it/rcanonic/didattica/gns3-labs/lab2/</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Lab #16 </a:t>
            </a:r>
            <a:r>
              <a:rPr lang="en-US" sz="1200" b="1" i="0" kern="1200" dirty="0" smtClean="0">
                <a:solidFill>
                  <a:schemeClr val="tx1"/>
                </a:solidFill>
                <a:effectLst/>
                <a:latin typeface="+mn-lt"/>
                <a:ea typeface="+mn-ea"/>
                <a:cs typeface="+mn-cs"/>
              </a:rPr>
              <a:t>MPLS with static Label Switched Path (LSP)</a:t>
            </a:r>
          </a:p>
          <a:p>
            <a:r>
              <a:rPr lang="en-US" dirty="0" smtClean="0"/>
              <a:t>http://wpage.unina.it/rcanonic/didattica/gns3-labs/lab16/</a:t>
            </a:r>
          </a:p>
          <a:p>
            <a:endParaRPr lang="en-US" dirty="0" smtClean="0"/>
          </a:p>
          <a:p>
            <a:r>
              <a:rPr lang="en-US" dirty="0" smtClean="0"/>
              <a:t>https://www.quisted.net/index.php/2018/04/30/lab-viii-mpls-mp-bgp-eompls/</a:t>
            </a:r>
          </a:p>
          <a:p>
            <a:endParaRPr lang="en-US" dirty="0" smtClean="0"/>
          </a:p>
          <a:p>
            <a:r>
              <a:rPr lang="en-US" dirty="0" smtClean="0"/>
              <a:t>https://blog.pierky.com/gns3-lab-bgp-multihoming-to-a-single-provider-with-partial-routing/</a:t>
            </a:r>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11</a:t>
            </a:fld>
            <a:endParaRPr lang="en-US"/>
          </a:p>
        </p:txBody>
      </p:sp>
    </p:spTree>
    <p:extLst>
      <p:ext uri="{BB962C8B-B14F-4D97-AF65-F5344CB8AC3E}">
        <p14:creationId xmlns:p14="http://schemas.microsoft.com/office/powerpoint/2010/main" val="1502393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https://www.quisted.net/index.php/2018/04/30/lab-viii-mpls-mp-bgp-eompls/</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6B232A1-099D-4B50-B749-7C373A0D848E}" type="slidenum">
              <a:rPr lang="en-US" smtClean="0"/>
              <a:t>12</a:t>
            </a:fld>
            <a:endParaRPr lang="en-US"/>
          </a:p>
        </p:txBody>
      </p:sp>
    </p:spTree>
    <p:extLst>
      <p:ext uri="{BB962C8B-B14F-4D97-AF65-F5344CB8AC3E}">
        <p14:creationId xmlns:p14="http://schemas.microsoft.com/office/powerpoint/2010/main" val="3530619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1673555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580645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255502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F28CD25-4015-481E-94C9-A931395C8E35}"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5255570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F28CD25-4015-481E-94C9-A931395C8E35}"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482625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F28CD25-4015-481E-94C9-A931395C8E35}"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1635559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28CD25-4015-481E-94C9-A931395C8E35}"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80506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4793117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F28CD25-4015-481E-94C9-A931395C8E35}"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466610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810339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F28CD25-4015-481E-94C9-A931395C8E35}"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F35205-7406-4E96-85E9-F173CE5CBA86}" type="slidenum">
              <a:rPr lang="en-US" smtClean="0"/>
              <a:t>‹#›</a:t>
            </a:fld>
            <a:endParaRPr lang="en-US"/>
          </a:p>
        </p:txBody>
      </p:sp>
    </p:spTree>
    <p:extLst>
      <p:ext uri="{BB962C8B-B14F-4D97-AF65-F5344CB8AC3E}">
        <p14:creationId xmlns:p14="http://schemas.microsoft.com/office/powerpoint/2010/main" val="3908497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28CD25-4015-481E-94C9-A931395C8E35}" type="datetimeFigureOut">
              <a:rPr lang="en-US" smtClean="0"/>
              <a:t>4/23/2026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F35205-7406-4E96-85E9-F173CE5CBA86}" type="slidenum">
              <a:rPr lang="en-US" smtClean="0"/>
              <a:t>‹#›</a:t>
            </a:fld>
            <a:endParaRPr lang="en-US"/>
          </a:p>
        </p:txBody>
      </p:sp>
    </p:spTree>
    <p:extLst>
      <p:ext uri="{BB962C8B-B14F-4D97-AF65-F5344CB8AC3E}">
        <p14:creationId xmlns:p14="http://schemas.microsoft.com/office/powerpoint/2010/main" val="33831171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7"/>
          <p:cNvPicPr>
            <a:picLocks noGrp="1" noChangeAspect="1"/>
          </p:cNvPicPr>
          <p:nvPr>
            <p:ph idx="1"/>
          </p:nvPr>
        </p:nvPicPr>
        <p:blipFill>
          <a:blip r:embed="rId3"/>
          <a:stretch>
            <a:fillRect/>
          </a:stretch>
        </p:blipFill>
        <p:spPr>
          <a:xfrm>
            <a:off x="46290" y="549166"/>
            <a:ext cx="1980634" cy="1262343"/>
          </a:xfrm>
          <a:prstGeom prst="rect">
            <a:avLst/>
          </a:prstGeom>
        </p:spPr>
      </p:pic>
      <p:pic>
        <p:nvPicPr>
          <p:cNvPr id="30" name="Picture 29"/>
          <p:cNvPicPr>
            <a:picLocks noChangeAspect="1"/>
          </p:cNvPicPr>
          <p:nvPr/>
        </p:nvPicPr>
        <p:blipFill rotWithShape="1">
          <a:blip r:embed="rId4"/>
          <a:srcRect l="8646" t="12924" r="16013" b="9596"/>
          <a:stretch/>
        </p:blipFill>
        <p:spPr>
          <a:xfrm>
            <a:off x="348892" y="2278144"/>
            <a:ext cx="1209868" cy="1244217"/>
          </a:xfrm>
          <a:prstGeom prst="rect">
            <a:avLst/>
          </a:prstGeom>
          <a:ln>
            <a:noFill/>
          </a:ln>
          <a:effectLst>
            <a:softEdge rad="112500"/>
          </a:effectLst>
        </p:spPr>
      </p:pic>
      <p:pic>
        <p:nvPicPr>
          <p:cNvPr id="31" name="Picture 30"/>
          <p:cNvPicPr>
            <a:picLocks noChangeAspect="1"/>
          </p:cNvPicPr>
          <p:nvPr/>
        </p:nvPicPr>
        <p:blipFill rotWithShape="1">
          <a:blip r:embed="rId5"/>
          <a:srcRect t="31519" b="32047"/>
          <a:stretch/>
        </p:blipFill>
        <p:spPr>
          <a:xfrm>
            <a:off x="478321" y="2904448"/>
            <a:ext cx="1018759" cy="323944"/>
          </a:xfrm>
          <a:prstGeom prst="rect">
            <a:avLst/>
          </a:prstGeom>
          <a:ln>
            <a:noFill/>
          </a:ln>
          <a:effectLst>
            <a:softEdge rad="112500"/>
          </a:effectLst>
        </p:spPr>
      </p:pic>
      <p:pic>
        <p:nvPicPr>
          <p:cNvPr id="6" name="Picture 5"/>
          <p:cNvPicPr>
            <a:picLocks noChangeAspect="1"/>
          </p:cNvPicPr>
          <p:nvPr/>
        </p:nvPicPr>
        <p:blipFill>
          <a:blip r:embed="rId6"/>
          <a:stretch>
            <a:fillRect/>
          </a:stretch>
        </p:blipFill>
        <p:spPr>
          <a:xfrm>
            <a:off x="306070" y="1596944"/>
            <a:ext cx="1896069" cy="213322"/>
          </a:xfrm>
          <a:prstGeom prst="rect">
            <a:avLst/>
          </a:prstGeom>
        </p:spPr>
      </p:pic>
      <p:grpSp>
        <p:nvGrpSpPr>
          <p:cNvPr id="8" name="Group 7">
            <a:extLst>
              <a:ext uri="{FF2B5EF4-FFF2-40B4-BE49-F238E27FC236}">
                <a16:creationId xmlns:a16="http://schemas.microsoft.com/office/drawing/2014/main" id="{2AABCB87-2ECC-4C03-B5BB-6EE11C8A4485}"/>
              </a:ext>
            </a:extLst>
          </p:cNvPr>
          <p:cNvGrpSpPr/>
          <p:nvPr/>
        </p:nvGrpSpPr>
        <p:grpSpPr>
          <a:xfrm>
            <a:off x="477502" y="1251268"/>
            <a:ext cx="976966" cy="369285"/>
            <a:chOff x="4853562" y="1589418"/>
            <a:chExt cx="2609520" cy="1291565"/>
          </a:xfrm>
        </p:grpSpPr>
        <p:sp>
          <p:nvSpPr>
            <p:cNvPr id="13" name="Freeform 12">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a:solidFill>
                  <a:schemeClr val="tx1"/>
                </a:solidFill>
              </a:endParaRPr>
            </a:p>
          </p:txBody>
        </p:sp>
        <p:sp>
          <p:nvSpPr>
            <p:cNvPr id="14" name="Freeform 13">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373" tIns="54187" rIns="108373" bIns="54187" numCol="1" spcCol="0" rtlCol="0" fromWordArt="0" anchor="ctr" anchorCtr="0" forceAA="0" compatLnSpc="1">
              <a:prstTxWarp prst="textNoShape">
                <a:avLst/>
              </a:prstTxWarp>
              <a:noAutofit/>
            </a:bodyPr>
            <a:lstStyle/>
            <a:p>
              <a:pPr algn="ctr"/>
              <a:endParaRPr lang="ko-KR" altLang="en-US" sz="3201" dirty="0">
                <a:solidFill>
                  <a:schemeClr val="tx1"/>
                </a:solidFill>
              </a:endParaRPr>
            </a:p>
          </p:txBody>
        </p:sp>
      </p:grpSp>
      <p:grpSp>
        <p:nvGrpSpPr>
          <p:cNvPr id="9" name="Group 8">
            <a:extLst>
              <a:ext uri="{FF2B5EF4-FFF2-40B4-BE49-F238E27FC236}">
                <a16:creationId xmlns:a16="http://schemas.microsoft.com/office/drawing/2014/main" id="{AB8BC7BC-BF58-402E-9A69-AA9226DE7CAA}"/>
              </a:ext>
            </a:extLst>
          </p:cNvPr>
          <p:cNvGrpSpPr/>
          <p:nvPr/>
        </p:nvGrpSpPr>
        <p:grpSpPr>
          <a:xfrm>
            <a:off x="431212" y="1225859"/>
            <a:ext cx="336493" cy="171515"/>
            <a:chOff x="7439031" y="1585639"/>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133"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133"/>
            </a:p>
          </p:txBody>
        </p:sp>
      </p:grpSp>
      <p:sp>
        <p:nvSpPr>
          <p:cNvPr id="10" name="Subtitle 2">
            <a:extLst>
              <a:ext uri="{FF2B5EF4-FFF2-40B4-BE49-F238E27FC236}">
                <a16:creationId xmlns:a16="http://schemas.microsoft.com/office/drawing/2014/main" id="{53858C97-DA2F-8866-47CC-CDF4077BBF9D}"/>
              </a:ext>
            </a:extLst>
          </p:cNvPr>
          <p:cNvSpPr txBox="1">
            <a:spLocks/>
          </p:cNvSpPr>
          <p:nvPr/>
        </p:nvSpPr>
        <p:spPr>
          <a:xfrm>
            <a:off x="469976" y="1256395"/>
            <a:ext cx="365801" cy="125217"/>
          </a:xfrm>
          <a:prstGeom prst="rect">
            <a:avLst/>
          </a:prstGeom>
        </p:spPr>
        <p:txBody>
          <a:bodyPr vert="horz" lIns="81280" tIns="40640" rIns="81280" bIns="4064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22" dirty="0">
                <a:solidFill>
                  <a:srgbClr val="7030A0"/>
                </a:solidFill>
              </a:rPr>
              <a:t>PDS</a:t>
            </a:r>
          </a:p>
        </p:txBody>
      </p:sp>
      <p:pic>
        <p:nvPicPr>
          <p:cNvPr id="18" name="Picture 17"/>
          <p:cNvPicPr>
            <a:picLocks noChangeAspect="1"/>
          </p:cNvPicPr>
          <p:nvPr/>
        </p:nvPicPr>
        <p:blipFill>
          <a:blip r:embed="rId7"/>
          <a:stretch>
            <a:fillRect/>
          </a:stretch>
        </p:blipFill>
        <p:spPr>
          <a:xfrm>
            <a:off x="1489692" y="1368919"/>
            <a:ext cx="195549" cy="278741"/>
          </a:xfrm>
          <a:prstGeom prst="rect">
            <a:avLst/>
          </a:prstGeom>
        </p:spPr>
      </p:pic>
      <p:pic>
        <p:nvPicPr>
          <p:cNvPr id="19" name="Picture 18"/>
          <p:cNvPicPr>
            <a:picLocks noChangeAspect="1"/>
          </p:cNvPicPr>
          <p:nvPr/>
        </p:nvPicPr>
        <p:blipFill>
          <a:blip r:embed="rId8"/>
          <a:stretch>
            <a:fillRect/>
          </a:stretch>
        </p:blipFill>
        <p:spPr>
          <a:xfrm>
            <a:off x="928964" y="1347118"/>
            <a:ext cx="268890" cy="255445"/>
          </a:xfrm>
          <a:prstGeom prst="rect">
            <a:avLst/>
          </a:prstGeom>
        </p:spPr>
      </p:pic>
      <p:pic>
        <p:nvPicPr>
          <p:cNvPr id="20" name="Picture 19"/>
          <p:cNvPicPr>
            <a:picLocks noChangeAspect="1"/>
          </p:cNvPicPr>
          <p:nvPr/>
        </p:nvPicPr>
        <p:blipFill>
          <a:blip r:embed="rId9"/>
          <a:stretch>
            <a:fillRect/>
          </a:stretch>
        </p:blipFill>
        <p:spPr>
          <a:xfrm>
            <a:off x="668583" y="1380076"/>
            <a:ext cx="262872" cy="253181"/>
          </a:xfrm>
          <a:prstGeom prst="rect">
            <a:avLst/>
          </a:prstGeom>
        </p:spPr>
      </p:pic>
      <p:sp>
        <p:nvSpPr>
          <p:cNvPr id="7" name="Title 4">
            <a:extLst>
              <a:ext uri="{FF2B5EF4-FFF2-40B4-BE49-F238E27FC236}">
                <a16:creationId xmlns:a16="http://schemas.microsoft.com/office/drawing/2014/main" id="{27228BAE-048B-681E-DD8D-BD96B22560E0}"/>
              </a:ext>
            </a:extLst>
          </p:cNvPr>
          <p:cNvSpPr txBox="1">
            <a:spLocks/>
          </p:cNvSpPr>
          <p:nvPr/>
        </p:nvSpPr>
        <p:spPr>
          <a:xfrm>
            <a:off x="258279" y="1456524"/>
            <a:ext cx="1837447" cy="261117"/>
          </a:xfrm>
          <a:prstGeom prst="rect">
            <a:avLst/>
          </a:prstGeom>
        </p:spPr>
        <p:txBody>
          <a:bodyPr vert="horz" lIns="81280" tIns="40640" rIns="81280" bIns="40640" rtlCol="0" anchor="b">
            <a:normAutofit fontScale="8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1867" dirty="0">
                <a:solidFill>
                  <a:schemeClr val="accent1">
                    <a:lumMod val="75000"/>
                  </a:schemeClr>
                </a:solidFill>
              </a:rPr>
              <a:t>Computer </a:t>
            </a:r>
            <a:r>
              <a:rPr lang="en-US" sz="1867" dirty="0">
                <a:solidFill>
                  <a:srgbClr val="00B0F0"/>
                </a:solidFill>
              </a:rPr>
              <a:t>Vision</a:t>
            </a:r>
          </a:p>
        </p:txBody>
      </p:sp>
      <p:sp>
        <p:nvSpPr>
          <p:cNvPr id="28" name="Title 1"/>
          <p:cNvSpPr txBox="1">
            <a:spLocks/>
          </p:cNvSpPr>
          <p:nvPr/>
        </p:nvSpPr>
        <p:spPr>
          <a:xfrm>
            <a:off x="-849474" y="3326448"/>
            <a:ext cx="3825765" cy="451201"/>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133" b="1" dirty="0">
                <a:solidFill>
                  <a:schemeClr val="bg1">
                    <a:lumMod val="75000"/>
                  </a:schemeClr>
                </a:solidFill>
              </a:rPr>
              <a:t>@ P. </a:t>
            </a:r>
            <a:r>
              <a:rPr lang="en-US" sz="2133" b="1" dirty="0" err="1">
                <a:solidFill>
                  <a:schemeClr val="bg1">
                    <a:lumMod val="75000"/>
                  </a:schemeClr>
                </a:solidFill>
              </a:rPr>
              <a:t>Siagian</a:t>
            </a:r>
            <a:endParaRPr lang="en-US" sz="2133" b="1" dirty="0">
              <a:solidFill>
                <a:schemeClr val="bg1">
                  <a:lumMod val="75000"/>
                </a:schemeClr>
              </a:solidFill>
            </a:endParaRPr>
          </a:p>
        </p:txBody>
      </p:sp>
      <p:sp>
        <p:nvSpPr>
          <p:cNvPr id="23" name="Title 1"/>
          <p:cNvSpPr txBox="1">
            <a:spLocks/>
          </p:cNvSpPr>
          <p:nvPr/>
        </p:nvSpPr>
        <p:spPr>
          <a:xfrm>
            <a:off x="2450600" y="2921357"/>
            <a:ext cx="9347200" cy="771712"/>
          </a:xfrm>
          <a:prstGeom prst="rect">
            <a:avLst/>
          </a:prstGeom>
        </p:spPr>
        <p:txBody>
          <a:bodyPr vert="horz" lIns="81280" tIns="40640" rIns="81280" bIns="40640" rtlCol="0" anchor="b">
            <a:normAutofit fontScale="8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a:solidFill>
                  <a:schemeClr val="bg1">
                    <a:lumMod val="75000"/>
                  </a:schemeClr>
                </a:solidFill>
              </a:rPr>
              <a:t>Manipulating site-local BGP </a:t>
            </a:r>
            <a:r>
              <a:rPr lang="en-US" b="1" dirty="0" smtClean="0">
                <a:solidFill>
                  <a:schemeClr val="bg1">
                    <a:lumMod val="75000"/>
                  </a:schemeClr>
                </a:solidFill>
              </a:rPr>
              <a:t>routing</a:t>
            </a:r>
            <a:endParaRPr lang="en-US" b="1" dirty="0">
              <a:solidFill>
                <a:schemeClr val="bg1">
                  <a:lumMod val="75000"/>
                </a:schemeClr>
              </a:solidFill>
            </a:endParaRPr>
          </a:p>
        </p:txBody>
      </p:sp>
      <p:sp>
        <p:nvSpPr>
          <p:cNvPr id="26" name="Rectangle 25"/>
          <p:cNvSpPr/>
          <p:nvPr/>
        </p:nvSpPr>
        <p:spPr>
          <a:xfrm>
            <a:off x="9463375" y="5949106"/>
            <a:ext cx="2487830" cy="215444"/>
          </a:xfrm>
          <a:prstGeom prst="rect">
            <a:avLst/>
          </a:prstGeom>
        </p:spPr>
        <p:txBody>
          <a:bodyPr wrap="square">
            <a:spAutoFit/>
          </a:bodyPr>
          <a:lstStyle/>
          <a:p>
            <a:r>
              <a:rPr lang="en-US" sz="800" dirty="0"/>
              <a:t>https://www.youtube.com/@AmelOline/videos</a:t>
            </a:r>
          </a:p>
        </p:txBody>
      </p:sp>
      <p:sp>
        <p:nvSpPr>
          <p:cNvPr id="27" name="Rectangle 26"/>
          <p:cNvSpPr/>
          <p:nvPr/>
        </p:nvSpPr>
        <p:spPr>
          <a:xfrm>
            <a:off x="10252570" y="5810607"/>
            <a:ext cx="1545230" cy="215444"/>
          </a:xfrm>
          <a:prstGeom prst="rect">
            <a:avLst/>
          </a:prstGeom>
        </p:spPr>
        <p:txBody>
          <a:bodyPr wrap="square">
            <a:spAutoFit/>
          </a:bodyPr>
          <a:lstStyle/>
          <a:p>
            <a:r>
              <a:rPr lang="en-US" sz="800" dirty="0"/>
              <a:t>https://github.com/siagianp</a:t>
            </a:r>
          </a:p>
        </p:txBody>
      </p:sp>
      <p:sp>
        <p:nvSpPr>
          <p:cNvPr id="29" name="Rectangle 28"/>
          <p:cNvSpPr/>
          <p:nvPr/>
        </p:nvSpPr>
        <p:spPr>
          <a:xfrm>
            <a:off x="8537735" y="6087606"/>
            <a:ext cx="3490509" cy="215444"/>
          </a:xfrm>
          <a:prstGeom prst="rect">
            <a:avLst/>
          </a:prstGeom>
        </p:spPr>
        <p:txBody>
          <a:bodyPr wrap="square">
            <a:spAutoFit/>
          </a:bodyPr>
          <a:lstStyle/>
          <a:p>
            <a:r>
              <a:rPr lang="en-US" sz="800" dirty="0"/>
              <a:t>https://github.com/amelcharolinesgn2/IoT_simulator-mqtt-NodeRed</a:t>
            </a:r>
          </a:p>
        </p:txBody>
      </p:sp>
      <p:sp>
        <p:nvSpPr>
          <p:cNvPr id="32" name="Rectangle 31"/>
          <p:cNvSpPr/>
          <p:nvPr/>
        </p:nvSpPr>
        <p:spPr>
          <a:xfrm>
            <a:off x="8945775" y="6226105"/>
            <a:ext cx="2746692" cy="338554"/>
          </a:xfrm>
          <a:prstGeom prst="rect">
            <a:avLst/>
          </a:prstGeom>
        </p:spPr>
        <p:txBody>
          <a:bodyPr wrap="square">
            <a:spAutoFit/>
          </a:bodyPr>
          <a:lstStyle/>
          <a:p>
            <a:r>
              <a:rPr lang="en-US" sz="800" dirty="0"/>
              <a:t>https://github.com/amelcharolinesgn2/Cloud-Infrastructures</a:t>
            </a:r>
          </a:p>
        </p:txBody>
      </p:sp>
      <p:sp>
        <p:nvSpPr>
          <p:cNvPr id="33" name="Rectangle 32"/>
          <p:cNvSpPr/>
          <p:nvPr/>
        </p:nvSpPr>
        <p:spPr>
          <a:xfrm>
            <a:off x="8441267" y="6341521"/>
            <a:ext cx="3286814" cy="338554"/>
          </a:xfrm>
          <a:prstGeom prst="rect">
            <a:avLst/>
          </a:prstGeom>
        </p:spPr>
        <p:txBody>
          <a:bodyPr wrap="square">
            <a:spAutoFit/>
          </a:bodyPr>
          <a:lstStyle/>
          <a:p>
            <a:r>
              <a:rPr lang="en-US" sz="800" dirty="0"/>
              <a:t>https://github.com/amelcharolinesgn2/ClouD-Infrastructure-SISKA-2025</a:t>
            </a:r>
          </a:p>
        </p:txBody>
      </p:sp>
      <p:sp>
        <p:nvSpPr>
          <p:cNvPr id="34" name="Rectangle 33"/>
          <p:cNvSpPr/>
          <p:nvPr/>
        </p:nvSpPr>
        <p:spPr>
          <a:xfrm>
            <a:off x="8252935" y="6472372"/>
            <a:ext cx="3775310" cy="215444"/>
          </a:xfrm>
          <a:prstGeom prst="rect">
            <a:avLst/>
          </a:prstGeom>
        </p:spPr>
        <p:txBody>
          <a:bodyPr wrap="square">
            <a:spAutoFit/>
          </a:bodyPr>
          <a:lstStyle/>
          <a:p>
            <a:r>
              <a:rPr lang="en-US" sz="800" dirty="0"/>
              <a:t>https://github.com/amelcharolinesgn2/Gyroscope-Sensor-Data-Accelerometer</a:t>
            </a:r>
          </a:p>
        </p:txBody>
      </p:sp>
    </p:spTree>
    <p:extLst>
      <p:ext uri="{BB962C8B-B14F-4D97-AF65-F5344CB8AC3E}">
        <p14:creationId xmlns:p14="http://schemas.microsoft.com/office/powerpoint/2010/main" val="30168323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1783"/>
          </a:xfrm>
        </p:spPr>
        <p:txBody>
          <a:bodyPr>
            <a:normAutofit fontScale="90000"/>
          </a:bodyPr>
          <a:lstStyle/>
          <a:p>
            <a:r>
              <a:rPr lang="en-US" dirty="0">
                <a:solidFill>
                  <a:schemeClr val="bg1">
                    <a:lumMod val="65000"/>
                  </a:schemeClr>
                </a:solidFill>
              </a:rPr>
              <a:t>What is a Centralized Control Policy?</a:t>
            </a:r>
          </a:p>
        </p:txBody>
      </p:sp>
      <p:pic>
        <p:nvPicPr>
          <p:cNvPr id="4" name="Picture 3"/>
          <p:cNvPicPr>
            <a:picLocks noChangeAspect="1"/>
          </p:cNvPicPr>
          <p:nvPr/>
        </p:nvPicPr>
        <p:blipFill>
          <a:blip r:embed="rId3"/>
          <a:stretch>
            <a:fillRect/>
          </a:stretch>
        </p:blipFill>
        <p:spPr>
          <a:xfrm>
            <a:off x="489328" y="836908"/>
            <a:ext cx="7524750" cy="5219700"/>
          </a:xfrm>
          <a:prstGeom prst="rect">
            <a:avLst/>
          </a:prstGeom>
        </p:spPr>
      </p:pic>
      <p:sp>
        <p:nvSpPr>
          <p:cNvPr id="5" name="Rectangle 4"/>
          <p:cNvSpPr/>
          <p:nvPr/>
        </p:nvSpPr>
        <p:spPr>
          <a:xfrm>
            <a:off x="674705" y="6343725"/>
            <a:ext cx="3961341" cy="369332"/>
          </a:xfrm>
          <a:prstGeom prst="rect">
            <a:avLst/>
          </a:prstGeom>
        </p:spPr>
        <p:txBody>
          <a:bodyPr wrap="none">
            <a:spAutoFit/>
          </a:bodyPr>
          <a:lstStyle/>
          <a:p>
            <a:r>
              <a:rPr lang="en-US" dirty="0"/>
              <a:t>Figure 1. Types of Cisco SD-WAN Policies</a:t>
            </a:r>
          </a:p>
        </p:txBody>
      </p:sp>
      <p:sp>
        <p:nvSpPr>
          <p:cNvPr id="6" name="Rectangle 5"/>
          <p:cNvSpPr/>
          <p:nvPr/>
        </p:nvSpPr>
        <p:spPr>
          <a:xfrm>
            <a:off x="8014078" y="985525"/>
            <a:ext cx="3997108" cy="5078313"/>
          </a:xfrm>
          <a:prstGeom prst="rect">
            <a:avLst/>
          </a:prstGeom>
        </p:spPr>
        <p:txBody>
          <a:bodyPr wrap="square">
            <a:spAutoFit/>
          </a:bodyPr>
          <a:lstStyle/>
          <a:p>
            <a:pPr algn="just"/>
            <a:r>
              <a:rPr lang="en-US" dirty="0"/>
              <a:t>In Cisco SD-WAN, there are two types of Centralized Control </a:t>
            </a:r>
            <a:r>
              <a:rPr lang="en-US" dirty="0" smtClean="0"/>
              <a:t>Policies:</a:t>
            </a:r>
          </a:p>
          <a:p>
            <a:pPr algn="just"/>
            <a:endParaRPr lang="en-US" dirty="0" smtClean="0"/>
          </a:p>
          <a:p>
            <a:pPr algn="just"/>
            <a:r>
              <a:rPr lang="en-US" b="1" dirty="0" smtClean="0">
                <a:solidFill>
                  <a:srgbClr val="002060"/>
                </a:solidFill>
              </a:rPr>
              <a:t>Topology </a:t>
            </a:r>
            <a:r>
              <a:rPr lang="en-US" dirty="0"/>
              <a:t>- Topology policies control the route information such as </a:t>
            </a:r>
            <a:r>
              <a:rPr lang="en-US" dirty="0" err="1"/>
              <a:t>omp</a:t>
            </a:r>
            <a:r>
              <a:rPr lang="en-US" dirty="0"/>
              <a:t>, </a:t>
            </a:r>
            <a:r>
              <a:rPr lang="en-US" dirty="0" err="1"/>
              <a:t>tloc</a:t>
            </a:r>
            <a:r>
              <a:rPr lang="en-US" dirty="0"/>
              <a:t>, and service routes that are being redistributed to a list of sites. As the name implies, they are typically used for limiting the number of overlay tunnels between sites and controlling the overlay topology.</a:t>
            </a:r>
          </a:p>
          <a:p>
            <a:pPr algn="just"/>
            <a:r>
              <a:rPr lang="en-US" b="1" dirty="0">
                <a:solidFill>
                  <a:srgbClr val="002060"/>
                </a:solidFill>
              </a:rPr>
              <a:t>VPN Membership </a:t>
            </a:r>
            <a:r>
              <a:rPr lang="en-US" dirty="0"/>
              <a:t>- VPN Membership policies are used to control the distribution of routing information for specific VPNs to a list of sites. A typical use-case is for creating guest networks that have Internet access but site-to-site communication is restricted.</a:t>
            </a:r>
          </a:p>
        </p:txBody>
      </p:sp>
    </p:spTree>
    <p:extLst>
      <p:ext uri="{BB962C8B-B14F-4D97-AF65-F5344CB8AC3E}">
        <p14:creationId xmlns:p14="http://schemas.microsoft.com/office/powerpoint/2010/main" val="13580222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0298" y="425613"/>
            <a:ext cx="6096000" cy="923330"/>
          </a:xfrm>
          <a:prstGeom prst="rect">
            <a:avLst/>
          </a:prstGeom>
        </p:spPr>
        <p:txBody>
          <a:bodyPr>
            <a:spAutoFit/>
          </a:bodyPr>
          <a:lstStyle/>
          <a:p>
            <a:pPr algn="just"/>
            <a:r>
              <a:rPr lang="en-US" dirty="0"/>
              <a:t>vEdge-1 sends an OMP Update to the controllers, </a:t>
            </a:r>
            <a:r>
              <a:rPr lang="en-US" dirty="0" err="1"/>
              <a:t>vSmart</a:t>
            </a:r>
            <a:r>
              <a:rPr lang="en-US" dirty="0"/>
              <a:t> processes this message and if needed sends out an update to all other WAN edge devices</a:t>
            </a:r>
          </a:p>
        </p:txBody>
      </p:sp>
      <p:pic>
        <p:nvPicPr>
          <p:cNvPr id="5" name="Picture 4"/>
          <p:cNvPicPr>
            <a:picLocks noChangeAspect="1"/>
          </p:cNvPicPr>
          <p:nvPr/>
        </p:nvPicPr>
        <p:blipFill>
          <a:blip r:embed="rId2"/>
          <a:stretch>
            <a:fillRect/>
          </a:stretch>
        </p:blipFill>
        <p:spPr>
          <a:xfrm>
            <a:off x="320298" y="1752841"/>
            <a:ext cx="6657975" cy="3724275"/>
          </a:xfrm>
          <a:prstGeom prst="rect">
            <a:avLst/>
          </a:prstGeom>
        </p:spPr>
      </p:pic>
      <p:sp>
        <p:nvSpPr>
          <p:cNvPr id="6" name="Rectangle 5"/>
          <p:cNvSpPr/>
          <p:nvPr/>
        </p:nvSpPr>
        <p:spPr>
          <a:xfrm>
            <a:off x="378876" y="5696348"/>
            <a:ext cx="6037422" cy="369332"/>
          </a:xfrm>
          <a:prstGeom prst="rect">
            <a:avLst/>
          </a:prstGeom>
        </p:spPr>
        <p:txBody>
          <a:bodyPr wrap="none">
            <a:spAutoFit/>
          </a:bodyPr>
          <a:lstStyle/>
          <a:p>
            <a:r>
              <a:rPr lang="en-US" dirty="0"/>
              <a:t>Figure 2. Cisco SD-WAN Exchange of Control Plane information</a:t>
            </a:r>
          </a:p>
        </p:txBody>
      </p:sp>
      <p:sp>
        <p:nvSpPr>
          <p:cNvPr id="7" name="Rectangle 6"/>
          <p:cNvSpPr/>
          <p:nvPr/>
        </p:nvSpPr>
        <p:spPr>
          <a:xfrm>
            <a:off x="7363148" y="618035"/>
            <a:ext cx="4431061" cy="6463308"/>
          </a:xfrm>
          <a:prstGeom prst="rect">
            <a:avLst/>
          </a:prstGeom>
        </p:spPr>
        <p:txBody>
          <a:bodyPr wrap="square">
            <a:spAutoFit/>
          </a:bodyPr>
          <a:lstStyle/>
          <a:p>
            <a:pPr algn="just"/>
            <a:r>
              <a:rPr lang="en-US" dirty="0"/>
              <a:t>Route Types</a:t>
            </a:r>
          </a:p>
          <a:p>
            <a:pPr algn="just"/>
            <a:r>
              <a:rPr lang="en-US" dirty="0"/>
              <a:t>There are three types of OMP routes that the </a:t>
            </a:r>
            <a:r>
              <a:rPr lang="en-US" dirty="0" err="1"/>
              <a:t>vSmart</a:t>
            </a:r>
            <a:r>
              <a:rPr lang="en-US" dirty="0"/>
              <a:t> controllers learn from the WAN edge devices:</a:t>
            </a:r>
          </a:p>
          <a:p>
            <a:pPr algn="just"/>
            <a:r>
              <a:rPr lang="en-US" b="1" dirty="0" smtClean="0">
                <a:solidFill>
                  <a:srgbClr val="002060"/>
                </a:solidFill>
              </a:rPr>
              <a:t>OMP </a:t>
            </a:r>
            <a:r>
              <a:rPr lang="en-US" b="1" dirty="0">
                <a:solidFill>
                  <a:srgbClr val="002060"/>
                </a:solidFill>
              </a:rPr>
              <a:t>routes </a:t>
            </a:r>
            <a:r>
              <a:rPr lang="en-US" dirty="0"/>
              <a:t>- These routes represent prefix information that WAN edge devices learn from their local network. For example, these could be connected networks, static routes, or an OSPF process running onsite redistributed into OMP.  The OMP routes could be displayed using the show </a:t>
            </a:r>
            <a:r>
              <a:rPr lang="en-US" dirty="0" err="1"/>
              <a:t>omp</a:t>
            </a:r>
            <a:r>
              <a:rPr lang="en-US" dirty="0"/>
              <a:t> command.</a:t>
            </a:r>
          </a:p>
          <a:p>
            <a:pPr algn="just"/>
            <a:r>
              <a:rPr lang="en-US" b="1" dirty="0">
                <a:solidFill>
                  <a:srgbClr val="002060"/>
                </a:solidFill>
              </a:rPr>
              <a:t>TLOC routes </a:t>
            </a:r>
            <a:r>
              <a:rPr lang="en-US" dirty="0"/>
              <a:t>- These routes simply carry TLOC information from </a:t>
            </a:r>
            <a:r>
              <a:rPr lang="en-US" dirty="0" err="1"/>
              <a:t>vEdges</a:t>
            </a:r>
            <a:r>
              <a:rPr lang="en-US" dirty="0"/>
              <a:t> to the </a:t>
            </a:r>
            <a:r>
              <a:rPr lang="en-US" dirty="0" err="1"/>
              <a:t>vSmart</a:t>
            </a:r>
            <a:r>
              <a:rPr lang="en-US" dirty="0"/>
              <a:t> controllers. They could be displayed using the show </a:t>
            </a:r>
            <a:r>
              <a:rPr lang="en-US" dirty="0" err="1"/>
              <a:t>omp</a:t>
            </a:r>
            <a:r>
              <a:rPr lang="en-US" dirty="0"/>
              <a:t> </a:t>
            </a:r>
            <a:r>
              <a:rPr lang="en-US" dirty="0" err="1"/>
              <a:t>tlocs</a:t>
            </a:r>
            <a:r>
              <a:rPr lang="en-US" dirty="0"/>
              <a:t> command.</a:t>
            </a:r>
          </a:p>
          <a:p>
            <a:pPr algn="just"/>
            <a:r>
              <a:rPr lang="en-US" b="1" dirty="0">
                <a:solidFill>
                  <a:srgbClr val="002060"/>
                </a:solidFill>
              </a:rPr>
              <a:t>Service routes </a:t>
            </a:r>
            <a:r>
              <a:rPr lang="en-US" dirty="0"/>
              <a:t>- These routes represent network services, such as firewalls and IPS, that are running on the local-site network to which</a:t>
            </a:r>
          </a:p>
          <a:p>
            <a:pPr algn="just"/>
            <a:r>
              <a:rPr lang="en-US" dirty="0"/>
              <a:t>the </a:t>
            </a:r>
            <a:r>
              <a:rPr lang="en-US" dirty="0" err="1"/>
              <a:t>vEdge</a:t>
            </a:r>
            <a:r>
              <a:rPr lang="en-US" dirty="0"/>
              <a:t> router is connected. They could be displayed using the show </a:t>
            </a:r>
            <a:r>
              <a:rPr lang="en-US" dirty="0" err="1"/>
              <a:t>omp</a:t>
            </a:r>
            <a:r>
              <a:rPr lang="en-US" dirty="0"/>
              <a:t> services command.</a:t>
            </a:r>
          </a:p>
        </p:txBody>
      </p:sp>
    </p:spTree>
    <p:extLst>
      <p:ext uri="{BB962C8B-B14F-4D97-AF65-F5344CB8AC3E}">
        <p14:creationId xmlns:p14="http://schemas.microsoft.com/office/powerpoint/2010/main" val="40300002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3545" y="408144"/>
            <a:ext cx="4439100" cy="584775"/>
          </a:xfrm>
          <a:prstGeom prst="rect">
            <a:avLst/>
          </a:prstGeom>
        </p:spPr>
        <p:txBody>
          <a:bodyPr wrap="none">
            <a:spAutoFit/>
          </a:bodyPr>
          <a:lstStyle/>
          <a:p>
            <a:r>
              <a:rPr lang="en-US" sz="3200" dirty="0"/>
              <a:t>Centralized Control Policy</a:t>
            </a:r>
          </a:p>
        </p:txBody>
      </p:sp>
      <p:pic>
        <p:nvPicPr>
          <p:cNvPr id="5" name="Picture 4"/>
          <p:cNvPicPr>
            <a:picLocks noChangeAspect="1"/>
          </p:cNvPicPr>
          <p:nvPr/>
        </p:nvPicPr>
        <p:blipFill>
          <a:blip r:embed="rId2"/>
          <a:stretch>
            <a:fillRect/>
          </a:stretch>
        </p:blipFill>
        <p:spPr>
          <a:xfrm>
            <a:off x="728419" y="1289418"/>
            <a:ext cx="3897847" cy="2492167"/>
          </a:xfrm>
          <a:prstGeom prst="rect">
            <a:avLst/>
          </a:prstGeom>
        </p:spPr>
      </p:pic>
      <p:pic>
        <p:nvPicPr>
          <p:cNvPr id="6" name="Picture 5"/>
          <p:cNvPicPr>
            <a:picLocks noChangeAspect="1"/>
          </p:cNvPicPr>
          <p:nvPr/>
        </p:nvPicPr>
        <p:blipFill>
          <a:blip r:embed="rId3"/>
          <a:stretch>
            <a:fillRect/>
          </a:stretch>
        </p:blipFill>
        <p:spPr>
          <a:xfrm>
            <a:off x="1013201" y="3961431"/>
            <a:ext cx="3930758" cy="2627241"/>
          </a:xfrm>
          <a:prstGeom prst="rect">
            <a:avLst/>
          </a:prstGeom>
        </p:spPr>
      </p:pic>
      <p:sp>
        <p:nvSpPr>
          <p:cNvPr id="7" name="Rectangle 6"/>
          <p:cNvSpPr/>
          <p:nvPr/>
        </p:nvSpPr>
        <p:spPr>
          <a:xfrm>
            <a:off x="5256508" y="408143"/>
            <a:ext cx="7004290" cy="584775"/>
          </a:xfrm>
          <a:prstGeom prst="rect">
            <a:avLst/>
          </a:prstGeom>
        </p:spPr>
        <p:txBody>
          <a:bodyPr wrap="none">
            <a:spAutoFit/>
          </a:bodyPr>
          <a:lstStyle/>
          <a:p>
            <a:r>
              <a:rPr lang="en-US" sz="3200" dirty="0" err="1"/>
              <a:t>vSmart</a:t>
            </a:r>
            <a:r>
              <a:rPr lang="en-US" sz="3200" dirty="0"/>
              <a:t> </a:t>
            </a:r>
            <a:r>
              <a:rPr lang="en-US" sz="3200" dirty="0" err="1"/>
              <a:t>Behaviour</a:t>
            </a:r>
            <a:r>
              <a:rPr lang="en-US" sz="3200" dirty="0"/>
              <a:t> with Centralized Policy</a:t>
            </a:r>
          </a:p>
        </p:txBody>
      </p:sp>
      <p:pic>
        <p:nvPicPr>
          <p:cNvPr id="8" name="Picture 7"/>
          <p:cNvPicPr>
            <a:picLocks noChangeAspect="1"/>
          </p:cNvPicPr>
          <p:nvPr/>
        </p:nvPicPr>
        <p:blipFill>
          <a:blip r:embed="rId4"/>
          <a:stretch>
            <a:fillRect/>
          </a:stretch>
        </p:blipFill>
        <p:spPr>
          <a:xfrm>
            <a:off x="7658745" y="1289418"/>
            <a:ext cx="4225629" cy="2424834"/>
          </a:xfrm>
          <a:prstGeom prst="rect">
            <a:avLst/>
          </a:prstGeom>
        </p:spPr>
      </p:pic>
      <p:sp>
        <p:nvSpPr>
          <p:cNvPr id="9" name="Rectangle 8"/>
          <p:cNvSpPr/>
          <p:nvPr/>
        </p:nvSpPr>
        <p:spPr>
          <a:xfrm>
            <a:off x="5256509" y="2097459"/>
            <a:ext cx="2895600" cy="1169551"/>
          </a:xfrm>
          <a:prstGeom prst="rect">
            <a:avLst/>
          </a:prstGeom>
        </p:spPr>
        <p:txBody>
          <a:bodyPr wrap="square">
            <a:spAutoFit/>
          </a:bodyPr>
          <a:lstStyle/>
          <a:p>
            <a:r>
              <a:rPr lang="en-US" sz="1400" dirty="0"/>
              <a:t>Policy </a:t>
            </a:r>
            <a:r>
              <a:rPr lang="en-US" sz="1400" dirty="0" smtClean="0"/>
              <a:t>Components:</a:t>
            </a:r>
          </a:p>
          <a:p>
            <a:pPr marL="285750" indent="-285750">
              <a:buFont typeface="Arial" panose="020B0604020202020204" pitchFamily="34" charset="0"/>
              <a:buChar char="•"/>
            </a:pPr>
            <a:r>
              <a:rPr lang="en-US" sz="1400" b="1" dirty="0"/>
              <a:t>Create Groups of </a:t>
            </a:r>
            <a:r>
              <a:rPr lang="en-US" sz="1400" b="1" dirty="0" smtClean="0"/>
              <a:t>Interest</a:t>
            </a:r>
          </a:p>
          <a:p>
            <a:pPr marL="285750" indent="-285750">
              <a:buFont typeface="Arial" panose="020B0604020202020204" pitchFamily="34" charset="0"/>
              <a:buChar char="•"/>
            </a:pPr>
            <a:r>
              <a:rPr lang="en-US" sz="1400" b="1" dirty="0"/>
              <a:t>Configure Topology and VPN </a:t>
            </a:r>
            <a:r>
              <a:rPr lang="en-US" sz="1400" b="1" dirty="0" smtClean="0"/>
              <a:t>Membership</a:t>
            </a:r>
          </a:p>
          <a:p>
            <a:pPr marL="285750" indent="-285750">
              <a:buFont typeface="Arial" panose="020B0604020202020204" pitchFamily="34" charset="0"/>
              <a:buChar char="•"/>
            </a:pPr>
            <a:r>
              <a:rPr lang="en-US" sz="1400" b="1" dirty="0"/>
              <a:t>Apply Policies to Sites and VPNs</a:t>
            </a:r>
            <a:endParaRPr lang="en-US" sz="1400" dirty="0"/>
          </a:p>
        </p:txBody>
      </p:sp>
      <p:pic>
        <p:nvPicPr>
          <p:cNvPr id="10" name="Picture 9"/>
          <p:cNvPicPr>
            <a:picLocks noChangeAspect="1"/>
          </p:cNvPicPr>
          <p:nvPr/>
        </p:nvPicPr>
        <p:blipFill>
          <a:blip r:embed="rId5"/>
          <a:stretch>
            <a:fillRect/>
          </a:stretch>
        </p:blipFill>
        <p:spPr>
          <a:xfrm>
            <a:off x="8108440" y="4244037"/>
            <a:ext cx="3775934" cy="2073460"/>
          </a:xfrm>
          <a:prstGeom prst="rect">
            <a:avLst/>
          </a:prstGeom>
        </p:spPr>
      </p:pic>
    </p:spTree>
    <p:extLst>
      <p:ext uri="{BB962C8B-B14F-4D97-AF65-F5344CB8AC3E}">
        <p14:creationId xmlns:p14="http://schemas.microsoft.com/office/powerpoint/2010/main" val="342073611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42830" y="288974"/>
            <a:ext cx="9347200" cy="771712"/>
          </a:xfrm>
          <a:prstGeom prst="rect">
            <a:avLst/>
          </a:prstGeom>
        </p:spPr>
        <p:txBody>
          <a:bodyPr vert="horz" lIns="81280" tIns="40640" rIns="81280" bIns="40640" rtlCol="0" anchor="b">
            <a:normAutofit fontScale="8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a:solidFill>
                  <a:schemeClr val="bg1">
                    <a:lumMod val="75000"/>
                  </a:schemeClr>
                </a:solidFill>
              </a:rPr>
              <a:t>Inbound vs Outbound Control Policy</a:t>
            </a:r>
            <a:endParaRPr lang="en-US" b="1" dirty="0">
              <a:solidFill>
                <a:schemeClr val="bg1">
                  <a:lumMod val="75000"/>
                </a:schemeClr>
              </a:solidFill>
            </a:endParaRPr>
          </a:p>
        </p:txBody>
      </p:sp>
      <p:sp>
        <p:nvSpPr>
          <p:cNvPr id="5" name="Title 1"/>
          <p:cNvSpPr txBox="1">
            <a:spLocks/>
          </p:cNvSpPr>
          <p:nvPr/>
        </p:nvSpPr>
        <p:spPr>
          <a:xfrm>
            <a:off x="342830" y="1060686"/>
            <a:ext cx="4493125" cy="490831"/>
          </a:xfrm>
          <a:prstGeom prst="rect">
            <a:avLst/>
          </a:prstGeom>
        </p:spPr>
        <p:txBody>
          <a:bodyPr vert="horz" lIns="81280" tIns="40640" rIns="81280" bIns="40640" rtlCol="0" anchor="b">
            <a:normAutofit fontScale="5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dirty="0"/>
              <a:t>Cisco WAN Edge routers</a:t>
            </a:r>
            <a:endParaRPr lang="en-US" sz="1600" b="1" dirty="0">
              <a:solidFill>
                <a:schemeClr val="bg1">
                  <a:lumMod val="75000"/>
                </a:schemeClr>
              </a:solidFill>
            </a:endParaRPr>
          </a:p>
        </p:txBody>
      </p:sp>
      <p:pic>
        <p:nvPicPr>
          <p:cNvPr id="2" name="Picture 1"/>
          <p:cNvPicPr>
            <a:picLocks noChangeAspect="1"/>
          </p:cNvPicPr>
          <p:nvPr/>
        </p:nvPicPr>
        <p:blipFill>
          <a:blip r:embed="rId3"/>
          <a:stretch>
            <a:fillRect/>
          </a:stretch>
        </p:blipFill>
        <p:spPr>
          <a:xfrm>
            <a:off x="767166" y="1670178"/>
            <a:ext cx="4068789" cy="2393042"/>
          </a:xfrm>
          <a:prstGeom prst="rect">
            <a:avLst/>
          </a:prstGeom>
        </p:spPr>
      </p:pic>
      <p:sp>
        <p:nvSpPr>
          <p:cNvPr id="3" name="Rectangle 2"/>
          <p:cNvSpPr/>
          <p:nvPr/>
        </p:nvSpPr>
        <p:spPr>
          <a:xfrm>
            <a:off x="586482" y="4329216"/>
            <a:ext cx="4196790" cy="307777"/>
          </a:xfrm>
          <a:prstGeom prst="rect">
            <a:avLst/>
          </a:prstGeom>
        </p:spPr>
        <p:txBody>
          <a:bodyPr wrap="none">
            <a:spAutoFit/>
          </a:bodyPr>
          <a:lstStyle/>
          <a:p>
            <a:r>
              <a:rPr lang="en-US" sz="1400" dirty="0"/>
              <a:t>Figure 1. The same control policy in different directions</a:t>
            </a:r>
          </a:p>
        </p:txBody>
      </p:sp>
      <p:sp>
        <p:nvSpPr>
          <p:cNvPr id="6" name="Rectangle 5"/>
          <p:cNvSpPr/>
          <p:nvPr/>
        </p:nvSpPr>
        <p:spPr>
          <a:xfrm>
            <a:off x="5016430" y="1029689"/>
            <a:ext cx="3135678" cy="5632311"/>
          </a:xfrm>
          <a:prstGeom prst="rect">
            <a:avLst/>
          </a:prstGeom>
        </p:spPr>
        <p:txBody>
          <a:bodyPr wrap="square">
            <a:spAutoFit/>
          </a:bodyPr>
          <a:lstStyle/>
          <a:p>
            <a:pPr algn="just"/>
            <a:r>
              <a:rPr lang="en-US" sz="1200" dirty="0"/>
              <a:t>Outbound Policy</a:t>
            </a:r>
          </a:p>
          <a:p>
            <a:pPr algn="just"/>
            <a:r>
              <a:rPr lang="en-US" sz="1200" dirty="0"/>
              <a:t>Figure 2 shows a control policy named PREFERENCE that is applied to Site-list SITE-2 in an outbound direction. Let's break down the policy construct into bullet points and analyze every aspect of it.</a:t>
            </a:r>
          </a:p>
          <a:p>
            <a:pPr algn="just"/>
            <a:endParaRPr lang="en-US" sz="1200" dirty="0"/>
          </a:p>
          <a:p>
            <a:pPr marL="171450" indent="-171450" algn="just">
              <a:buFont typeface="Arial" panose="020B0604020202020204" pitchFamily="34" charset="0"/>
              <a:buChar char="•"/>
            </a:pPr>
            <a:r>
              <a:rPr lang="en-US" sz="1200" dirty="0"/>
              <a:t>The direction of the policy is always from the perspective of the </a:t>
            </a:r>
            <a:r>
              <a:rPr lang="en-US" sz="1200" dirty="0" err="1"/>
              <a:t>vSmart</a:t>
            </a:r>
            <a:r>
              <a:rPr lang="en-US" sz="1200" dirty="0"/>
              <a:t> controller. Outbound means that the policy matches and modifies attributes in the OMP advertisements from </a:t>
            </a:r>
            <a:r>
              <a:rPr lang="en-US" sz="1200" dirty="0" err="1"/>
              <a:t>vSmart</a:t>
            </a:r>
            <a:r>
              <a:rPr lang="en-US" sz="1200" dirty="0"/>
              <a:t> to </a:t>
            </a:r>
            <a:r>
              <a:rPr lang="en-US" sz="1200" dirty="0" err="1"/>
              <a:t>vEdges</a:t>
            </a:r>
            <a:r>
              <a:rPr lang="en-US" sz="1200" dirty="0"/>
              <a:t>.</a:t>
            </a:r>
          </a:p>
          <a:p>
            <a:pPr marL="171450" indent="-171450" algn="just">
              <a:buFont typeface="Arial" panose="020B0604020202020204" pitchFamily="34" charset="0"/>
              <a:buChar char="•"/>
            </a:pPr>
            <a:r>
              <a:rPr lang="en-US" sz="1200" dirty="0"/>
              <a:t>The policy is applied to site-list SITE-2 means that only OMP advertisements send to WAN edge devices with Site-IDs listed in the SITE-2 list are processed against the policy.</a:t>
            </a:r>
          </a:p>
          <a:p>
            <a:pPr marL="171450" indent="-171450" algn="just">
              <a:buFont typeface="Arial" panose="020B0604020202020204" pitchFamily="34" charset="0"/>
              <a:buChar char="•"/>
            </a:pPr>
            <a:r>
              <a:rPr lang="en-US" sz="1200" dirty="0"/>
              <a:t>In the policy itself, sequence 1 match route means that this sequence matches and modifies only </a:t>
            </a:r>
            <a:r>
              <a:rPr lang="en-US" sz="1200" dirty="0" err="1"/>
              <a:t>vRoutes</a:t>
            </a:r>
            <a:r>
              <a:rPr lang="en-US" sz="1200" dirty="0"/>
              <a:t> (and not TLOCs or Service routes).</a:t>
            </a:r>
          </a:p>
          <a:p>
            <a:pPr marL="171450" indent="-171450" algn="just">
              <a:buFont typeface="Arial" panose="020B0604020202020204" pitchFamily="34" charset="0"/>
              <a:buChar char="•"/>
            </a:pPr>
            <a:r>
              <a:rPr lang="en-US" sz="1200" dirty="0"/>
              <a:t>The action accept means that the </a:t>
            </a:r>
            <a:r>
              <a:rPr lang="en-US" sz="1200" dirty="0" err="1"/>
              <a:t>vRoutes</a:t>
            </a:r>
            <a:r>
              <a:rPr lang="en-US" sz="1200" dirty="0"/>
              <a:t> that are matched in the statement will be sent out to site-2.</a:t>
            </a:r>
          </a:p>
          <a:p>
            <a:pPr marL="171450" indent="-171450" algn="just">
              <a:buFont typeface="Arial" panose="020B0604020202020204" pitchFamily="34" charset="0"/>
              <a:buChar char="•"/>
            </a:pPr>
            <a:r>
              <a:rPr lang="en-US" sz="1200" dirty="0"/>
              <a:t>Set preference 90 means that the OMP Preference attribute of the </a:t>
            </a:r>
            <a:r>
              <a:rPr lang="en-US" sz="1200" dirty="0" err="1"/>
              <a:t>vRoutes</a:t>
            </a:r>
            <a:r>
              <a:rPr lang="en-US" sz="1200" dirty="0"/>
              <a:t> that are matched will be changed to 90 (default is 0).</a:t>
            </a:r>
          </a:p>
          <a:p>
            <a:pPr marL="171450" indent="-171450" algn="just">
              <a:buFont typeface="Arial" panose="020B0604020202020204" pitchFamily="34" charset="0"/>
              <a:buChar char="•"/>
            </a:pPr>
            <a:r>
              <a:rPr lang="en-US" sz="1200" dirty="0"/>
              <a:t>Note that the default action is accept (it is reject by default). We do not intend to filter out any route or </a:t>
            </a:r>
            <a:r>
              <a:rPr lang="en-US" sz="1200" dirty="0" err="1"/>
              <a:t>tlocs</a:t>
            </a:r>
            <a:r>
              <a:rPr lang="en-US" sz="1200" dirty="0"/>
              <a:t> but to only modify route attributes.</a:t>
            </a:r>
          </a:p>
        </p:txBody>
      </p:sp>
      <p:pic>
        <p:nvPicPr>
          <p:cNvPr id="7" name="Picture 6"/>
          <p:cNvPicPr>
            <a:picLocks noChangeAspect="1"/>
          </p:cNvPicPr>
          <p:nvPr/>
        </p:nvPicPr>
        <p:blipFill>
          <a:blip r:embed="rId4"/>
          <a:stretch>
            <a:fillRect/>
          </a:stretch>
        </p:blipFill>
        <p:spPr>
          <a:xfrm>
            <a:off x="5992778" y="1961112"/>
            <a:ext cx="5856583" cy="3769464"/>
          </a:xfrm>
          <a:prstGeom prst="rect">
            <a:avLst/>
          </a:prstGeom>
        </p:spPr>
      </p:pic>
    </p:spTree>
    <p:extLst>
      <p:ext uri="{BB962C8B-B14F-4D97-AF65-F5344CB8AC3E}">
        <p14:creationId xmlns:p14="http://schemas.microsoft.com/office/powerpoint/2010/main" val="398139827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1769" y="361649"/>
            <a:ext cx="3893886" cy="369332"/>
          </a:xfrm>
          <a:prstGeom prst="rect">
            <a:avLst/>
          </a:prstGeom>
        </p:spPr>
        <p:txBody>
          <a:bodyPr wrap="none">
            <a:spAutoFit/>
          </a:bodyPr>
          <a:lstStyle/>
          <a:p>
            <a:r>
              <a:rPr lang="en-US" dirty="0"/>
              <a:t>check the OMP routing table of </a:t>
            </a:r>
            <a:r>
              <a:rPr lang="en-US" dirty="0" err="1"/>
              <a:t>vSmart</a:t>
            </a:r>
            <a:r>
              <a:rPr lang="en-US" dirty="0"/>
              <a:t>:</a:t>
            </a:r>
          </a:p>
        </p:txBody>
      </p:sp>
      <p:sp>
        <p:nvSpPr>
          <p:cNvPr id="9" name="Rectangle 8"/>
          <p:cNvSpPr/>
          <p:nvPr/>
        </p:nvSpPr>
        <p:spPr>
          <a:xfrm>
            <a:off x="321769" y="901462"/>
            <a:ext cx="6096000" cy="2800767"/>
          </a:xfrm>
          <a:prstGeom prst="rect">
            <a:avLst/>
          </a:prstGeom>
        </p:spPr>
        <p:txBody>
          <a:bodyPr>
            <a:spAutoFit/>
          </a:bodyPr>
          <a:lstStyle/>
          <a:p>
            <a:r>
              <a:rPr lang="en-US" sz="800" dirty="0" err="1"/>
              <a:t>vSmart</a:t>
            </a:r>
            <a:r>
              <a:rPr lang="en-US" sz="800" dirty="0"/>
              <a:t># show </a:t>
            </a:r>
            <a:r>
              <a:rPr lang="en-US" sz="800" dirty="0" err="1"/>
              <a:t>omp</a:t>
            </a:r>
            <a:r>
              <a:rPr lang="en-US" sz="800" dirty="0"/>
              <a:t> routes 172.16.1.0/24 | tab</a:t>
            </a:r>
          </a:p>
          <a:p>
            <a:r>
              <a:rPr lang="en-US" sz="800" dirty="0"/>
              <a:t>Code:</a:t>
            </a:r>
          </a:p>
          <a:p>
            <a:r>
              <a:rPr lang="en-US" sz="800" dirty="0"/>
              <a:t>C   -&gt; chosen</a:t>
            </a:r>
          </a:p>
          <a:p>
            <a:r>
              <a:rPr lang="en-US" sz="800" dirty="0"/>
              <a:t>I   -&gt; installed</a:t>
            </a:r>
          </a:p>
          <a:p>
            <a:r>
              <a:rPr lang="en-US" sz="800" dirty="0"/>
              <a:t>Red -&gt; redistributed</a:t>
            </a:r>
          </a:p>
          <a:p>
            <a:r>
              <a:rPr lang="en-US" sz="800" dirty="0" err="1"/>
              <a:t>Rej</a:t>
            </a:r>
            <a:r>
              <a:rPr lang="en-US" sz="800" dirty="0"/>
              <a:t> -&gt; rejected</a:t>
            </a:r>
          </a:p>
          <a:p>
            <a:r>
              <a:rPr lang="en-US" sz="800" dirty="0"/>
              <a:t>L   -&gt; looped</a:t>
            </a:r>
          </a:p>
          <a:p>
            <a:r>
              <a:rPr lang="en-US" sz="800" dirty="0"/>
              <a:t>R   -&gt; resolved</a:t>
            </a:r>
          </a:p>
          <a:p>
            <a:r>
              <a:rPr lang="en-US" sz="800" dirty="0"/>
              <a:t>S   -&gt; stale</a:t>
            </a:r>
          </a:p>
          <a:p>
            <a:r>
              <a:rPr lang="en-US" sz="800" dirty="0"/>
              <a:t>Ext -&gt; extranet</a:t>
            </a:r>
          </a:p>
          <a:p>
            <a:r>
              <a:rPr lang="en-US" sz="800" dirty="0" err="1"/>
              <a:t>Inv</a:t>
            </a:r>
            <a:r>
              <a:rPr lang="en-US" sz="800" dirty="0"/>
              <a:t> -&gt; invalid</a:t>
            </a:r>
          </a:p>
          <a:p>
            <a:r>
              <a:rPr lang="en-US" sz="800" dirty="0"/>
              <a:t>Stg -&gt; staged</a:t>
            </a:r>
          </a:p>
          <a:p>
            <a:r>
              <a:rPr lang="en-US" sz="800" dirty="0"/>
              <a:t>IA  -&gt; On-demand inactive</a:t>
            </a:r>
          </a:p>
          <a:p>
            <a:r>
              <a:rPr lang="en-US" sz="800" dirty="0"/>
              <a:t>U   -&gt; TLOC unresolved</a:t>
            </a:r>
          </a:p>
          <a:p>
            <a:endParaRPr lang="en-US" sz="800" dirty="0"/>
          </a:p>
          <a:p>
            <a:r>
              <a:rPr lang="en-US" sz="800" dirty="0"/>
              <a:t>                                            PATH                      ATTRIBUTE                                                       </a:t>
            </a:r>
          </a:p>
          <a:p>
            <a:r>
              <a:rPr lang="en-US" sz="800" dirty="0"/>
              <a:t>VPN    PREFIX              FROM PEER        ID     LABEL    STATUS    TYPE       TLOC IP          COLOR            ENCAP  PREFERENCE  </a:t>
            </a:r>
          </a:p>
          <a:p>
            <a:r>
              <a:rPr lang="en-US" sz="800" dirty="0"/>
              <a:t>--------------------------------------------------------------------------------------------------------------------------------------</a:t>
            </a:r>
          </a:p>
          <a:p>
            <a:r>
              <a:rPr lang="en-US" sz="800" dirty="0"/>
              <a:t>1      172.16.1.0/24       1.1.1.1          66     1004     C,R       installed  1.1.1.1          </a:t>
            </a:r>
            <a:r>
              <a:rPr lang="en-US" sz="800" dirty="0" err="1"/>
              <a:t>mpls</a:t>
            </a:r>
            <a:r>
              <a:rPr lang="en-US" sz="800" dirty="0"/>
              <a:t>             </a:t>
            </a:r>
            <a:r>
              <a:rPr lang="en-US" sz="800" dirty="0" err="1"/>
              <a:t>ipsec</a:t>
            </a:r>
            <a:r>
              <a:rPr lang="en-US" sz="800" dirty="0"/>
              <a:t>  -           </a:t>
            </a:r>
          </a:p>
          <a:p>
            <a:r>
              <a:rPr lang="en-US" sz="800" dirty="0"/>
              <a:t>                           1.1.1.1          69     1004     C,R       installed  1.1.1.1          public-internet  </a:t>
            </a:r>
            <a:r>
              <a:rPr lang="en-US" sz="800" dirty="0" err="1"/>
              <a:t>ipsec</a:t>
            </a:r>
            <a:r>
              <a:rPr lang="en-US" sz="800" dirty="0"/>
              <a:t>  -           </a:t>
            </a:r>
          </a:p>
          <a:p>
            <a:r>
              <a:rPr lang="en-US" sz="800" dirty="0"/>
              <a:t>                           1.1.1.2          66     1004     C,R       installed  1.1.1.2          </a:t>
            </a:r>
            <a:r>
              <a:rPr lang="en-US" sz="800" dirty="0" err="1"/>
              <a:t>mpls</a:t>
            </a:r>
            <a:r>
              <a:rPr lang="en-US" sz="800" dirty="0"/>
              <a:t>             </a:t>
            </a:r>
            <a:r>
              <a:rPr lang="en-US" sz="800" dirty="0" err="1"/>
              <a:t>ipsec</a:t>
            </a:r>
            <a:r>
              <a:rPr lang="en-US" sz="800" dirty="0"/>
              <a:t>  -           </a:t>
            </a:r>
          </a:p>
          <a:p>
            <a:r>
              <a:rPr lang="en-US" sz="800" dirty="0"/>
              <a:t>                           1.1.1.2          69     1004     C,R       installed  1.1.1.2          public-internet  </a:t>
            </a:r>
            <a:r>
              <a:rPr lang="en-US" sz="800" dirty="0" err="1"/>
              <a:t>ipsec</a:t>
            </a:r>
            <a:r>
              <a:rPr lang="en-US" sz="800" dirty="0"/>
              <a:t>  - </a:t>
            </a:r>
          </a:p>
        </p:txBody>
      </p:sp>
      <p:sp>
        <p:nvSpPr>
          <p:cNvPr id="10" name="Rectangle 9"/>
          <p:cNvSpPr/>
          <p:nvPr/>
        </p:nvSpPr>
        <p:spPr>
          <a:xfrm>
            <a:off x="5810943" y="351339"/>
            <a:ext cx="4134722" cy="369332"/>
          </a:xfrm>
          <a:prstGeom prst="rect">
            <a:avLst/>
          </a:prstGeom>
        </p:spPr>
        <p:txBody>
          <a:bodyPr wrap="none">
            <a:spAutoFit/>
          </a:bodyPr>
          <a:lstStyle/>
          <a:p>
            <a:r>
              <a:rPr lang="en-US" dirty="0"/>
              <a:t>check the routing information on vEdge-3.</a:t>
            </a:r>
          </a:p>
        </p:txBody>
      </p:sp>
      <p:sp>
        <p:nvSpPr>
          <p:cNvPr id="12" name="Rectangle 11"/>
          <p:cNvSpPr/>
          <p:nvPr/>
        </p:nvSpPr>
        <p:spPr>
          <a:xfrm>
            <a:off x="6096000" y="720671"/>
            <a:ext cx="6096000" cy="5509200"/>
          </a:xfrm>
          <a:prstGeom prst="rect">
            <a:avLst/>
          </a:prstGeom>
        </p:spPr>
        <p:txBody>
          <a:bodyPr>
            <a:spAutoFit/>
          </a:bodyPr>
          <a:lstStyle/>
          <a:p>
            <a:r>
              <a:rPr lang="en-US" sz="800" dirty="0"/>
              <a:t>vEdge-3# show </a:t>
            </a:r>
            <a:r>
              <a:rPr lang="en-US" sz="800" dirty="0" err="1"/>
              <a:t>omp</a:t>
            </a:r>
            <a:r>
              <a:rPr lang="en-US" sz="800" dirty="0"/>
              <a:t> routes 172.16.1.0/24 | tab</a:t>
            </a:r>
          </a:p>
          <a:p>
            <a:r>
              <a:rPr lang="en-US" sz="800" dirty="0"/>
              <a:t>Code:</a:t>
            </a:r>
          </a:p>
          <a:p>
            <a:r>
              <a:rPr lang="en-US" sz="800" dirty="0"/>
              <a:t>C   -&gt; chosen</a:t>
            </a:r>
          </a:p>
          <a:p>
            <a:r>
              <a:rPr lang="en-US" sz="800" dirty="0"/>
              <a:t>I   -&gt; installed</a:t>
            </a:r>
          </a:p>
          <a:p>
            <a:r>
              <a:rPr lang="en-US" sz="800" dirty="0"/>
              <a:t>Red -&gt; redistributed</a:t>
            </a:r>
          </a:p>
          <a:p>
            <a:r>
              <a:rPr lang="en-US" sz="800" dirty="0" err="1"/>
              <a:t>Rej</a:t>
            </a:r>
            <a:r>
              <a:rPr lang="en-US" sz="800" dirty="0"/>
              <a:t> -&gt; rejected</a:t>
            </a:r>
          </a:p>
          <a:p>
            <a:r>
              <a:rPr lang="en-US" sz="800" dirty="0"/>
              <a:t>L   -&gt; looped</a:t>
            </a:r>
          </a:p>
          <a:p>
            <a:r>
              <a:rPr lang="en-US" sz="800" dirty="0"/>
              <a:t>R   -&gt; resolved</a:t>
            </a:r>
          </a:p>
          <a:p>
            <a:r>
              <a:rPr lang="en-US" sz="800" dirty="0"/>
              <a:t>S   -&gt; stale</a:t>
            </a:r>
          </a:p>
          <a:p>
            <a:r>
              <a:rPr lang="en-US" sz="800" dirty="0"/>
              <a:t>Ext -&gt; extranetvEdge-3# show </a:t>
            </a:r>
            <a:r>
              <a:rPr lang="en-US" sz="800" dirty="0" err="1"/>
              <a:t>omp</a:t>
            </a:r>
            <a:r>
              <a:rPr lang="en-US" sz="800" dirty="0"/>
              <a:t> routes 172.16.1.0/24 | tab</a:t>
            </a:r>
          </a:p>
          <a:p>
            <a:r>
              <a:rPr lang="en-US" sz="800" dirty="0"/>
              <a:t>Code:</a:t>
            </a:r>
          </a:p>
          <a:p>
            <a:r>
              <a:rPr lang="en-US" sz="800" dirty="0"/>
              <a:t>C   -&gt; chosen</a:t>
            </a:r>
          </a:p>
          <a:p>
            <a:r>
              <a:rPr lang="en-US" sz="800" dirty="0"/>
              <a:t>I   -&gt; installed</a:t>
            </a:r>
          </a:p>
          <a:p>
            <a:r>
              <a:rPr lang="en-US" sz="800" dirty="0"/>
              <a:t>Red -&gt; redistributed</a:t>
            </a:r>
          </a:p>
          <a:p>
            <a:r>
              <a:rPr lang="en-US" sz="800" dirty="0" err="1"/>
              <a:t>Rej</a:t>
            </a:r>
            <a:r>
              <a:rPr lang="en-US" sz="800" dirty="0"/>
              <a:t> -&gt; rejected</a:t>
            </a:r>
          </a:p>
          <a:p>
            <a:r>
              <a:rPr lang="en-US" sz="800" dirty="0"/>
              <a:t>L   -&gt; looped</a:t>
            </a:r>
          </a:p>
          <a:p>
            <a:r>
              <a:rPr lang="en-US" sz="800" dirty="0"/>
              <a:t>R   -&gt; resolved</a:t>
            </a:r>
          </a:p>
          <a:p>
            <a:r>
              <a:rPr lang="en-US" sz="800" dirty="0"/>
              <a:t>S   -&gt; stale</a:t>
            </a:r>
          </a:p>
          <a:p>
            <a:r>
              <a:rPr lang="en-US" sz="800" dirty="0"/>
              <a:t>Ext -&gt; extranet</a:t>
            </a:r>
          </a:p>
          <a:p>
            <a:r>
              <a:rPr lang="en-US" sz="800" dirty="0" err="1"/>
              <a:t>Inv</a:t>
            </a:r>
            <a:r>
              <a:rPr lang="en-US" sz="800" dirty="0"/>
              <a:t> -&gt; invalid</a:t>
            </a:r>
          </a:p>
          <a:p>
            <a:r>
              <a:rPr lang="en-US" sz="800" dirty="0"/>
              <a:t>Stg -&gt; staged</a:t>
            </a:r>
          </a:p>
          <a:p>
            <a:r>
              <a:rPr lang="en-US" sz="800" dirty="0"/>
              <a:t>IA  -&gt; On-demand inactive</a:t>
            </a:r>
          </a:p>
          <a:p>
            <a:r>
              <a:rPr lang="en-US" sz="800" dirty="0"/>
              <a:t>U   -&gt; TLOC unresolved</a:t>
            </a:r>
          </a:p>
          <a:p>
            <a:endParaRPr lang="en-US" sz="800" dirty="0"/>
          </a:p>
          <a:p>
            <a:r>
              <a:rPr lang="en-US" sz="800" dirty="0"/>
              <a:t>                                            PATH                      ATTRIBUTE                                                       </a:t>
            </a:r>
          </a:p>
          <a:p>
            <a:r>
              <a:rPr lang="en-US" sz="800" dirty="0"/>
              <a:t>VPN    PREFIX              FROM PEER        ID     LABEL    STATUS    TYPE       TLOC IP          COLOR            ENCAP  PREFERENCE  </a:t>
            </a:r>
          </a:p>
          <a:p>
            <a:r>
              <a:rPr lang="en-US" sz="800" dirty="0"/>
              <a:t>--------------------------------------------------------------------------------------------------------------------------------------</a:t>
            </a:r>
          </a:p>
          <a:p>
            <a:r>
              <a:rPr lang="en-US" sz="800" dirty="0"/>
              <a:t>1      172.16.1.0/24       1.1.1.30         11     1004     C,I,R     installed  1.1.1.2          </a:t>
            </a:r>
            <a:r>
              <a:rPr lang="en-US" sz="800" dirty="0" err="1"/>
              <a:t>mpls</a:t>
            </a:r>
            <a:r>
              <a:rPr lang="en-US" sz="800" dirty="0"/>
              <a:t>             </a:t>
            </a:r>
            <a:r>
              <a:rPr lang="en-US" sz="800" dirty="0" err="1"/>
              <a:t>ipsec</a:t>
            </a:r>
            <a:r>
              <a:rPr lang="en-US" sz="800" dirty="0"/>
              <a:t>  90          </a:t>
            </a:r>
          </a:p>
          <a:p>
            <a:r>
              <a:rPr lang="en-US" sz="800" dirty="0"/>
              <a:t>                           1.1.1.30         12     1004     C,I,R     installed  1.1.1.2          public-internet  </a:t>
            </a:r>
            <a:r>
              <a:rPr lang="en-US" sz="800" dirty="0" err="1"/>
              <a:t>ipsec</a:t>
            </a:r>
            <a:r>
              <a:rPr lang="en-US" sz="800" dirty="0"/>
              <a:t>  90          </a:t>
            </a:r>
          </a:p>
          <a:p>
            <a:r>
              <a:rPr lang="en-US" sz="800" dirty="0"/>
              <a:t>                           1.1.1.30         13     1004     R         installed  1.1.1.1          </a:t>
            </a:r>
            <a:r>
              <a:rPr lang="en-US" sz="800" dirty="0" err="1"/>
              <a:t>mpls</a:t>
            </a:r>
            <a:r>
              <a:rPr lang="en-US" sz="800" dirty="0"/>
              <a:t>             </a:t>
            </a:r>
            <a:r>
              <a:rPr lang="en-US" sz="800" dirty="0" err="1"/>
              <a:t>ipsec</a:t>
            </a:r>
            <a:r>
              <a:rPr lang="en-US" sz="800" dirty="0"/>
              <a:t>  -           </a:t>
            </a:r>
          </a:p>
          <a:p>
            <a:r>
              <a:rPr lang="en-US" sz="800" dirty="0"/>
              <a:t>                           1.1.1.30         14     1004     R         installed  1.1.1.1          public-internet  </a:t>
            </a:r>
            <a:r>
              <a:rPr lang="en-US" sz="800" dirty="0" err="1"/>
              <a:t>ipsec</a:t>
            </a:r>
            <a:r>
              <a:rPr lang="en-US" sz="800" dirty="0"/>
              <a:t>  - </a:t>
            </a:r>
          </a:p>
          <a:p>
            <a:endParaRPr lang="en-US" sz="800" dirty="0"/>
          </a:p>
          <a:p>
            <a:r>
              <a:rPr lang="en-US" sz="800" dirty="0" err="1"/>
              <a:t>Inv</a:t>
            </a:r>
            <a:r>
              <a:rPr lang="en-US" sz="800" dirty="0"/>
              <a:t> -&gt; invalid</a:t>
            </a:r>
          </a:p>
          <a:p>
            <a:r>
              <a:rPr lang="en-US" sz="800" dirty="0"/>
              <a:t>Stg -&gt; staged</a:t>
            </a:r>
          </a:p>
          <a:p>
            <a:r>
              <a:rPr lang="en-US" sz="800" dirty="0"/>
              <a:t>IA  -&gt; On-demand inactive</a:t>
            </a:r>
          </a:p>
          <a:p>
            <a:r>
              <a:rPr lang="en-US" sz="800" dirty="0"/>
              <a:t>U   -&gt; TLOC unresolved</a:t>
            </a:r>
          </a:p>
          <a:p>
            <a:endParaRPr lang="en-US" sz="800" dirty="0"/>
          </a:p>
          <a:p>
            <a:r>
              <a:rPr lang="en-US" sz="800" dirty="0"/>
              <a:t>                                            PATH                      ATTRIBUTE                                                       </a:t>
            </a:r>
          </a:p>
          <a:p>
            <a:r>
              <a:rPr lang="en-US" sz="800" dirty="0"/>
              <a:t>VPN    PREFIX              FROM PEER        ID     LABEL    STATUS    TYPE       TLOC IP          COLOR            ENCAP  PREFERENCE  </a:t>
            </a:r>
          </a:p>
          <a:p>
            <a:r>
              <a:rPr lang="en-US" sz="800" dirty="0"/>
              <a:t>--------------------------------------------------------------------------------------------------------------------------------------</a:t>
            </a:r>
          </a:p>
          <a:p>
            <a:r>
              <a:rPr lang="en-US" sz="800" dirty="0"/>
              <a:t>1      172.16.1.0/24       1.1.1.30         11     1004     C,I,R     installed  1.1.1.2          </a:t>
            </a:r>
            <a:r>
              <a:rPr lang="en-US" sz="800" dirty="0" err="1"/>
              <a:t>mpls</a:t>
            </a:r>
            <a:r>
              <a:rPr lang="en-US" sz="800" dirty="0"/>
              <a:t>             </a:t>
            </a:r>
            <a:r>
              <a:rPr lang="en-US" sz="800" dirty="0" err="1"/>
              <a:t>ipsec</a:t>
            </a:r>
            <a:r>
              <a:rPr lang="en-US" sz="800" dirty="0"/>
              <a:t>  90          </a:t>
            </a:r>
          </a:p>
          <a:p>
            <a:r>
              <a:rPr lang="en-US" sz="800" dirty="0"/>
              <a:t>                           1.1.1.30         12     1004     C,I,R     installed  1.1.1.2          public-internet  </a:t>
            </a:r>
            <a:r>
              <a:rPr lang="en-US" sz="800" dirty="0" err="1"/>
              <a:t>ipsec</a:t>
            </a:r>
            <a:r>
              <a:rPr lang="en-US" sz="800" dirty="0"/>
              <a:t>  90          </a:t>
            </a:r>
          </a:p>
          <a:p>
            <a:r>
              <a:rPr lang="en-US" sz="800" dirty="0"/>
              <a:t>                           1.1.1.30         13     1004     R         installed  1.1.1.1          </a:t>
            </a:r>
            <a:r>
              <a:rPr lang="en-US" sz="800" dirty="0" err="1"/>
              <a:t>mpls</a:t>
            </a:r>
            <a:r>
              <a:rPr lang="en-US" sz="800" dirty="0"/>
              <a:t>             </a:t>
            </a:r>
            <a:r>
              <a:rPr lang="en-US" sz="800" dirty="0" err="1"/>
              <a:t>ipsec</a:t>
            </a:r>
            <a:r>
              <a:rPr lang="en-US" sz="800" dirty="0"/>
              <a:t>  -           </a:t>
            </a:r>
          </a:p>
          <a:p>
            <a:r>
              <a:rPr lang="en-US" sz="800" dirty="0"/>
              <a:t>                           1.1.1.30         14     1004     R         installed  1.1.1.1          public-internet  </a:t>
            </a:r>
            <a:r>
              <a:rPr lang="en-US" sz="800" dirty="0" err="1"/>
              <a:t>ipsec</a:t>
            </a:r>
            <a:r>
              <a:rPr lang="en-US" sz="800" dirty="0"/>
              <a:t>  - </a:t>
            </a:r>
          </a:p>
        </p:txBody>
      </p:sp>
    </p:spTree>
    <p:extLst>
      <p:ext uri="{BB962C8B-B14F-4D97-AF65-F5344CB8AC3E}">
        <p14:creationId xmlns:p14="http://schemas.microsoft.com/office/powerpoint/2010/main" val="281941202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45"/>
          <p:cNvSpPr/>
          <p:nvPr/>
        </p:nvSpPr>
        <p:spPr>
          <a:xfrm>
            <a:off x="157843" y="256793"/>
            <a:ext cx="5361214" cy="923330"/>
          </a:xfrm>
          <a:prstGeom prst="rect">
            <a:avLst/>
          </a:prstGeom>
        </p:spPr>
        <p:txBody>
          <a:bodyPr wrap="square">
            <a:spAutoFit/>
          </a:bodyPr>
          <a:lstStyle/>
          <a:p>
            <a:r>
              <a:rPr lang="en-US" dirty="0"/>
              <a:t>check the </a:t>
            </a:r>
            <a:r>
              <a:rPr lang="en-US" dirty="0" err="1"/>
              <a:t>omp</a:t>
            </a:r>
            <a:r>
              <a:rPr lang="en-US" dirty="0"/>
              <a:t> routing table of any other WAN edge router, we will see that they have chosen and installed all four equal-cost routes for 172.16.1.0/24.</a:t>
            </a:r>
          </a:p>
        </p:txBody>
      </p:sp>
      <p:sp>
        <p:nvSpPr>
          <p:cNvPr id="48" name="Rectangle 47"/>
          <p:cNvSpPr/>
          <p:nvPr/>
        </p:nvSpPr>
        <p:spPr>
          <a:xfrm>
            <a:off x="157843" y="1233575"/>
            <a:ext cx="6096000" cy="1323439"/>
          </a:xfrm>
          <a:prstGeom prst="rect">
            <a:avLst/>
          </a:prstGeom>
        </p:spPr>
        <p:txBody>
          <a:bodyPr>
            <a:spAutoFit/>
          </a:bodyPr>
          <a:lstStyle/>
          <a:p>
            <a:r>
              <a:rPr lang="en-US" sz="800" dirty="0"/>
              <a:t>vEdge-4#  show </a:t>
            </a:r>
            <a:r>
              <a:rPr lang="en-US" sz="800" dirty="0" err="1"/>
              <a:t>omp</a:t>
            </a:r>
            <a:r>
              <a:rPr lang="en-US" sz="800" dirty="0"/>
              <a:t> routes 172.16.1.0/24 | tab</a:t>
            </a:r>
          </a:p>
          <a:p>
            <a:endParaRPr lang="en-US" sz="800" dirty="0"/>
          </a:p>
          <a:p>
            <a:endParaRPr lang="en-US" sz="800" dirty="0"/>
          </a:p>
          <a:p>
            <a:r>
              <a:rPr lang="en-US" sz="800" dirty="0"/>
              <a:t>                                            PATH                      ATTRIBUTE                                                       </a:t>
            </a:r>
          </a:p>
          <a:p>
            <a:r>
              <a:rPr lang="en-US" sz="800" dirty="0"/>
              <a:t>VPN    PREFIX              FROM PEER        ID     LABEL    STATUS    TYPE       TLOC IP          COLOR            ENCAP  PREFERENCE  </a:t>
            </a:r>
          </a:p>
          <a:p>
            <a:r>
              <a:rPr lang="en-US" sz="800" dirty="0"/>
              <a:t>--------------------------------------------------------------------------------------------------------------------------------------</a:t>
            </a:r>
          </a:p>
          <a:p>
            <a:r>
              <a:rPr lang="en-US" sz="800" dirty="0"/>
              <a:t>1      172.16.1.0/24       1.1.1.30         5      1004     C,I,R     installed  1.1.1.2          </a:t>
            </a:r>
            <a:r>
              <a:rPr lang="en-US" sz="800" dirty="0" err="1"/>
              <a:t>mpls</a:t>
            </a:r>
            <a:r>
              <a:rPr lang="en-US" sz="800" dirty="0"/>
              <a:t>             </a:t>
            </a:r>
            <a:r>
              <a:rPr lang="en-US" sz="800" dirty="0" err="1"/>
              <a:t>ipsec</a:t>
            </a:r>
            <a:r>
              <a:rPr lang="en-US" sz="800" dirty="0"/>
              <a:t>  -           </a:t>
            </a:r>
          </a:p>
          <a:p>
            <a:r>
              <a:rPr lang="en-US" sz="800" dirty="0"/>
              <a:t>                           1.1.1.30         6      1004     C,I,R     installed  1.1.1.2          public-internet  </a:t>
            </a:r>
            <a:r>
              <a:rPr lang="en-US" sz="800" dirty="0" err="1"/>
              <a:t>ipsec</a:t>
            </a:r>
            <a:r>
              <a:rPr lang="en-US" sz="800" dirty="0"/>
              <a:t>  -           </a:t>
            </a:r>
          </a:p>
          <a:p>
            <a:r>
              <a:rPr lang="en-US" sz="800" dirty="0"/>
              <a:t>                           1.1.1.30         7      1004     C,I,R     installed  1.1.1.1          </a:t>
            </a:r>
            <a:r>
              <a:rPr lang="en-US" sz="800" dirty="0" err="1"/>
              <a:t>mpls</a:t>
            </a:r>
            <a:r>
              <a:rPr lang="en-US" sz="800" dirty="0"/>
              <a:t>             </a:t>
            </a:r>
            <a:r>
              <a:rPr lang="en-US" sz="800" dirty="0" err="1"/>
              <a:t>ipsec</a:t>
            </a:r>
            <a:r>
              <a:rPr lang="en-US" sz="800" dirty="0"/>
              <a:t>  -           </a:t>
            </a:r>
          </a:p>
          <a:p>
            <a:r>
              <a:rPr lang="en-US" sz="800" dirty="0"/>
              <a:t>                           1.1.1.30         8      1004     C,I,R     installed  1.1.1.1          public-internet  </a:t>
            </a:r>
            <a:r>
              <a:rPr lang="en-US" sz="800" dirty="0" err="1"/>
              <a:t>ipsec</a:t>
            </a:r>
            <a:r>
              <a:rPr lang="en-US" sz="800" dirty="0"/>
              <a:t>  - </a:t>
            </a:r>
          </a:p>
        </p:txBody>
      </p:sp>
      <p:pic>
        <p:nvPicPr>
          <p:cNvPr id="49" name="Picture 48"/>
          <p:cNvPicPr>
            <a:picLocks noChangeAspect="1"/>
          </p:cNvPicPr>
          <p:nvPr/>
        </p:nvPicPr>
        <p:blipFill>
          <a:blip r:embed="rId3"/>
          <a:stretch>
            <a:fillRect/>
          </a:stretch>
        </p:blipFill>
        <p:spPr>
          <a:xfrm>
            <a:off x="5045529" y="2280052"/>
            <a:ext cx="6874328" cy="4577947"/>
          </a:xfrm>
          <a:prstGeom prst="rect">
            <a:avLst/>
          </a:prstGeom>
        </p:spPr>
      </p:pic>
    </p:spTree>
    <p:extLst>
      <p:ext uri="{BB962C8B-B14F-4D97-AF65-F5344CB8AC3E}">
        <p14:creationId xmlns:p14="http://schemas.microsoft.com/office/powerpoint/2010/main" val="331321197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45324" y="410746"/>
            <a:ext cx="9347200" cy="771712"/>
          </a:xfrm>
          <a:prstGeom prst="rect">
            <a:avLst/>
          </a:prstGeom>
        </p:spPr>
        <p:txBody>
          <a:bodyPr vert="horz" lIns="81280" tIns="40640" rIns="81280" bIns="40640" rtlCol="0" anchor="b">
            <a:normAutofit fontScale="8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a:solidFill>
                  <a:schemeClr val="bg1">
                    <a:lumMod val="75000"/>
                  </a:schemeClr>
                </a:solidFill>
              </a:rPr>
              <a:t>Manipulating site-local BGP routing</a:t>
            </a:r>
            <a:endParaRPr lang="en-US" b="1" dirty="0">
              <a:solidFill>
                <a:schemeClr val="bg1">
                  <a:lumMod val="75000"/>
                </a:schemeClr>
              </a:solidFill>
            </a:endParaRPr>
          </a:p>
        </p:txBody>
      </p:sp>
      <p:pic>
        <p:nvPicPr>
          <p:cNvPr id="3" name="Picture 2"/>
          <p:cNvPicPr>
            <a:picLocks noChangeAspect="1"/>
          </p:cNvPicPr>
          <p:nvPr/>
        </p:nvPicPr>
        <p:blipFill>
          <a:blip r:embed="rId3"/>
          <a:stretch>
            <a:fillRect/>
          </a:stretch>
        </p:blipFill>
        <p:spPr>
          <a:xfrm>
            <a:off x="331669" y="1182458"/>
            <a:ext cx="5089417" cy="4156213"/>
          </a:xfrm>
          <a:prstGeom prst="rect">
            <a:avLst/>
          </a:prstGeom>
        </p:spPr>
      </p:pic>
      <p:sp>
        <p:nvSpPr>
          <p:cNvPr id="6" name="Rectangle 5"/>
          <p:cNvSpPr/>
          <p:nvPr/>
        </p:nvSpPr>
        <p:spPr>
          <a:xfrm>
            <a:off x="5537091" y="1267541"/>
            <a:ext cx="3949808" cy="2308324"/>
          </a:xfrm>
          <a:prstGeom prst="rect">
            <a:avLst/>
          </a:prstGeom>
        </p:spPr>
        <p:txBody>
          <a:bodyPr wrap="square">
            <a:spAutoFit/>
          </a:bodyPr>
          <a:lstStyle/>
          <a:p>
            <a:r>
              <a:rPr lang="en-US" sz="1200" dirty="0"/>
              <a:t>CORE-SW1#sh </a:t>
            </a:r>
            <a:r>
              <a:rPr lang="en-US" sz="1200" dirty="0" err="1"/>
              <a:t>ip</a:t>
            </a:r>
            <a:r>
              <a:rPr lang="en-US" sz="1200" dirty="0"/>
              <a:t> route </a:t>
            </a:r>
            <a:r>
              <a:rPr lang="en-US" sz="1200" dirty="0" err="1"/>
              <a:t>bgp</a:t>
            </a:r>
            <a:endParaRPr lang="en-US" sz="1200" dirty="0"/>
          </a:p>
          <a:p>
            <a:r>
              <a:rPr lang="en-US" sz="1200" dirty="0"/>
              <a:t>Gateway of last resort is not set</a:t>
            </a:r>
          </a:p>
          <a:p>
            <a:endParaRPr lang="en-US" sz="1200" dirty="0"/>
          </a:p>
          <a:p>
            <a:r>
              <a:rPr lang="en-US" sz="1200" dirty="0"/>
              <a:t>      10.0.0.0/8 is variably </a:t>
            </a:r>
            <a:r>
              <a:rPr lang="en-US" sz="1200" dirty="0" err="1"/>
              <a:t>subnetted</a:t>
            </a:r>
            <a:r>
              <a:rPr lang="en-US" sz="1200" dirty="0"/>
              <a:t>, 6 subnets, 2 masks</a:t>
            </a:r>
          </a:p>
          <a:p>
            <a:r>
              <a:rPr lang="en-US" sz="1200" dirty="0"/>
              <a:t>B        10.3.5.0/24 [20/1000] via 172.16.1.2, 00:02:07</a:t>
            </a:r>
          </a:p>
          <a:p>
            <a:r>
              <a:rPr lang="en-US" sz="1200" dirty="0"/>
              <a:t>                     [20/1000] via 172.16.1.1, 00:02:07</a:t>
            </a:r>
          </a:p>
          <a:p>
            <a:r>
              <a:rPr lang="en-US" sz="1200" dirty="0"/>
              <a:t>B        10.4.5.0/24 [20/1000] via 172.16.1.2, 00:02:07</a:t>
            </a:r>
          </a:p>
          <a:p>
            <a:r>
              <a:rPr lang="en-US" sz="1200" dirty="0"/>
              <a:t>                     [20/1000] via 172.16.1.1, 00:02:07</a:t>
            </a:r>
          </a:p>
          <a:p>
            <a:r>
              <a:rPr lang="en-US" sz="1200" dirty="0"/>
              <a:t>B        10.5.5.0/24 [20/1000] via 172.16.1.2, 00:02:07</a:t>
            </a:r>
          </a:p>
          <a:p>
            <a:r>
              <a:rPr lang="en-US" sz="1200" dirty="0"/>
              <a:t>                     [20/1000] via 172.16.1.1, 00:02:07</a:t>
            </a:r>
          </a:p>
          <a:p>
            <a:r>
              <a:rPr lang="en-US" sz="1200" dirty="0"/>
              <a:t>B        10.6.5.0/24 [20/1000] via 172.16.1.2, 00:02:07</a:t>
            </a:r>
          </a:p>
          <a:p>
            <a:r>
              <a:rPr lang="en-US" sz="1200" dirty="0"/>
              <a:t>                     [20/1000] via 172.16.1.1, 00:02:07</a:t>
            </a:r>
          </a:p>
        </p:txBody>
      </p:sp>
      <p:sp>
        <p:nvSpPr>
          <p:cNvPr id="7" name="Rectangle 6"/>
          <p:cNvSpPr/>
          <p:nvPr/>
        </p:nvSpPr>
        <p:spPr>
          <a:xfrm>
            <a:off x="5537091" y="3569553"/>
            <a:ext cx="2599238" cy="369332"/>
          </a:xfrm>
          <a:prstGeom prst="rect">
            <a:avLst/>
          </a:prstGeom>
        </p:spPr>
        <p:txBody>
          <a:bodyPr wrap="none">
            <a:spAutoFit/>
          </a:bodyPr>
          <a:lstStyle/>
          <a:p>
            <a:r>
              <a:rPr lang="en-US" dirty="0"/>
              <a:t>Configuring a route policy</a:t>
            </a:r>
          </a:p>
        </p:txBody>
      </p:sp>
      <p:sp>
        <p:nvSpPr>
          <p:cNvPr id="8" name="Rectangle 7"/>
          <p:cNvSpPr/>
          <p:nvPr/>
        </p:nvSpPr>
        <p:spPr>
          <a:xfrm>
            <a:off x="5544239" y="3938885"/>
            <a:ext cx="5528237" cy="1754326"/>
          </a:xfrm>
          <a:prstGeom prst="rect">
            <a:avLst/>
          </a:prstGeom>
        </p:spPr>
        <p:txBody>
          <a:bodyPr wrap="square">
            <a:spAutoFit/>
          </a:bodyPr>
          <a:lstStyle/>
          <a:p>
            <a:r>
              <a:rPr lang="en-US" sz="1200" dirty="0"/>
              <a:t>vEdge-1# </a:t>
            </a:r>
            <a:r>
              <a:rPr lang="en-US" sz="1200" dirty="0" err="1"/>
              <a:t>conf</a:t>
            </a:r>
            <a:r>
              <a:rPr lang="en-US" sz="1200" dirty="0"/>
              <a:t> t</a:t>
            </a:r>
          </a:p>
          <a:p>
            <a:r>
              <a:rPr lang="en-US" sz="1200" dirty="0"/>
              <a:t>Entering configuration mode terminal</a:t>
            </a:r>
          </a:p>
          <a:p>
            <a:r>
              <a:rPr lang="en-US" sz="1200" dirty="0"/>
              <a:t>vEdge-1(</a:t>
            </a:r>
            <a:r>
              <a:rPr lang="en-US" sz="1200" dirty="0" err="1"/>
              <a:t>config</a:t>
            </a:r>
            <a:r>
              <a:rPr lang="en-US" sz="1200" dirty="0"/>
              <a:t>)# policy</a:t>
            </a:r>
          </a:p>
          <a:p>
            <a:r>
              <a:rPr lang="en-US" sz="1200" dirty="0"/>
              <a:t>vEdge-1(</a:t>
            </a:r>
            <a:r>
              <a:rPr lang="en-US" sz="1200" dirty="0" err="1"/>
              <a:t>config</a:t>
            </a:r>
            <a:r>
              <a:rPr lang="en-US" sz="1200" dirty="0"/>
              <a:t>-policy)# route-policy SET-ORIGIN-IGP</a:t>
            </a:r>
          </a:p>
          <a:p>
            <a:r>
              <a:rPr lang="en-US" sz="1200" dirty="0"/>
              <a:t>vEdge-1(</a:t>
            </a:r>
            <a:r>
              <a:rPr lang="en-US" sz="1200" dirty="0" err="1"/>
              <a:t>config</a:t>
            </a:r>
            <a:r>
              <a:rPr lang="en-US" sz="1200" dirty="0"/>
              <a:t>-route-policy-SET-ORIGIN-IGP)# sequence 11</a:t>
            </a:r>
          </a:p>
          <a:p>
            <a:r>
              <a:rPr lang="en-US" sz="1200" dirty="0"/>
              <a:t>vEdge-1(config-sequence-11)# action accept</a:t>
            </a:r>
          </a:p>
          <a:p>
            <a:r>
              <a:rPr lang="en-US" sz="1200" dirty="0"/>
              <a:t>vEdge-1(</a:t>
            </a:r>
            <a:r>
              <a:rPr lang="en-US" sz="1200" dirty="0" err="1"/>
              <a:t>config</a:t>
            </a:r>
            <a:r>
              <a:rPr lang="en-US" sz="1200" dirty="0"/>
              <a:t>-action)#set origin </a:t>
            </a:r>
            <a:r>
              <a:rPr lang="en-US" sz="1200" dirty="0" err="1"/>
              <a:t>igp</a:t>
            </a:r>
            <a:endParaRPr lang="en-US" sz="1200" dirty="0"/>
          </a:p>
          <a:p>
            <a:r>
              <a:rPr lang="en-US" sz="1200" dirty="0"/>
              <a:t>vEdge-1(</a:t>
            </a:r>
            <a:r>
              <a:rPr lang="en-US" sz="1200" dirty="0" err="1"/>
              <a:t>config</a:t>
            </a:r>
            <a:r>
              <a:rPr lang="en-US" sz="1200" dirty="0"/>
              <a:t>-set)# default-action accept</a:t>
            </a:r>
          </a:p>
          <a:p>
            <a:r>
              <a:rPr lang="en-US" sz="1200" dirty="0"/>
              <a:t>vEdge-1(</a:t>
            </a:r>
            <a:r>
              <a:rPr lang="en-US" sz="1200" dirty="0" err="1"/>
              <a:t>config</a:t>
            </a:r>
            <a:r>
              <a:rPr lang="en-US" sz="1200" dirty="0"/>
              <a:t>-route-policy-SET-ORIGIN-IGP)# commit and-quit </a:t>
            </a:r>
          </a:p>
        </p:txBody>
      </p:sp>
      <p:sp>
        <p:nvSpPr>
          <p:cNvPr id="9" name="Rectangle 8"/>
          <p:cNvSpPr/>
          <p:nvPr/>
        </p:nvSpPr>
        <p:spPr>
          <a:xfrm>
            <a:off x="9486899" y="1172930"/>
            <a:ext cx="2400301" cy="1477328"/>
          </a:xfrm>
          <a:prstGeom prst="rect">
            <a:avLst/>
          </a:prstGeom>
        </p:spPr>
        <p:txBody>
          <a:bodyPr wrap="square">
            <a:spAutoFit/>
          </a:bodyPr>
          <a:lstStyle/>
          <a:p>
            <a:r>
              <a:rPr lang="en-US" sz="1000" dirty="0"/>
              <a:t>policy</a:t>
            </a:r>
          </a:p>
          <a:p>
            <a:r>
              <a:rPr lang="en-US" sz="1000" dirty="0"/>
              <a:t> route-policy SET-ORIGIN-IGP</a:t>
            </a:r>
          </a:p>
          <a:p>
            <a:r>
              <a:rPr lang="en-US" sz="1000" dirty="0"/>
              <a:t>  sequence 11</a:t>
            </a:r>
          </a:p>
          <a:p>
            <a:r>
              <a:rPr lang="en-US" sz="1000" dirty="0"/>
              <a:t>   action accept</a:t>
            </a:r>
          </a:p>
          <a:p>
            <a:r>
              <a:rPr lang="en-US" sz="1000" dirty="0"/>
              <a:t>    set</a:t>
            </a:r>
          </a:p>
          <a:p>
            <a:r>
              <a:rPr lang="en-US" sz="1000" dirty="0"/>
              <a:t>     origin </a:t>
            </a:r>
            <a:r>
              <a:rPr lang="en-US" sz="1000" dirty="0" err="1"/>
              <a:t>igp</a:t>
            </a:r>
            <a:endParaRPr lang="en-US" sz="1000" dirty="0"/>
          </a:p>
          <a:p>
            <a:r>
              <a:rPr lang="en-US" sz="1000" dirty="0"/>
              <a:t>  !</a:t>
            </a:r>
          </a:p>
          <a:p>
            <a:r>
              <a:rPr lang="en-US" sz="1000" dirty="0"/>
              <a:t>  default-action accept</a:t>
            </a:r>
          </a:p>
          <a:p>
            <a:r>
              <a:rPr lang="en-US" sz="1000" dirty="0"/>
              <a:t>!</a:t>
            </a:r>
          </a:p>
        </p:txBody>
      </p:sp>
    </p:spTree>
    <p:extLst>
      <p:ext uri="{BB962C8B-B14F-4D97-AF65-F5344CB8AC3E}">
        <p14:creationId xmlns:p14="http://schemas.microsoft.com/office/powerpoint/2010/main" val="13715330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6488668"/>
            <a:ext cx="3830857" cy="276999"/>
          </a:xfrm>
          <a:prstGeom prst="rect">
            <a:avLst/>
          </a:prstGeom>
        </p:spPr>
        <p:txBody>
          <a:bodyPr wrap="none">
            <a:spAutoFit/>
          </a:bodyPr>
          <a:lstStyle/>
          <a:p>
            <a:r>
              <a:rPr lang="en-US" sz="1200" dirty="0">
                <a:solidFill>
                  <a:schemeClr val="bg1">
                    <a:lumMod val="85000"/>
                  </a:schemeClr>
                </a:solidFill>
              </a:rPr>
              <a:t>http://wpage.unina.it/rcanonic/didattica/gns3-labs/lab16/</a:t>
            </a:r>
          </a:p>
        </p:txBody>
      </p:sp>
      <p:sp>
        <p:nvSpPr>
          <p:cNvPr id="7" name="Rectangle 6"/>
          <p:cNvSpPr/>
          <p:nvPr/>
        </p:nvSpPr>
        <p:spPr>
          <a:xfrm>
            <a:off x="304800" y="441378"/>
            <a:ext cx="3848746" cy="5355312"/>
          </a:xfrm>
          <a:prstGeom prst="rect">
            <a:avLst/>
          </a:prstGeom>
        </p:spPr>
        <p:txBody>
          <a:bodyPr wrap="square">
            <a:spAutoFit/>
          </a:bodyPr>
          <a:lstStyle/>
          <a:p>
            <a:r>
              <a:rPr lang="en-US" dirty="0" err="1"/>
              <a:t>vpn</a:t>
            </a:r>
            <a:r>
              <a:rPr lang="en-US" dirty="0"/>
              <a:t> 5</a:t>
            </a:r>
          </a:p>
          <a:p>
            <a:r>
              <a:rPr lang="en-US" dirty="0"/>
              <a:t> router</a:t>
            </a:r>
          </a:p>
          <a:p>
            <a:r>
              <a:rPr lang="en-US" dirty="0"/>
              <a:t>  </a:t>
            </a:r>
            <a:r>
              <a:rPr lang="en-US" dirty="0" err="1"/>
              <a:t>bgp</a:t>
            </a:r>
            <a:r>
              <a:rPr lang="en-US" dirty="0"/>
              <a:t> 65000</a:t>
            </a:r>
          </a:p>
          <a:p>
            <a:r>
              <a:rPr lang="en-US" dirty="0"/>
              <a:t>   propagate-</a:t>
            </a:r>
            <a:r>
              <a:rPr lang="en-US" dirty="0" err="1"/>
              <a:t>aspath</a:t>
            </a:r>
            <a:endParaRPr lang="en-US" dirty="0"/>
          </a:p>
          <a:p>
            <a:r>
              <a:rPr lang="en-US" dirty="0"/>
              <a:t>   address-family ipv4-unicast</a:t>
            </a:r>
          </a:p>
          <a:p>
            <a:r>
              <a:rPr lang="en-US" dirty="0"/>
              <a:t>    redistribute </a:t>
            </a:r>
            <a:r>
              <a:rPr lang="en-US" dirty="0" err="1"/>
              <a:t>omp</a:t>
            </a:r>
            <a:endParaRPr lang="en-US" dirty="0"/>
          </a:p>
          <a:p>
            <a:r>
              <a:rPr lang="en-US" dirty="0"/>
              <a:t>   !</a:t>
            </a:r>
          </a:p>
          <a:p>
            <a:r>
              <a:rPr lang="en-US" dirty="0"/>
              <a:t>   neighbor 172.16.1.1</a:t>
            </a:r>
          </a:p>
          <a:p>
            <a:r>
              <a:rPr lang="en-US" dirty="0"/>
              <a:t>    no shutdown</a:t>
            </a:r>
          </a:p>
          <a:p>
            <a:r>
              <a:rPr lang="en-US" dirty="0"/>
              <a:t>    remote-as 65001</a:t>
            </a:r>
          </a:p>
          <a:p>
            <a:r>
              <a:rPr lang="en-US" dirty="0"/>
              <a:t>    address-family ipv4-unicast</a:t>
            </a:r>
          </a:p>
          <a:p>
            <a:r>
              <a:rPr lang="en-US" dirty="0"/>
              <a:t>     route-policy SET-ORIGIN-IGP out</a:t>
            </a:r>
          </a:p>
          <a:p>
            <a:r>
              <a:rPr lang="en-US" dirty="0"/>
              <a:t>    !</a:t>
            </a:r>
          </a:p>
          <a:p>
            <a:r>
              <a:rPr lang="en-US" dirty="0"/>
              <a:t>   neighbor 172.16.1.2</a:t>
            </a:r>
          </a:p>
          <a:p>
            <a:r>
              <a:rPr lang="en-US" dirty="0"/>
              <a:t>    no shutdown</a:t>
            </a:r>
          </a:p>
          <a:p>
            <a:r>
              <a:rPr lang="en-US" dirty="0"/>
              <a:t>    remote-as 65001</a:t>
            </a:r>
          </a:p>
          <a:p>
            <a:r>
              <a:rPr lang="en-US" dirty="0"/>
              <a:t>    address-family ipv4-unicast</a:t>
            </a:r>
          </a:p>
          <a:p>
            <a:r>
              <a:rPr lang="en-US" dirty="0"/>
              <a:t>     route-policy SET-ORIGIN-IGP out</a:t>
            </a:r>
          </a:p>
          <a:p>
            <a:r>
              <a:rPr lang="en-US" dirty="0"/>
              <a:t> !</a:t>
            </a:r>
          </a:p>
        </p:txBody>
      </p:sp>
      <p:sp>
        <p:nvSpPr>
          <p:cNvPr id="8" name="Rectangle 7"/>
          <p:cNvSpPr/>
          <p:nvPr/>
        </p:nvSpPr>
        <p:spPr>
          <a:xfrm>
            <a:off x="3830857" y="213563"/>
            <a:ext cx="3406851" cy="1323439"/>
          </a:xfrm>
          <a:prstGeom prst="rect">
            <a:avLst/>
          </a:prstGeom>
        </p:spPr>
        <p:txBody>
          <a:bodyPr wrap="square">
            <a:spAutoFit/>
          </a:bodyPr>
          <a:lstStyle/>
          <a:p>
            <a:r>
              <a:rPr lang="en-US" sz="1000" dirty="0"/>
              <a:t>CORE-SW1#sh </a:t>
            </a:r>
            <a:r>
              <a:rPr lang="en-US" sz="1000" dirty="0" err="1"/>
              <a:t>ip</a:t>
            </a:r>
            <a:r>
              <a:rPr lang="en-US" sz="1000" dirty="0"/>
              <a:t> route </a:t>
            </a:r>
            <a:r>
              <a:rPr lang="en-US" sz="1000" dirty="0" err="1"/>
              <a:t>bgp</a:t>
            </a:r>
            <a:endParaRPr lang="en-US" sz="1000" dirty="0"/>
          </a:p>
          <a:p>
            <a:r>
              <a:rPr lang="en-US" sz="1000" dirty="0"/>
              <a:t>Gateway of last resort is not set</a:t>
            </a:r>
          </a:p>
          <a:p>
            <a:endParaRPr lang="en-US" sz="1000" dirty="0"/>
          </a:p>
          <a:p>
            <a:r>
              <a:rPr lang="en-US" sz="1000" dirty="0"/>
              <a:t>      10.0.0.0/8 is variably </a:t>
            </a:r>
            <a:r>
              <a:rPr lang="en-US" sz="1000" dirty="0" err="1"/>
              <a:t>subnetted</a:t>
            </a:r>
            <a:r>
              <a:rPr lang="en-US" sz="1000" dirty="0"/>
              <a:t>, 6 subnets, 2 masks</a:t>
            </a:r>
          </a:p>
          <a:p>
            <a:r>
              <a:rPr lang="en-US" sz="1000" dirty="0"/>
              <a:t>B        10.3.5.0/24 [20/1000] via 172.16.1.1, 00:00:55</a:t>
            </a:r>
          </a:p>
          <a:p>
            <a:r>
              <a:rPr lang="en-US" sz="1000" dirty="0"/>
              <a:t>B        10.4.5.0/24 [20/1000] via 172.16.1.1, 00:00:55</a:t>
            </a:r>
          </a:p>
          <a:p>
            <a:r>
              <a:rPr lang="en-US" sz="1000" dirty="0"/>
              <a:t>B        10.5.5.0/24 [20/1000] via 172.16.1.1, 00:00:55</a:t>
            </a:r>
          </a:p>
          <a:p>
            <a:r>
              <a:rPr lang="en-US" sz="1000" dirty="0"/>
              <a:t>B        10.6.5.0/24 [20/1000] via 172.16.1.1, 00:00:55</a:t>
            </a:r>
          </a:p>
        </p:txBody>
      </p:sp>
      <p:sp>
        <p:nvSpPr>
          <p:cNvPr id="9" name="Rectangle 8"/>
          <p:cNvSpPr/>
          <p:nvPr/>
        </p:nvSpPr>
        <p:spPr>
          <a:xfrm>
            <a:off x="3977898" y="1764817"/>
            <a:ext cx="3445790" cy="2308324"/>
          </a:xfrm>
          <a:prstGeom prst="rect">
            <a:avLst/>
          </a:prstGeom>
        </p:spPr>
        <p:txBody>
          <a:bodyPr wrap="square">
            <a:spAutoFit/>
          </a:bodyPr>
          <a:lstStyle/>
          <a:p>
            <a:r>
              <a:rPr lang="en-US" sz="800" dirty="0"/>
              <a:t>CORE-SW1#sh </a:t>
            </a:r>
            <a:r>
              <a:rPr lang="en-US" sz="800" dirty="0" err="1"/>
              <a:t>ip</a:t>
            </a:r>
            <a:r>
              <a:rPr lang="en-US" sz="800" dirty="0"/>
              <a:t> </a:t>
            </a:r>
            <a:r>
              <a:rPr lang="en-US" sz="800" dirty="0" err="1"/>
              <a:t>bgp</a:t>
            </a:r>
            <a:r>
              <a:rPr lang="en-US" sz="800" dirty="0"/>
              <a:t> 10.3.5.0/24</a:t>
            </a:r>
          </a:p>
          <a:p>
            <a:r>
              <a:rPr lang="en-US" sz="800" dirty="0"/>
              <a:t>BGP routing table entry for 10.3.5.0/24, version 3</a:t>
            </a:r>
          </a:p>
          <a:p>
            <a:r>
              <a:rPr lang="en-US" sz="800" dirty="0"/>
              <a:t>Paths: (2 available, best #2, table default)</a:t>
            </a:r>
          </a:p>
          <a:p>
            <a:r>
              <a:rPr lang="en-US" sz="800" dirty="0"/>
              <a:t>Multipath: </a:t>
            </a:r>
            <a:r>
              <a:rPr lang="en-US" sz="800" dirty="0" err="1"/>
              <a:t>eBGP</a:t>
            </a:r>
            <a:endParaRPr lang="en-US" sz="800" dirty="0"/>
          </a:p>
          <a:p>
            <a:r>
              <a:rPr lang="en-US" sz="800" dirty="0"/>
              <a:t>  Advertised to update-groups:</a:t>
            </a:r>
          </a:p>
          <a:p>
            <a:r>
              <a:rPr lang="en-US" sz="800" dirty="0"/>
              <a:t>     2         </a:t>
            </a:r>
          </a:p>
          <a:p>
            <a:r>
              <a:rPr lang="en-US" sz="800" dirty="0"/>
              <a:t>  Refresh Epoch 1</a:t>
            </a:r>
          </a:p>
          <a:p>
            <a:r>
              <a:rPr lang="en-US" sz="800" dirty="0"/>
              <a:t>  65000</a:t>
            </a:r>
          </a:p>
          <a:p>
            <a:r>
              <a:rPr lang="en-US" sz="800" dirty="0"/>
              <a:t>    172.16.1.2 from 172.16.1.2 (1.1.1.2)</a:t>
            </a:r>
          </a:p>
          <a:p>
            <a:r>
              <a:rPr lang="en-US" sz="800" dirty="0"/>
              <a:t>      Origin incomplete, metric 1000, </a:t>
            </a:r>
            <a:r>
              <a:rPr lang="en-US" sz="800" dirty="0" err="1"/>
              <a:t>localpref</a:t>
            </a:r>
            <a:r>
              <a:rPr lang="en-US" sz="800" dirty="0"/>
              <a:t> 100, valid, external</a:t>
            </a:r>
          </a:p>
          <a:p>
            <a:r>
              <a:rPr lang="en-US" sz="800" dirty="0"/>
              <a:t>      Extended Community: SoO:0:1</a:t>
            </a:r>
          </a:p>
          <a:p>
            <a:r>
              <a:rPr lang="en-US" sz="800" dirty="0"/>
              <a:t>      </a:t>
            </a:r>
            <a:r>
              <a:rPr lang="en-US" sz="800" dirty="0" err="1"/>
              <a:t>rx</a:t>
            </a:r>
            <a:r>
              <a:rPr lang="en-US" sz="800" dirty="0"/>
              <a:t> </a:t>
            </a:r>
            <a:r>
              <a:rPr lang="en-US" sz="800" dirty="0" err="1"/>
              <a:t>pathid</a:t>
            </a:r>
            <a:r>
              <a:rPr lang="en-US" sz="800" dirty="0"/>
              <a:t>: 0, </a:t>
            </a:r>
            <a:r>
              <a:rPr lang="en-US" sz="800" dirty="0" err="1"/>
              <a:t>tx</a:t>
            </a:r>
            <a:r>
              <a:rPr lang="en-US" sz="800" dirty="0"/>
              <a:t> </a:t>
            </a:r>
            <a:r>
              <a:rPr lang="en-US" sz="800" dirty="0" err="1"/>
              <a:t>pathid</a:t>
            </a:r>
            <a:r>
              <a:rPr lang="en-US" sz="800" dirty="0"/>
              <a:t>: 0</a:t>
            </a:r>
          </a:p>
          <a:p>
            <a:r>
              <a:rPr lang="en-US" sz="800" dirty="0"/>
              <a:t>  Refresh Epoch 1</a:t>
            </a:r>
          </a:p>
          <a:p>
            <a:r>
              <a:rPr lang="en-US" sz="800" dirty="0"/>
              <a:t>  65000</a:t>
            </a:r>
          </a:p>
          <a:p>
            <a:r>
              <a:rPr lang="en-US" sz="800" dirty="0"/>
              <a:t>    172.16.1.1 from 172.16.1.1 (1.1.1.1)</a:t>
            </a:r>
          </a:p>
          <a:p>
            <a:r>
              <a:rPr lang="en-US" sz="800" dirty="0"/>
              <a:t>      Origin IGP, metric 1000, </a:t>
            </a:r>
            <a:r>
              <a:rPr lang="en-US" sz="800" dirty="0" err="1"/>
              <a:t>localpref</a:t>
            </a:r>
            <a:r>
              <a:rPr lang="en-US" sz="800" dirty="0"/>
              <a:t> 100, valid, external, best</a:t>
            </a:r>
          </a:p>
          <a:p>
            <a:r>
              <a:rPr lang="en-US" sz="800" dirty="0"/>
              <a:t>      Extended Community: SoO:0:1</a:t>
            </a:r>
          </a:p>
          <a:p>
            <a:r>
              <a:rPr lang="en-US" sz="800" dirty="0"/>
              <a:t>      </a:t>
            </a:r>
            <a:r>
              <a:rPr lang="en-US" sz="800" dirty="0" err="1"/>
              <a:t>rx</a:t>
            </a:r>
            <a:r>
              <a:rPr lang="en-US" sz="800" dirty="0"/>
              <a:t> </a:t>
            </a:r>
            <a:r>
              <a:rPr lang="en-US" sz="800" dirty="0" err="1"/>
              <a:t>pathid</a:t>
            </a:r>
            <a:r>
              <a:rPr lang="en-US" sz="800" dirty="0"/>
              <a:t>: 0, </a:t>
            </a:r>
            <a:r>
              <a:rPr lang="en-US" sz="800" dirty="0" err="1"/>
              <a:t>tx</a:t>
            </a:r>
            <a:r>
              <a:rPr lang="en-US" sz="800" dirty="0"/>
              <a:t> </a:t>
            </a:r>
            <a:r>
              <a:rPr lang="en-US" sz="800" dirty="0" err="1"/>
              <a:t>pathid</a:t>
            </a:r>
            <a:r>
              <a:rPr lang="en-US" sz="800" dirty="0"/>
              <a:t>: 0x0</a:t>
            </a:r>
          </a:p>
        </p:txBody>
      </p:sp>
    </p:spTree>
    <p:extLst>
      <p:ext uri="{BB962C8B-B14F-4D97-AF65-F5344CB8AC3E}">
        <p14:creationId xmlns:p14="http://schemas.microsoft.com/office/powerpoint/2010/main" val="29380677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42830" y="288974"/>
            <a:ext cx="9347200" cy="771712"/>
          </a:xfrm>
          <a:prstGeom prst="rect">
            <a:avLst/>
          </a:prstGeom>
        </p:spPr>
        <p:txBody>
          <a:bodyPr vert="horz" lIns="81280" tIns="40640" rIns="81280" bIns="4064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b="1" dirty="0">
                <a:solidFill>
                  <a:schemeClr val="bg1">
                    <a:lumMod val="75000"/>
                  </a:schemeClr>
                </a:solidFill>
              </a:rPr>
              <a:t>Implicit Access Control List (ACL)</a:t>
            </a:r>
            <a:endParaRPr lang="en-US" b="1" dirty="0">
              <a:solidFill>
                <a:schemeClr val="bg1">
                  <a:lumMod val="75000"/>
                </a:schemeClr>
              </a:solidFill>
            </a:endParaRPr>
          </a:p>
        </p:txBody>
      </p:sp>
      <p:sp>
        <p:nvSpPr>
          <p:cNvPr id="8" name="Rectangle 7"/>
          <p:cNvSpPr/>
          <p:nvPr/>
        </p:nvSpPr>
        <p:spPr>
          <a:xfrm>
            <a:off x="342830" y="1194883"/>
            <a:ext cx="4663123" cy="2492990"/>
          </a:xfrm>
          <a:prstGeom prst="rect">
            <a:avLst/>
          </a:prstGeom>
        </p:spPr>
        <p:txBody>
          <a:bodyPr wrap="square">
            <a:spAutoFit/>
          </a:bodyPr>
          <a:lstStyle/>
          <a:p>
            <a:r>
              <a:rPr lang="en-US" sz="1200" dirty="0"/>
              <a:t>vEdge-1(</a:t>
            </a:r>
            <a:r>
              <a:rPr lang="en-US" sz="1200" dirty="0" err="1"/>
              <a:t>config</a:t>
            </a:r>
            <a:r>
              <a:rPr lang="en-US" sz="1200" dirty="0"/>
              <a:t>-tunnel-interface)# allow-service ?</a:t>
            </a:r>
          </a:p>
          <a:p>
            <a:r>
              <a:rPr lang="en-US" sz="1200" dirty="0"/>
              <a:t>Possible completions:</a:t>
            </a:r>
          </a:p>
          <a:p>
            <a:r>
              <a:rPr lang="en-US" sz="1200" dirty="0"/>
              <a:t>  all       Allow all traffic.</a:t>
            </a:r>
          </a:p>
          <a:p>
            <a:r>
              <a:rPr lang="en-US" sz="1200" dirty="0"/>
              <a:t>  </a:t>
            </a:r>
            <a:r>
              <a:rPr lang="en-US" sz="1200" dirty="0" err="1"/>
              <a:t>bgp</a:t>
            </a:r>
            <a:r>
              <a:rPr lang="en-US" sz="1200" dirty="0"/>
              <a:t>       Allow/deny BGP</a:t>
            </a:r>
          </a:p>
          <a:p>
            <a:r>
              <a:rPr lang="en-US" sz="1200" dirty="0"/>
              <a:t>  </a:t>
            </a:r>
            <a:r>
              <a:rPr lang="en-US" sz="1200" dirty="0" err="1"/>
              <a:t>dhcp</a:t>
            </a:r>
            <a:r>
              <a:rPr lang="en-US" sz="1200" dirty="0"/>
              <a:t>      Allow/deny DHCP</a:t>
            </a:r>
          </a:p>
          <a:p>
            <a:r>
              <a:rPr lang="en-US" sz="1200" dirty="0"/>
              <a:t>  </a:t>
            </a:r>
            <a:r>
              <a:rPr lang="en-US" sz="1200" dirty="0" err="1"/>
              <a:t>dns</a:t>
            </a:r>
            <a:r>
              <a:rPr lang="en-US" sz="1200" dirty="0"/>
              <a:t>       Allow/deny DNS</a:t>
            </a:r>
          </a:p>
          <a:p>
            <a:r>
              <a:rPr lang="en-US" sz="1200" dirty="0"/>
              <a:t>  https     Allow/deny HTTPS</a:t>
            </a:r>
          </a:p>
          <a:p>
            <a:r>
              <a:rPr lang="en-US" sz="1200" dirty="0"/>
              <a:t>  </a:t>
            </a:r>
            <a:r>
              <a:rPr lang="en-US" sz="1200" dirty="0" err="1"/>
              <a:t>icmp</a:t>
            </a:r>
            <a:r>
              <a:rPr lang="en-US" sz="1200" dirty="0"/>
              <a:t>      Allow/deny ICMP</a:t>
            </a:r>
          </a:p>
          <a:p>
            <a:r>
              <a:rPr lang="en-US" sz="1200" dirty="0"/>
              <a:t>  </a:t>
            </a:r>
            <a:r>
              <a:rPr lang="en-US" sz="1200" dirty="0" err="1"/>
              <a:t>netconf</a:t>
            </a:r>
            <a:r>
              <a:rPr lang="en-US" sz="1200" dirty="0"/>
              <a:t>   Allow/deny NETCONF</a:t>
            </a:r>
          </a:p>
          <a:p>
            <a:r>
              <a:rPr lang="en-US" sz="1200" dirty="0"/>
              <a:t>  </a:t>
            </a:r>
            <a:r>
              <a:rPr lang="en-US" sz="1200" dirty="0" err="1"/>
              <a:t>ntp</a:t>
            </a:r>
            <a:r>
              <a:rPr lang="en-US" sz="1200" dirty="0"/>
              <a:t>       Allow/deny NTP</a:t>
            </a:r>
          </a:p>
          <a:p>
            <a:r>
              <a:rPr lang="en-US" sz="1200" dirty="0"/>
              <a:t>  </a:t>
            </a:r>
            <a:r>
              <a:rPr lang="en-US" sz="1200" dirty="0" err="1"/>
              <a:t>ospf</a:t>
            </a:r>
            <a:r>
              <a:rPr lang="en-US" sz="1200" dirty="0"/>
              <a:t>      Allow/deny OSPF</a:t>
            </a:r>
          </a:p>
          <a:p>
            <a:r>
              <a:rPr lang="en-US" sz="1200" dirty="0"/>
              <a:t>  </a:t>
            </a:r>
            <a:r>
              <a:rPr lang="en-US" sz="1200" dirty="0" err="1"/>
              <a:t>sshd</a:t>
            </a:r>
            <a:r>
              <a:rPr lang="en-US" sz="1200" dirty="0"/>
              <a:t>      Allow/deny SSH</a:t>
            </a:r>
          </a:p>
          <a:p>
            <a:r>
              <a:rPr lang="en-US" sz="1200" dirty="0"/>
              <a:t>  stun      Allow/deny STUN</a:t>
            </a:r>
          </a:p>
        </p:txBody>
      </p:sp>
      <p:sp>
        <p:nvSpPr>
          <p:cNvPr id="9" name="Rectangle 8"/>
          <p:cNvSpPr/>
          <p:nvPr/>
        </p:nvSpPr>
        <p:spPr>
          <a:xfrm>
            <a:off x="342830" y="3957256"/>
            <a:ext cx="4343433" cy="461665"/>
          </a:xfrm>
          <a:prstGeom prst="rect">
            <a:avLst/>
          </a:prstGeom>
        </p:spPr>
        <p:txBody>
          <a:bodyPr wrap="none">
            <a:spAutoFit/>
          </a:bodyPr>
          <a:lstStyle/>
          <a:p>
            <a:r>
              <a:rPr lang="en-US" sz="2400" dirty="0"/>
              <a:t>Why are implicit ACLs important?</a:t>
            </a:r>
          </a:p>
        </p:txBody>
      </p:sp>
      <p:pic>
        <p:nvPicPr>
          <p:cNvPr id="10" name="Picture 9"/>
          <p:cNvPicPr>
            <a:picLocks noChangeAspect="1"/>
          </p:cNvPicPr>
          <p:nvPr/>
        </p:nvPicPr>
        <p:blipFill>
          <a:blip r:embed="rId3"/>
          <a:stretch>
            <a:fillRect/>
          </a:stretch>
        </p:blipFill>
        <p:spPr>
          <a:xfrm>
            <a:off x="4825784" y="1687623"/>
            <a:ext cx="6477000" cy="4000500"/>
          </a:xfrm>
          <a:prstGeom prst="rect">
            <a:avLst/>
          </a:prstGeom>
        </p:spPr>
      </p:pic>
    </p:spTree>
    <p:extLst>
      <p:ext uri="{BB962C8B-B14F-4D97-AF65-F5344CB8AC3E}">
        <p14:creationId xmlns:p14="http://schemas.microsoft.com/office/powerpoint/2010/main" val="29686821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42830" y="288974"/>
            <a:ext cx="4043190" cy="501440"/>
          </a:xfrm>
          <a:prstGeom prst="rect">
            <a:avLst/>
          </a:prstGeom>
        </p:spPr>
        <p:txBody>
          <a:bodyPr vert="horz" lIns="81280" tIns="40640" rIns="81280" bIns="4064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chemeClr val="bg1">
                    <a:lumMod val="75000"/>
                  </a:schemeClr>
                </a:solidFill>
              </a:rPr>
              <a:t>What are Implicit ACLs?</a:t>
            </a:r>
            <a:endParaRPr lang="en-US" sz="2800" b="1" dirty="0">
              <a:solidFill>
                <a:schemeClr val="bg1">
                  <a:lumMod val="75000"/>
                </a:schemeClr>
              </a:solidFill>
            </a:endParaRPr>
          </a:p>
        </p:txBody>
      </p:sp>
      <p:sp>
        <p:nvSpPr>
          <p:cNvPr id="2" name="Rectangle 1"/>
          <p:cNvSpPr/>
          <p:nvPr/>
        </p:nvSpPr>
        <p:spPr>
          <a:xfrm>
            <a:off x="342830" y="1054413"/>
            <a:ext cx="5980478" cy="1754326"/>
          </a:xfrm>
          <a:prstGeom prst="rect">
            <a:avLst/>
          </a:prstGeom>
        </p:spPr>
        <p:txBody>
          <a:bodyPr wrap="square">
            <a:spAutoFit/>
          </a:bodyPr>
          <a:lstStyle/>
          <a:p>
            <a:r>
              <a:rPr lang="en-US" sz="1200" dirty="0"/>
              <a:t>vEdge-1# show interface | t</a:t>
            </a:r>
          </a:p>
          <a:p>
            <a:r>
              <a:rPr lang="en-US" sz="1200" dirty="0"/>
              <a:t>                                            </a:t>
            </a:r>
            <a:r>
              <a:rPr lang="en-US" sz="1200" dirty="0" smtClean="0"/>
              <a:t>	                      IF             </a:t>
            </a:r>
            <a:r>
              <a:rPr lang="en-US" sz="1200" dirty="0" err="1" smtClean="0"/>
              <a:t>IF</a:t>
            </a:r>
            <a:r>
              <a:rPr lang="en-US" sz="1200" dirty="0" smtClean="0"/>
              <a:t>           </a:t>
            </a:r>
            <a:r>
              <a:rPr lang="en-US" sz="1200" dirty="0" err="1"/>
              <a:t>IF</a:t>
            </a:r>
            <a:r>
              <a:rPr lang="en-US" sz="1200" dirty="0"/>
              <a:t>               </a:t>
            </a:r>
          </a:p>
          <a:p>
            <a:r>
              <a:rPr lang="en-US" sz="1200" dirty="0"/>
              <a:t>                    </a:t>
            </a:r>
            <a:r>
              <a:rPr lang="en-US" sz="1200" dirty="0" smtClean="0"/>
              <a:t>                  </a:t>
            </a:r>
            <a:r>
              <a:rPr lang="en-US" sz="1200" dirty="0"/>
              <a:t>AF                    </a:t>
            </a:r>
            <a:r>
              <a:rPr lang="en-US" sz="1200" dirty="0" smtClean="0"/>
              <a:t>           </a:t>
            </a:r>
            <a:r>
              <a:rPr lang="en-US" sz="1200" dirty="0"/>
              <a:t>ADMIN   OPER    TRACKER          </a:t>
            </a:r>
          </a:p>
          <a:p>
            <a:r>
              <a:rPr lang="en-US" sz="1200" dirty="0"/>
              <a:t>VPN    INTERFACE      TYPE  IP ADDRESS      STATUS  </a:t>
            </a:r>
            <a:r>
              <a:rPr lang="en-US" sz="1200" dirty="0" err="1"/>
              <a:t>STATUS</a:t>
            </a:r>
            <a:r>
              <a:rPr lang="en-US" sz="1200" dirty="0"/>
              <a:t>  </a:t>
            </a:r>
            <a:r>
              <a:rPr lang="en-US" sz="1200" dirty="0" err="1"/>
              <a:t>STATUS</a:t>
            </a:r>
            <a:r>
              <a:rPr lang="en-US" sz="1200" dirty="0"/>
              <a:t>  PORT TYPE</a:t>
            </a:r>
          </a:p>
          <a:p>
            <a:r>
              <a:rPr lang="en-US" sz="1200" dirty="0"/>
              <a:t>-----------------------------------------------------------------------------</a:t>
            </a:r>
          </a:p>
          <a:p>
            <a:r>
              <a:rPr lang="en-US" sz="1200" dirty="0"/>
              <a:t>0      ge0/0          ipv4  </a:t>
            </a:r>
            <a:r>
              <a:rPr lang="en-US" sz="1200" dirty="0" smtClean="0"/>
              <a:t> 	39.3.0.1/24      Up      </a:t>
            </a:r>
            <a:r>
              <a:rPr lang="en-US" sz="1200" dirty="0" err="1"/>
              <a:t>Up</a:t>
            </a:r>
            <a:r>
              <a:rPr lang="en-US" sz="1200" dirty="0"/>
              <a:t>      NA      transport</a:t>
            </a:r>
          </a:p>
          <a:p>
            <a:r>
              <a:rPr lang="en-US" sz="1200" dirty="0"/>
              <a:t>0      ge0/1          ipv4  </a:t>
            </a:r>
            <a:r>
              <a:rPr lang="en-US" sz="1200" dirty="0" smtClean="0"/>
              <a:t>	10.10.0.1/24    </a:t>
            </a:r>
            <a:r>
              <a:rPr lang="en-US" sz="1200" dirty="0"/>
              <a:t>Up      </a:t>
            </a:r>
            <a:r>
              <a:rPr lang="en-US" sz="1200" dirty="0" err="1"/>
              <a:t>Up</a:t>
            </a:r>
            <a:r>
              <a:rPr lang="en-US" sz="1200" dirty="0"/>
              <a:t>      NA      transport</a:t>
            </a:r>
          </a:p>
          <a:p>
            <a:r>
              <a:rPr lang="en-US" sz="1200" dirty="0"/>
              <a:t>0      ge0/6          ipv4  </a:t>
            </a:r>
            <a:r>
              <a:rPr lang="en-US" sz="1200" dirty="0" smtClean="0"/>
              <a:t>	10.0.0.12/24    </a:t>
            </a:r>
            <a:r>
              <a:rPr lang="en-US" sz="1200" dirty="0"/>
              <a:t>Up      </a:t>
            </a:r>
            <a:r>
              <a:rPr lang="en-US" sz="1200" dirty="0" err="1"/>
              <a:t>Up</a:t>
            </a:r>
            <a:r>
              <a:rPr lang="en-US" sz="1200" dirty="0"/>
              <a:t>      NA      service  </a:t>
            </a:r>
          </a:p>
          <a:p>
            <a:r>
              <a:rPr lang="en-US" sz="1200" dirty="0"/>
              <a:t>0      system         ipv4  </a:t>
            </a:r>
            <a:r>
              <a:rPr lang="en-US" sz="1200" dirty="0" smtClean="0"/>
              <a:t>	1.1.1.1/32         </a:t>
            </a:r>
            <a:r>
              <a:rPr lang="en-US" sz="1200" dirty="0"/>
              <a:t>Up      </a:t>
            </a:r>
            <a:r>
              <a:rPr lang="en-US" sz="1200" dirty="0" err="1"/>
              <a:t>Up</a:t>
            </a:r>
            <a:r>
              <a:rPr lang="en-US" sz="1200" dirty="0"/>
              <a:t>      NA      loopback </a:t>
            </a:r>
          </a:p>
        </p:txBody>
      </p:sp>
      <p:pic>
        <p:nvPicPr>
          <p:cNvPr id="3" name="Picture 2"/>
          <p:cNvPicPr>
            <a:picLocks noChangeAspect="1"/>
          </p:cNvPicPr>
          <p:nvPr/>
        </p:nvPicPr>
        <p:blipFill>
          <a:blip r:embed="rId3"/>
          <a:stretch>
            <a:fillRect/>
          </a:stretch>
        </p:blipFill>
        <p:spPr>
          <a:xfrm>
            <a:off x="342830" y="3451036"/>
            <a:ext cx="5448300" cy="2714625"/>
          </a:xfrm>
          <a:prstGeom prst="rect">
            <a:avLst/>
          </a:prstGeom>
        </p:spPr>
      </p:pic>
      <p:sp>
        <p:nvSpPr>
          <p:cNvPr id="5" name="Title 1"/>
          <p:cNvSpPr txBox="1">
            <a:spLocks/>
          </p:cNvSpPr>
          <p:nvPr/>
        </p:nvSpPr>
        <p:spPr>
          <a:xfrm>
            <a:off x="5085310" y="231825"/>
            <a:ext cx="6073469" cy="501440"/>
          </a:xfrm>
          <a:prstGeom prst="rect">
            <a:avLst/>
          </a:prstGeom>
        </p:spPr>
        <p:txBody>
          <a:bodyPr vert="horz" lIns="81280" tIns="40640" rIns="81280" bIns="40640" rtlCol="0" anchor="b">
            <a:normAutofit fontScale="8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dirty="0">
                <a:solidFill>
                  <a:schemeClr val="bg1">
                    <a:lumMod val="75000"/>
                  </a:schemeClr>
                </a:solidFill>
              </a:rPr>
              <a:t>Allowing SSH to a </a:t>
            </a:r>
            <a:r>
              <a:rPr lang="en-US" sz="2800" b="1" dirty="0" err="1">
                <a:solidFill>
                  <a:schemeClr val="bg1">
                    <a:lumMod val="75000"/>
                  </a:schemeClr>
                </a:solidFill>
              </a:rPr>
              <a:t>vEdge</a:t>
            </a:r>
            <a:r>
              <a:rPr lang="en-US" sz="2800" b="1" dirty="0">
                <a:solidFill>
                  <a:schemeClr val="bg1">
                    <a:lumMod val="75000"/>
                  </a:schemeClr>
                </a:solidFill>
              </a:rPr>
              <a:t> router from the underlay </a:t>
            </a:r>
            <a:endParaRPr lang="en-US" sz="2800" b="1" dirty="0">
              <a:solidFill>
                <a:schemeClr val="bg1">
                  <a:lumMod val="75000"/>
                </a:schemeClr>
              </a:solidFill>
            </a:endParaRPr>
          </a:p>
        </p:txBody>
      </p:sp>
    </p:spTree>
    <p:extLst>
      <p:ext uri="{BB962C8B-B14F-4D97-AF65-F5344CB8AC3E}">
        <p14:creationId xmlns:p14="http://schemas.microsoft.com/office/powerpoint/2010/main" val="14940248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8" name="Rectangle 4"/>
          <p:cNvSpPr>
            <a:spLocks noChangeArrowheads="1"/>
          </p:cNvSpPr>
          <p:nvPr/>
        </p:nvSpPr>
        <p:spPr bwMode="auto">
          <a:xfrm>
            <a:off x="1624416" y="2014779"/>
            <a:ext cx="8610600" cy="762000"/>
          </a:xfrm>
          <a:prstGeom prst="rect">
            <a:avLst/>
          </a:prstGeom>
          <a:noFill/>
          <a:ln w="9525">
            <a:noFill/>
            <a:miter lim="800000"/>
            <a:headEnd/>
            <a:tailEnd/>
          </a:ln>
          <a:effectLst/>
        </p:spPr>
        <p:txBody>
          <a:bodyPr anchor="ctr"/>
          <a:lstStyle/>
          <a:p>
            <a:pPr algn="ctr"/>
            <a:r>
              <a:rPr lang="en-US" sz="2800" b="1" dirty="0" smtClean="0">
                <a:solidFill>
                  <a:srgbClr val="FF0066"/>
                </a:solidFill>
                <a:effectLst>
                  <a:outerShdw blurRad="38100" dist="38100" dir="2700000" algn="tl">
                    <a:srgbClr val="000000"/>
                  </a:outerShdw>
                </a:effectLst>
                <a:latin typeface="Arial" pitchFamily="34" charset="0"/>
              </a:rPr>
              <a:t>Gateway Protocol</a:t>
            </a:r>
            <a:endParaRPr lang="en-US" sz="2800" b="1" dirty="0">
              <a:solidFill>
                <a:srgbClr val="FF0066"/>
              </a:solidFill>
              <a:effectLst>
                <a:outerShdw blurRad="38100" dist="38100" dir="2700000" algn="tl">
                  <a:srgbClr val="000000"/>
                </a:outerShdw>
              </a:effectLst>
              <a:latin typeface="Arial" pitchFamily="34" charset="0"/>
            </a:endParaRPr>
          </a:p>
        </p:txBody>
      </p:sp>
      <p:sp>
        <p:nvSpPr>
          <p:cNvPr id="472070" name="Oval 6"/>
          <p:cNvSpPr>
            <a:spLocks noChangeArrowheads="1"/>
          </p:cNvSpPr>
          <p:nvPr/>
        </p:nvSpPr>
        <p:spPr bwMode="auto">
          <a:xfrm>
            <a:off x="3196525" y="5295900"/>
            <a:ext cx="1219200" cy="685800"/>
          </a:xfrm>
          <a:prstGeom prst="ellipse">
            <a:avLst/>
          </a:prstGeom>
          <a:noFill/>
          <a:ln w="57150">
            <a:solidFill>
              <a:srgbClr val="FF5050"/>
            </a:solidFill>
            <a:round/>
            <a:headEnd/>
            <a:tailEnd/>
          </a:ln>
          <a:effectLst/>
        </p:spPr>
        <p:txBody>
          <a:bodyPr wrap="none" anchor="ctr"/>
          <a:lstStyle/>
          <a:p>
            <a:endParaRPr lang="en-SG"/>
          </a:p>
        </p:txBody>
      </p:sp>
      <p:sp>
        <p:nvSpPr>
          <p:cNvPr id="472071" name="Oval 7"/>
          <p:cNvSpPr>
            <a:spLocks noChangeArrowheads="1"/>
          </p:cNvSpPr>
          <p:nvPr/>
        </p:nvSpPr>
        <p:spPr bwMode="auto">
          <a:xfrm>
            <a:off x="7443707" y="5295900"/>
            <a:ext cx="1219200" cy="685800"/>
          </a:xfrm>
          <a:prstGeom prst="ellipse">
            <a:avLst/>
          </a:prstGeom>
          <a:noFill/>
          <a:ln w="57150">
            <a:solidFill>
              <a:srgbClr val="FF5050"/>
            </a:solidFill>
            <a:round/>
            <a:headEnd/>
            <a:tailEnd/>
          </a:ln>
          <a:effectLst/>
        </p:spPr>
        <p:txBody>
          <a:bodyPr wrap="none" anchor="ctr"/>
          <a:lstStyle/>
          <a:p>
            <a:endParaRPr lang="en-SG"/>
          </a:p>
        </p:txBody>
      </p:sp>
      <p:pic>
        <p:nvPicPr>
          <p:cNvPr id="1026" name="Picture 2" descr="adam-pw"/>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417017" y="2613402"/>
            <a:ext cx="3025398" cy="302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72521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2"/>
          <a:stretch>
            <a:fillRect/>
          </a:stretch>
        </p:blipFill>
        <p:spPr>
          <a:xfrm>
            <a:off x="1923333" y="715418"/>
            <a:ext cx="8212471" cy="4541284"/>
          </a:xfrm>
          <a:prstGeom prst="rect">
            <a:avLst/>
          </a:prstGeom>
          <a:ln>
            <a:solidFill>
              <a:schemeClr val="bg1"/>
            </a:solidFill>
          </a:ln>
        </p:spPr>
      </p:pic>
      <p:sp>
        <p:nvSpPr>
          <p:cNvPr id="6" name="TextBox 5"/>
          <p:cNvSpPr txBox="1"/>
          <p:nvPr/>
        </p:nvSpPr>
        <p:spPr>
          <a:xfrm>
            <a:off x="8813074" y="1375954"/>
            <a:ext cx="795411" cy="1366528"/>
          </a:xfrm>
          <a:prstGeom prst="rect">
            <a:avLst/>
          </a:prstGeom>
          <a:noFill/>
        </p:spPr>
        <p:txBody>
          <a:bodyPr wrap="none" rtlCol="0">
            <a:spAutoFit/>
          </a:bodyPr>
          <a:lstStyle/>
          <a:p>
            <a:r>
              <a:rPr lang="en-US" sz="920" dirty="0"/>
              <a:t>SGB-600</a:t>
            </a:r>
          </a:p>
          <a:p>
            <a:r>
              <a:rPr lang="en-US" sz="920" dirty="0"/>
              <a:t>BLG-700</a:t>
            </a:r>
          </a:p>
          <a:p>
            <a:r>
              <a:rPr lang="en-US" sz="920" dirty="0"/>
              <a:t>AMA-AS200</a:t>
            </a:r>
          </a:p>
          <a:p>
            <a:r>
              <a:rPr lang="en-US" sz="920" dirty="0" smtClean="0"/>
              <a:t>13.13.0.0/16</a:t>
            </a:r>
          </a:p>
          <a:p>
            <a:r>
              <a:rPr lang="en-US" sz="920" dirty="0" smtClean="0"/>
              <a:t>14.14.0.0/16</a:t>
            </a:r>
          </a:p>
          <a:p>
            <a:r>
              <a:rPr lang="en-US" sz="920" dirty="0" smtClean="0"/>
              <a:t>Cisco.net</a:t>
            </a:r>
          </a:p>
          <a:p>
            <a:r>
              <a:rPr lang="en-US" sz="920" dirty="0" smtClean="0"/>
              <a:t>L3-AS_100</a:t>
            </a:r>
          </a:p>
          <a:p>
            <a:r>
              <a:rPr lang="en-US" sz="920" dirty="0" smtClean="0"/>
              <a:t>ISP-901</a:t>
            </a:r>
          </a:p>
          <a:p>
            <a:endParaRPr lang="en-US" sz="920" dirty="0"/>
          </a:p>
        </p:txBody>
      </p:sp>
      <p:sp>
        <p:nvSpPr>
          <p:cNvPr id="8" name="TextBox 7"/>
          <p:cNvSpPr txBox="1"/>
          <p:nvPr/>
        </p:nvSpPr>
        <p:spPr>
          <a:xfrm>
            <a:off x="1979395" y="1454472"/>
            <a:ext cx="862224" cy="523220"/>
          </a:xfrm>
          <a:prstGeom prst="rect">
            <a:avLst/>
          </a:prstGeom>
          <a:noFill/>
        </p:spPr>
        <p:txBody>
          <a:bodyPr wrap="none" rtlCol="0">
            <a:spAutoFit/>
          </a:bodyPr>
          <a:lstStyle/>
          <a:p>
            <a:r>
              <a:rPr lang="en-US" sz="1400" b="1" dirty="0" smtClean="0"/>
              <a:t>Cisco.net</a:t>
            </a:r>
          </a:p>
          <a:p>
            <a:endParaRPr lang="en-US" sz="1400" b="1" dirty="0"/>
          </a:p>
        </p:txBody>
      </p:sp>
      <p:sp>
        <p:nvSpPr>
          <p:cNvPr id="9" name="TextBox 8"/>
          <p:cNvSpPr txBox="1"/>
          <p:nvPr/>
        </p:nvSpPr>
        <p:spPr>
          <a:xfrm>
            <a:off x="2506714" y="1742208"/>
            <a:ext cx="963725" cy="523220"/>
          </a:xfrm>
          <a:prstGeom prst="rect">
            <a:avLst/>
          </a:prstGeom>
          <a:noFill/>
        </p:spPr>
        <p:txBody>
          <a:bodyPr wrap="none" rtlCol="0">
            <a:spAutoFit/>
          </a:bodyPr>
          <a:lstStyle/>
          <a:p>
            <a:r>
              <a:rPr lang="en-US" sz="1400" b="1" dirty="0" smtClean="0"/>
              <a:t>L3-AS_100</a:t>
            </a:r>
          </a:p>
          <a:p>
            <a:endParaRPr lang="en-US" sz="1400" b="1" dirty="0"/>
          </a:p>
        </p:txBody>
      </p:sp>
      <p:sp>
        <p:nvSpPr>
          <p:cNvPr id="10" name="TextBox 9"/>
          <p:cNvSpPr txBox="1"/>
          <p:nvPr/>
        </p:nvSpPr>
        <p:spPr>
          <a:xfrm>
            <a:off x="2156909" y="3154021"/>
            <a:ext cx="813043" cy="523220"/>
          </a:xfrm>
          <a:prstGeom prst="rect">
            <a:avLst/>
          </a:prstGeom>
          <a:noFill/>
        </p:spPr>
        <p:txBody>
          <a:bodyPr wrap="none" rtlCol="0">
            <a:spAutoFit/>
          </a:bodyPr>
          <a:lstStyle/>
          <a:p>
            <a:r>
              <a:rPr lang="en-US" sz="1400" b="1" dirty="0" smtClean="0"/>
              <a:t>SBG-600</a:t>
            </a:r>
          </a:p>
          <a:p>
            <a:endParaRPr lang="en-US" sz="1400" b="1" dirty="0"/>
          </a:p>
        </p:txBody>
      </p:sp>
      <p:sp>
        <p:nvSpPr>
          <p:cNvPr id="11" name="TextBox 10"/>
          <p:cNvSpPr txBox="1"/>
          <p:nvPr/>
        </p:nvSpPr>
        <p:spPr>
          <a:xfrm>
            <a:off x="3985710" y="4213785"/>
            <a:ext cx="742511" cy="307777"/>
          </a:xfrm>
          <a:prstGeom prst="rect">
            <a:avLst/>
          </a:prstGeom>
          <a:noFill/>
        </p:spPr>
        <p:txBody>
          <a:bodyPr wrap="none" rtlCol="0">
            <a:spAutoFit/>
          </a:bodyPr>
          <a:lstStyle/>
          <a:p>
            <a:r>
              <a:rPr lang="en-US" sz="1400" b="1" dirty="0" smtClean="0"/>
              <a:t>ISP-901</a:t>
            </a:r>
            <a:endParaRPr lang="en-US" sz="1400" b="1" dirty="0"/>
          </a:p>
        </p:txBody>
      </p:sp>
      <p:sp>
        <p:nvSpPr>
          <p:cNvPr id="14" name="TextBox 13"/>
          <p:cNvSpPr txBox="1"/>
          <p:nvPr/>
        </p:nvSpPr>
        <p:spPr>
          <a:xfrm>
            <a:off x="2262454" y="4159194"/>
            <a:ext cx="1158330" cy="307777"/>
          </a:xfrm>
          <a:prstGeom prst="rect">
            <a:avLst/>
          </a:prstGeom>
          <a:noFill/>
        </p:spPr>
        <p:txBody>
          <a:bodyPr wrap="none" rtlCol="0">
            <a:spAutoFit/>
          </a:bodyPr>
          <a:lstStyle/>
          <a:p>
            <a:r>
              <a:rPr lang="en-US" sz="1400" b="1" dirty="0" smtClean="0"/>
              <a:t>myVPCS.com</a:t>
            </a:r>
            <a:endParaRPr lang="en-US" sz="1400" b="1" dirty="0"/>
          </a:p>
        </p:txBody>
      </p:sp>
      <p:sp>
        <p:nvSpPr>
          <p:cNvPr id="15" name="TextBox 14"/>
          <p:cNvSpPr txBox="1"/>
          <p:nvPr/>
        </p:nvSpPr>
        <p:spPr>
          <a:xfrm>
            <a:off x="4621560" y="3072256"/>
            <a:ext cx="799899" cy="523220"/>
          </a:xfrm>
          <a:prstGeom prst="rect">
            <a:avLst/>
          </a:prstGeom>
          <a:noFill/>
        </p:spPr>
        <p:txBody>
          <a:bodyPr wrap="none" rtlCol="0">
            <a:spAutoFit/>
          </a:bodyPr>
          <a:lstStyle/>
          <a:p>
            <a:r>
              <a:rPr lang="en-US" sz="1400" b="1" dirty="0" smtClean="0"/>
              <a:t>BLG-700</a:t>
            </a:r>
          </a:p>
          <a:p>
            <a:endParaRPr lang="en-US" sz="1400" b="1" dirty="0"/>
          </a:p>
        </p:txBody>
      </p:sp>
      <p:sp>
        <p:nvSpPr>
          <p:cNvPr id="16" name="TextBox 15"/>
          <p:cNvSpPr txBox="1"/>
          <p:nvPr/>
        </p:nvSpPr>
        <p:spPr>
          <a:xfrm>
            <a:off x="3815791" y="1913804"/>
            <a:ext cx="1082348" cy="523220"/>
          </a:xfrm>
          <a:prstGeom prst="rect">
            <a:avLst/>
          </a:prstGeom>
          <a:noFill/>
        </p:spPr>
        <p:txBody>
          <a:bodyPr wrap="none" rtlCol="0">
            <a:spAutoFit/>
          </a:bodyPr>
          <a:lstStyle/>
          <a:p>
            <a:r>
              <a:rPr lang="en-US" sz="1400" b="1" dirty="0" smtClean="0"/>
              <a:t>AMA-AS200</a:t>
            </a:r>
          </a:p>
          <a:p>
            <a:endParaRPr lang="en-US" sz="1400" b="1" dirty="0"/>
          </a:p>
        </p:txBody>
      </p:sp>
    </p:spTree>
    <p:extLst>
      <p:ext uri="{BB962C8B-B14F-4D97-AF65-F5344CB8AC3E}">
        <p14:creationId xmlns:p14="http://schemas.microsoft.com/office/powerpoint/2010/main" val="34366071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3547</TotalTime>
  <Words>1649</Words>
  <Application>Microsoft Office PowerPoint</Application>
  <PresentationFormat>Widescreen</PresentationFormat>
  <Paragraphs>286</Paragraphs>
  <Slides>13</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맑은 고딕</vt:lpstr>
      <vt:lpstr>Arial</vt:lpstr>
      <vt:lpstr>Calibri</vt:lpstr>
      <vt:lpstr>Calibri Light</vt:lpstr>
      <vt:lpstr>Office Theme</vt:lpstr>
      <vt:lpstr>PowerPoint Presentation</vt:lpstr>
      <vt:lpstr>What is a Centralized Control Policy?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pds</dc:creator>
  <cp:lastModifiedBy>Gde</cp:lastModifiedBy>
  <cp:revision>117</cp:revision>
  <dcterms:created xsi:type="dcterms:W3CDTF">2022-08-25T13:17:53Z</dcterms:created>
  <dcterms:modified xsi:type="dcterms:W3CDTF">2026-04-23T08:57:42Z</dcterms:modified>
</cp:coreProperties>
</file>