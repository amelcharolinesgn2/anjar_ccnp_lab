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4"/>
  </p:notesMasterIdLst>
  <p:sldIdLst>
    <p:sldId id="339" r:id="rId2"/>
    <p:sldId id="399" r:id="rId3"/>
    <p:sldId id="402" r:id="rId4"/>
    <p:sldId id="403" r:id="rId5"/>
    <p:sldId id="404" r:id="rId6"/>
    <p:sldId id="405" r:id="rId7"/>
    <p:sldId id="406" r:id="rId8"/>
    <p:sldId id="407" r:id="rId9"/>
    <p:sldId id="408" r:id="rId10"/>
    <p:sldId id="409" r:id="rId11"/>
    <p:sldId id="410" r:id="rId12"/>
    <p:sldId id="411" r:id="rId13"/>
    <p:sldId id="433" r:id="rId14"/>
    <p:sldId id="434" r:id="rId15"/>
    <p:sldId id="432" r:id="rId16"/>
    <p:sldId id="412" r:id="rId17"/>
    <p:sldId id="413" r:id="rId18"/>
    <p:sldId id="414" r:id="rId19"/>
    <p:sldId id="415" r:id="rId20"/>
    <p:sldId id="416" r:id="rId21"/>
    <p:sldId id="417" r:id="rId22"/>
    <p:sldId id="418" r:id="rId23"/>
    <p:sldId id="419" r:id="rId24"/>
    <p:sldId id="420" r:id="rId25"/>
    <p:sldId id="421" r:id="rId26"/>
    <p:sldId id="422" r:id="rId27"/>
    <p:sldId id="423" r:id="rId28"/>
    <p:sldId id="424" r:id="rId29"/>
    <p:sldId id="425" r:id="rId30"/>
    <p:sldId id="426" r:id="rId31"/>
    <p:sldId id="427" r:id="rId32"/>
    <p:sldId id="428" r:id="rId33"/>
    <p:sldId id="429" r:id="rId34"/>
    <p:sldId id="430" r:id="rId35"/>
    <p:sldId id="431" r:id="rId36"/>
    <p:sldId id="401" r:id="rId37"/>
    <p:sldId id="400" r:id="rId38"/>
    <p:sldId id="395" r:id="rId39"/>
    <p:sldId id="398" r:id="rId40"/>
    <p:sldId id="397" r:id="rId41"/>
    <p:sldId id="396" r:id="rId42"/>
    <p:sldId id="394" r:id="rId43"/>
    <p:sldId id="393" r:id="rId44"/>
    <p:sldId id="392" r:id="rId45"/>
    <p:sldId id="387" r:id="rId46"/>
    <p:sldId id="388" r:id="rId47"/>
    <p:sldId id="389" r:id="rId48"/>
    <p:sldId id="390" r:id="rId49"/>
    <p:sldId id="391" r:id="rId50"/>
    <p:sldId id="385" r:id="rId51"/>
    <p:sldId id="386" r:id="rId52"/>
    <p:sldId id="384"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B2A5"/>
    <a:srgbClr val="00D9C7"/>
    <a:srgbClr val="73FDD6"/>
    <a:srgbClr val="FF40FF"/>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p:scale>
          <a:sx n="60" d="100"/>
          <a:sy n="60" d="100"/>
        </p:scale>
        <p:origin x="390"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https://www.gns3.com/marketplace/labs</a:t>
            </a:r>
          </a:p>
          <a:p>
            <a:endParaRPr lang="en-US" dirty="0" smtClean="0"/>
          </a:p>
          <a:p>
            <a:r>
              <a:rPr lang="en-US" dirty="0" smtClean="0"/>
              <a:t>https</a:t>
            </a:r>
            <a:r>
              <a:rPr lang="en-US" dirty="0" smtClean="0"/>
              <a:t>://github.com/Rakibul73/Cisco_Network_Routing_Switching</a:t>
            </a:r>
          </a:p>
          <a:p>
            <a:r>
              <a:rPr lang="en-US" dirty="0" smtClean="0"/>
              <a:t>https://github.com/Rakibul73/Cisco_Network_Routing_Switching/tree/main/Problem_Lab_BGP</a:t>
            </a:r>
          </a:p>
          <a:p>
            <a:r>
              <a:rPr lang="en-US" dirty="0" smtClean="0"/>
              <a:t>https://networklessons.com/labs/bgp-professional-lab-1#BGP_Prefer_eBGP_over_iBGP</a:t>
            </a:r>
          </a:p>
          <a:p>
            <a:endParaRPr lang="en-US" dirty="0" smtClean="0"/>
          </a:p>
          <a:p>
            <a:endParaRPr lang="en-US" dirty="0" smtClean="0"/>
          </a:p>
          <a:p>
            <a:r>
              <a:rPr lang="en-US" dirty="0" smtClean="0"/>
              <a:t>https://github.com/Rakibul73/whiteboard-app</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26982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https://gns3.com/step-by-step-setup-wireshark-gns3-integration</a:t>
            </a:r>
          </a:p>
          <a:p>
            <a:endParaRPr lang="en-US" dirty="0" smtClean="0"/>
          </a:p>
          <a:p>
            <a:endParaRPr lang="en-US" dirty="0" smtClean="0"/>
          </a:p>
          <a:p>
            <a:r>
              <a:rPr lang="en-US" dirty="0" smtClean="0"/>
              <a:t>https://github.com/thomarite</a:t>
            </a:r>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2</a:t>
            </a:fld>
            <a:endParaRPr lang="en-US"/>
          </a:p>
        </p:txBody>
      </p:sp>
    </p:spTree>
    <p:extLst>
      <p:ext uri="{BB962C8B-B14F-4D97-AF65-F5344CB8AC3E}">
        <p14:creationId xmlns:p14="http://schemas.microsoft.com/office/powerpoint/2010/main" val="4105706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https://github.com/lukasdula/lab-08-GNS3-wireshark-protocol-monitoring/blob/main/02-packet-capture-and-protocol-observation.md</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21</a:t>
            </a:fld>
            <a:endParaRPr lang="en-US"/>
          </a:p>
        </p:txBody>
      </p:sp>
    </p:spTree>
    <p:extLst>
      <p:ext uri="{BB962C8B-B14F-4D97-AF65-F5344CB8AC3E}">
        <p14:creationId xmlns:p14="http://schemas.microsoft.com/office/powerpoint/2010/main" val="3595933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36</a:t>
            </a:fld>
            <a:endParaRPr lang="en-US"/>
          </a:p>
        </p:txBody>
      </p:sp>
    </p:spTree>
    <p:extLst>
      <p:ext uri="{BB962C8B-B14F-4D97-AF65-F5344CB8AC3E}">
        <p14:creationId xmlns:p14="http://schemas.microsoft.com/office/powerpoint/2010/main" val="2463688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37</a:t>
            </a:fld>
            <a:endParaRPr lang="en-US"/>
          </a:p>
        </p:txBody>
      </p:sp>
    </p:spTree>
    <p:extLst>
      <p:ext uri="{BB962C8B-B14F-4D97-AF65-F5344CB8AC3E}">
        <p14:creationId xmlns:p14="http://schemas.microsoft.com/office/powerpoint/2010/main" val="403738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38</a:t>
            </a:fld>
            <a:endParaRPr lang="en-US"/>
          </a:p>
        </p:txBody>
      </p:sp>
    </p:spTree>
    <p:extLst>
      <p:ext uri="{BB962C8B-B14F-4D97-AF65-F5344CB8AC3E}">
        <p14:creationId xmlns:p14="http://schemas.microsoft.com/office/powerpoint/2010/main" val="39363112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http://wpage.unina.it/rcanonic/didattica/gns3-labs/lab2/</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40</a:t>
            </a:fld>
            <a:endParaRPr lang="en-US"/>
          </a:p>
        </p:txBody>
      </p:sp>
    </p:spTree>
    <p:extLst>
      <p:ext uri="{BB962C8B-B14F-4D97-AF65-F5344CB8AC3E}">
        <p14:creationId xmlns:p14="http://schemas.microsoft.com/office/powerpoint/2010/main" val="22563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https://www.slideserve.com/hatten/lecture-7-l2-mpls-vpn-vpws-h-vpls-powerpoint-ppt-presentation</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41</a:t>
            </a:fld>
            <a:endParaRPr lang="en-US"/>
          </a:p>
        </p:txBody>
      </p:sp>
    </p:spTree>
    <p:extLst>
      <p:ext uri="{BB962C8B-B14F-4D97-AF65-F5344CB8AC3E}">
        <p14:creationId xmlns:p14="http://schemas.microsoft.com/office/powerpoint/2010/main" val="41995190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http://wpage.unina.it/rcanonic/didattica/gns3-labs/lab16/</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43</a:t>
            </a:fld>
            <a:endParaRPr lang="en-US"/>
          </a:p>
        </p:txBody>
      </p:sp>
    </p:spTree>
    <p:extLst>
      <p:ext uri="{BB962C8B-B14F-4D97-AF65-F5344CB8AC3E}">
        <p14:creationId xmlns:p14="http://schemas.microsoft.com/office/powerpoint/2010/main" val="1859360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https://www.quisted.net/index.php/2018/04/30/lab-viii-mpls-mp-bgp-eompls/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52</a:t>
            </a:fld>
            <a:endParaRPr lang="en-US"/>
          </a:p>
        </p:txBody>
      </p:sp>
    </p:spTree>
    <p:extLst>
      <p:ext uri="{BB962C8B-B14F-4D97-AF65-F5344CB8AC3E}">
        <p14:creationId xmlns:p14="http://schemas.microsoft.com/office/powerpoint/2010/main" val="3530619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4/23/2026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gif"/><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450600" y="2921357"/>
            <a:ext cx="9347200" cy="771712"/>
          </a:xfrm>
          <a:prstGeom prst="rect">
            <a:avLst/>
          </a:prstGeom>
        </p:spPr>
        <p:txBody>
          <a:bodyPr vert="horz" lIns="81280" tIns="40640" rIns="81280" bIns="4064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BGP </a:t>
            </a:r>
            <a:r>
              <a:rPr lang="en-US" b="1" dirty="0" smtClean="0">
                <a:solidFill>
                  <a:schemeClr val="bg1">
                    <a:lumMod val="75000"/>
                  </a:schemeClr>
                </a:solidFill>
              </a:rPr>
              <a:t>message with </a:t>
            </a:r>
            <a:r>
              <a:rPr lang="en-US" b="1" dirty="0">
                <a:solidFill>
                  <a:schemeClr val="bg1">
                    <a:lumMod val="75000"/>
                  </a:schemeClr>
                </a:solidFill>
              </a:rPr>
              <a:t>Wireshark </a:t>
            </a:r>
            <a:r>
              <a:rPr lang="en-US" b="1" dirty="0" smtClean="0">
                <a:solidFill>
                  <a:schemeClr val="bg1">
                    <a:lumMod val="75000"/>
                  </a:schemeClr>
                </a:solidFill>
              </a:rPr>
              <a:t>on </a:t>
            </a:r>
            <a:r>
              <a:rPr lang="en-US" b="1" dirty="0">
                <a:solidFill>
                  <a:schemeClr val="bg1">
                    <a:lumMod val="75000"/>
                  </a:schemeClr>
                </a:solidFill>
              </a:rPr>
              <a:t>GNS3</a:t>
            </a:r>
          </a:p>
        </p:txBody>
      </p:sp>
      <p:sp>
        <p:nvSpPr>
          <p:cNvPr id="26" name="Rectangle 25"/>
          <p:cNvSpPr/>
          <p:nvPr/>
        </p:nvSpPr>
        <p:spPr>
          <a:xfrm>
            <a:off x="9463375" y="5949106"/>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252570" y="5810607"/>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537735" y="6087606"/>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8945775" y="6226105"/>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441267" y="6341521"/>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252935" y="6472372"/>
            <a:ext cx="3775310" cy="215444"/>
          </a:xfrm>
          <a:prstGeom prst="rect">
            <a:avLst/>
          </a:prstGeom>
        </p:spPr>
        <p:txBody>
          <a:bodyPr wrap="square">
            <a:spAutoFit/>
          </a:bodyPr>
          <a:lstStyle/>
          <a:p>
            <a:r>
              <a:rPr lang="en-US" sz="800" dirty="0"/>
              <a:t>https://github.com/amelcharolinesgn2/Gyroscope-Sensor-Data-Accelerometer</a:t>
            </a:r>
          </a:p>
        </p:txBody>
      </p:sp>
      <p:sp>
        <p:nvSpPr>
          <p:cNvPr id="25" name="Title 1"/>
          <p:cNvSpPr txBox="1">
            <a:spLocks/>
          </p:cNvSpPr>
          <p:nvPr/>
        </p:nvSpPr>
        <p:spPr>
          <a:xfrm>
            <a:off x="2471382" y="3406089"/>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smtClean="0">
                <a:solidFill>
                  <a:schemeClr val="bg1">
                    <a:lumMod val="75000"/>
                  </a:schemeClr>
                </a:solidFill>
              </a:rPr>
              <a:t>Border Gateway protocol (BGP)</a:t>
            </a:r>
            <a:endParaRPr lang="en-US" sz="1600" b="1" dirty="0">
              <a:solidFill>
                <a:schemeClr val="bg1">
                  <a:lumMod val="75000"/>
                </a:schemeClr>
              </a:solidFill>
            </a:endParaRPr>
          </a:p>
        </p:txBody>
      </p:sp>
      <p:sp>
        <p:nvSpPr>
          <p:cNvPr id="35" name="Title 1"/>
          <p:cNvSpPr txBox="1">
            <a:spLocks/>
          </p:cNvSpPr>
          <p:nvPr/>
        </p:nvSpPr>
        <p:spPr>
          <a:xfrm>
            <a:off x="2450600" y="216426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VPN &amp;</a:t>
            </a:r>
            <a:endParaRPr lang="en-US" b="1" dirty="0">
              <a:solidFill>
                <a:schemeClr val="bg1">
                  <a:lumMod val="75000"/>
                </a:schemeClr>
              </a:solidFill>
            </a:endParaRPr>
          </a:p>
        </p:txBody>
      </p:sp>
      <p:sp>
        <p:nvSpPr>
          <p:cNvPr id="36" name="Title 1"/>
          <p:cNvSpPr txBox="1">
            <a:spLocks/>
          </p:cNvSpPr>
          <p:nvPr/>
        </p:nvSpPr>
        <p:spPr>
          <a:xfrm>
            <a:off x="2492164" y="248744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smtClean="0">
                <a:solidFill>
                  <a:schemeClr val="bg1">
                    <a:lumMod val="75000"/>
                  </a:schemeClr>
                </a:solidFill>
              </a:rPr>
              <a:t>Border Gateway protocol (BGP)</a:t>
            </a:r>
            <a:endParaRPr lang="en-US" sz="1600" b="1" dirty="0">
              <a:solidFill>
                <a:schemeClr val="bg1">
                  <a:lumMod val="75000"/>
                </a:schemeClr>
              </a:solidFill>
            </a:endParaRPr>
          </a:p>
        </p:txBody>
      </p:sp>
      <p:sp>
        <p:nvSpPr>
          <p:cNvPr id="37" name="Title 1"/>
          <p:cNvSpPr txBox="1">
            <a:spLocks/>
          </p:cNvSpPr>
          <p:nvPr/>
        </p:nvSpPr>
        <p:spPr>
          <a:xfrm>
            <a:off x="2433614" y="1448615"/>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Wireshark on GNS3</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bg1">
                    <a:lumMod val="75000"/>
                  </a:schemeClr>
                </a:solidFill>
              </a:rPr>
              <a:t>Wireshark on GNS3</a:t>
            </a:r>
            <a:r>
              <a:rPr lang="en-US" dirty="0"/>
              <a:t/>
            </a:r>
            <a:br>
              <a:rPr lang="en-US" dirty="0"/>
            </a:br>
            <a:r>
              <a:rPr lang="en-US" sz="2700" dirty="0"/>
              <a:t>Step-by-Step Setup: Wireshark + GNS3 Integration</a:t>
            </a:r>
          </a:p>
        </p:txBody>
      </p:sp>
      <p:sp>
        <p:nvSpPr>
          <p:cNvPr id="4" name="Rectangle 3"/>
          <p:cNvSpPr/>
          <p:nvPr/>
        </p:nvSpPr>
        <p:spPr>
          <a:xfrm>
            <a:off x="1467172" y="1690688"/>
            <a:ext cx="7351363" cy="369332"/>
          </a:xfrm>
          <a:prstGeom prst="rect">
            <a:avLst/>
          </a:prstGeom>
        </p:spPr>
        <p:txBody>
          <a:bodyPr wrap="square">
            <a:spAutoFit/>
          </a:bodyPr>
          <a:lstStyle/>
          <a:p>
            <a:r>
              <a:rPr lang="en-US" dirty="0"/>
              <a:t>https://gns3.com/step-by-step-setup-wireshark-gns3-integration</a:t>
            </a:r>
          </a:p>
        </p:txBody>
      </p:sp>
      <p:sp>
        <p:nvSpPr>
          <p:cNvPr id="5" name="Rectangle 4"/>
          <p:cNvSpPr/>
          <p:nvPr/>
        </p:nvSpPr>
        <p:spPr>
          <a:xfrm>
            <a:off x="583770" y="2060020"/>
            <a:ext cx="6096000" cy="4647426"/>
          </a:xfrm>
          <a:prstGeom prst="rect">
            <a:avLst/>
          </a:prstGeom>
        </p:spPr>
        <p:txBody>
          <a:bodyPr>
            <a:spAutoFit/>
          </a:bodyPr>
          <a:lstStyle/>
          <a:p>
            <a:r>
              <a:rPr lang="en-US" sz="800" dirty="0" smtClean="0"/>
              <a:t>1. Install </a:t>
            </a:r>
            <a:r>
              <a:rPr lang="en-US" sz="800" dirty="0"/>
              <a:t>GNS3 and </a:t>
            </a:r>
            <a:r>
              <a:rPr lang="en-US" sz="800" dirty="0" smtClean="0"/>
              <a:t>Wireshark</a:t>
            </a:r>
          </a:p>
          <a:p>
            <a:r>
              <a:rPr lang="en-US" sz="800" dirty="0"/>
              <a:t> </a:t>
            </a:r>
            <a:r>
              <a:rPr lang="en-US" sz="800" dirty="0" smtClean="0"/>
              <a:t>          Install </a:t>
            </a:r>
            <a:r>
              <a:rPr lang="en-US" sz="800" dirty="0"/>
              <a:t>GNS3 All-in-One for easy </a:t>
            </a:r>
            <a:r>
              <a:rPr lang="en-US" sz="800" dirty="0" smtClean="0"/>
              <a:t>setup.</a:t>
            </a:r>
          </a:p>
          <a:p>
            <a:r>
              <a:rPr lang="en-US" sz="800" dirty="0"/>
              <a:t> </a:t>
            </a:r>
            <a:r>
              <a:rPr lang="en-US" sz="800" dirty="0" smtClean="0"/>
              <a:t>          During </a:t>
            </a:r>
            <a:r>
              <a:rPr lang="en-US" sz="800" dirty="0"/>
              <a:t>Wireshark installation, make sure to check the option to install </a:t>
            </a:r>
            <a:r>
              <a:rPr lang="en-US" sz="800" dirty="0" err="1"/>
              <a:t>Npcap</a:t>
            </a:r>
            <a:r>
              <a:rPr lang="en-US" sz="800" dirty="0"/>
              <a:t> (required for capturing packets).</a:t>
            </a:r>
          </a:p>
          <a:p>
            <a:endParaRPr lang="en-US" sz="800" dirty="0"/>
          </a:p>
          <a:p>
            <a:r>
              <a:rPr lang="en-US" sz="800" dirty="0"/>
              <a:t>2. Configure GNS3 to Use Wireshark</a:t>
            </a:r>
          </a:p>
          <a:p>
            <a:r>
              <a:rPr lang="en-US" sz="800" dirty="0"/>
              <a:t> </a:t>
            </a:r>
            <a:r>
              <a:rPr lang="en-US" sz="800" dirty="0" smtClean="0"/>
              <a:t>    Open </a:t>
            </a:r>
            <a:r>
              <a:rPr lang="en-US" sz="800" dirty="0"/>
              <a:t>GNS3 → Edit → Preferences</a:t>
            </a:r>
          </a:p>
          <a:p>
            <a:r>
              <a:rPr lang="en-US" sz="800" dirty="0" smtClean="0"/>
              <a:t>     A</a:t>
            </a:r>
            <a:r>
              <a:rPr lang="en-US" sz="800" dirty="0"/>
              <a:t>. Configure Wireshark Path</a:t>
            </a:r>
          </a:p>
          <a:p>
            <a:pPr marL="685800" lvl="1" indent="-228600">
              <a:buFont typeface="+mj-lt"/>
              <a:buAutoNum type="alphaLcParenR"/>
            </a:pPr>
            <a:r>
              <a:rPr lang="en-US" sz="800" dirty="0" smtClean="0"/>
              <a:t>Go </a:t>
            </a:r>
            <a:r>
              <a:rPr lang="en-US" sz="800" dirty="0"/>
              <a:t>to: Edit → Preferences → Packet Capture</a:t>
            </a:r>
          </a:p>
          <a:p>
            <a:pPr marL="685800" lvl="1" indent="-228600">
              <a:buFont typeface="+mj-lt"/>
              <a:buAutoNum type="alphaLcParenR"/>
            </a:pPr>
            <a:r>
              <a:rPr lang="en-US" sz="800" dirty="0" smtClean="0"/>
              <a:t>Under </a:t>
            </a:r>
            <a:r>
              <a:rPr lang="en-US" sz="800" dirty="0"/>
              <a:t>"Path to Wireshark executable", click "Browse"</a:t>
            </a:r>
          </a:p>
          <a:p>
            <a:pPr marL="685800" lvl="1" indent="-228600">
              <a:buFont typeface="+mj-lt"/>
              <a:buAutoNum type="alphaLcParenR"/>
            </a:pPr>
            <a:r>
              <a:rPr lang="en-US" sz="800" dirty="0" smtClean="0"/>
              <a:t>Navigate </a:t>
            </a:r>
            <a:r>
              <a:rPr lang="en-US" sz="800" dirty="0"/>
              <a:t>to your Wireshark installation folder and select:</a:t>
            </a:r>
          </a:p>
          <a:p>
            <a:pPr marL="1085850" lvl="2" indent="-171450">
              <a:buFont typeface="Wingdings" panose="05000000000000000000" pitchFamily="2" charset="2"/>
              <a:buChar char="ü"/>
            </a:pPr>
            <a:r>
              <a:rPr lang="en-US" sz="800" dirty="0" smtClean="0"/>
              <a:t>On </a:t>
            </a:r>
            <a:r>
              <a:rPr lang="en-US" sz="800" dirty="0"/>
              <a:t>Windows: wireshark.exe</a:t>
            </a:r>
          </a:p>
          <a:p>
            <a:pPr marL="1085850" lvl="2" indent="-171450">
              <a:buFont typeface="Wingdings" panose="05000000000000000000" pitchFamily="2" charset="2"/>
              <a:buChar char="ü"/>
            </a:pPr>
            <a:r>
              <a:rPr lang="en-US" sz="800" dirty="0"/>
              <a:t>Default path: C:\Program Files\Wireshark\wireshark.exe</a:t>
            </a:r>
          </a:p>
          <a:p>
            <a:pPr marL="1085850" lvl="2" indent="-171450">
              <a:buFont typeface="Wingdings" panose="05000000000000000000" pitchFamily="2" charset="2"/>
              <a:buChar char="ü"/>
            </a:pPr>
            <a:r>
              <a:rPr lang="en-US" sz="800" dirty="0"/>
              <a:t>On </a:t>
            </a:r>
            <a:r>
              <a:rPr lang="en-US" sz="800" dirty="0" err="1"/>
              <a:t>macOS</a:t>
            </a:r>
            <a:r>
              <a:rPr lang="en-US" sz="800" dirty="0"/>
              <a:t>/Linux: /</a:t>
            </a:r>
            <a:r>
              <a:rPr lang="en-US" sz="800" dirty="0" err="1"/>
              <a:t>usr</a:t>
            </a:r>
            <a:r>
              <a:rPr lang="en-US" sz="800" dirty="0"/>
              <a:t>/bin/</a:t>
            </a:r>
            <a:r>
              <a:rPr lang="en-US" sz="800" dirty="0" err="1"/>
              <a:t>wireshark</a:t>
            </a:r>
            <a:r>
              <a:rPr lang="en-US" sz="800" dirty="0"/>
              <a:t> (ensure it's installed via </a:t>
            </a:r>
            <a:r>
              <a:rPr lang="en-US" sz="800" dirty="0" smtClean="0"/>
              <a:t>terminal)</a:t>
            </a:r>
          </a:p>
          <a:p>
            <a:r>
              <a:rPr lang="en-US" sz="800" dirty="0" smtClean="0"/>
              <a:t>                     d) Click Apply and OK.</a:t>
            </a:r>
          </a:p>
          <a:p>
            <a:r>
              <a:rPr lang="en-US" sz="800" dirty="0" smtClean="0"/>
              <a:t>3</a:t>
            </a:r>
            <a:r>
              <a:rPr lang="en-US" sz="800" dirty="0"/>
              <a:t>. Create a Basic Topology in GNS3</a:t>
            </a:r>
          </a:p>
          <a:p>
            <a:pPr marL="685800" lvl="1" indent="-228600">
              <a:buFont typeface="+mj-lt"/>
              <a:buAutoNum type="alphaLcParenR"/>
            </a:pPr>
            <a:r>
              <a:rPr lang="en-US" sz="800" dirty="0" smtClean="0"/>
              <a:t>Drag </a:t>
            </a:r>
            <a:r>
              <a:rPr lang="en-US" sz="800" dirty="0"/>
              <a:t>and drop a router or switch into the workspace.</a:t>
            </a:r>
          </a:p>
          <a:p>
            <a:pPr marL="685800" lvl="1" indent="-228600">
              <a:buFont typeface="+mj-lt"/>
              <a:buAutoNum type="alphaLcParenR"/>
            </a:pPr>
            <a:r>
              <a:rPr lang="en-US" sz="800" dirty="0"/>
              <a:t>Connect devices using appropriate links (e.g., Ethernet).</a:t>
            </a:r>
          </a:p>
          <a:p>
            <a:pPr marL="685800" lvl="1" indent="-228600">
              <a:buFont typeface="+mj-lt"/>
              <a:buAutoNum type="alphaLcParenR"/>
            </a:pPr>
            <a:r>
              <a:rPr lang="en-US" sz="800" dirty="0"/>
              <a:t>Start all devices and wait until they boot up.</a:t>
            </a:r>
          </a:p>
          <a:p>
            <a:endParaRPr lang="en-US" sz="800" dirty="0"/>
          </a:p>
          <a:p>
            <a:r>
              <a:rPr lang="en-US" sz="800" dirty="0"/>
              <a:t>4. Start Packet Captures Using Wireshark</a:t>
            </a:r>
          </a:p>
          <a:p>
            <a:r>
              <a:rPr lang="en-US" sz="800" dirty="0" smtClean="0"/>
              <a:t>     Option </a:t>
            </a:r>
            <a:r>
              <a:rPr lang="en-US" sz="800" dirty="0"/>
              <a:t>1: Capture from Link Between Devices</a:t>
            </a:r>
          </a:p>
          <a:p>
            <a:pPr marL="685800" lvl="1" indent="-228600">
              <a:buFont typeface="+mj-lt"/>
              <a:buAutoNum type="alphaLcParenR"/>
            </a:pPr>
            <a:r>
              <a:rPr lang="en-US" sz="800" dirty="0" smtClean="0"/>
              <a:t>Right-click </a:t>
            </a:r>
            <a:r>
              <a:rPr lang="en-US" sz="800" dirty="0"/>
              <a:t>on the link between two devices.</a:t>
            </a:r>
          </a:p>
          <a:p>
            <a:pPr marL="685800" lvl="1" indent="-228600">
              <a:buFont typeface="+mj-lt"/>
              <a:buAutoNum type="alphaLcParenR"/>
            </a:pPr>
            <a:r>
              <a:rPr lang="en-US" sz="800" dirty="0"/>
              <a:t>Select "Capture" → Choose the interface if prompted.</a:t>
            </a:r>
          </a:p>
          <a:p>
            <a:pPr marL="685800" lvl="1" indent="-228600">
              <a:buFont typeface="+mj-lt"/>
              <a:buAutoNum type="alphaLcParenR"/>
            </a:pPr>
            <a:r>
              <a:rPr lang="en-US" sz="800" dirty="0"/>
              <a:t>GNS3 will start capturing traffic and automatically open Wireshark with live data.</a:t>
            </a:r>
          </a:p>
          <a:p>
            <a:endParaRPr lang="en-US" sz="800" dirty="0"/>
          </a:p>
          <a:p>
            <a:r>
              <a:rPr lang="en-US" sz="800" dirty="0" smtClean="0"/>
              <a:t>     Option </a:t>
            </a:r>
            <a:r>
              <a:rPr lang="en-US" sz="800" dirty="0"/>
              <a:t>2: Capture from Device Interface</a:t>
            </a:r>
          </a:p>
          <a:p>
            <a:pPr marL="685800" lvl="1" indent="-228600">
              <a:buFont typeface="+mj-lt"/>
              <a:buAutoNum type="alphaLcParenR"/>
            </a:pPr>
            <a:r>
              <a:rPr lang="en-US" sz="800" dirty="0" smtClean="0"/>
              <a:t>Right-click </a:t>
            </a:r>
            <a:r>
              <a:rPr lang="en-US" sz="800" dirty="0"/>
              <a:t>the device → Capture → Select interface (e.g., Ethernet0/0)</a:t>
            </a:r>
          </a:p>
          <a:p>
            <a:pPr marL="685800" lvl="1" indent="-228600">
              <a:buFont typeface="+mj-lt"/>
              <a:buAutoNum type="alphaLcParenR"/>
            </a:pPr>
            <a:r>
              <a:rPr lang="en-US" sz="800" dirty="0"/>
              <a:t>GNS3 opens Wireshark and starts capturing packets on that interface.</a:t>
            </a:r>
          </a:p>
          <a:p>
            <a:r>
              <a:rPr lang="en-US" sz="800" dirty="0" smtClean="0"/>
              <a:t>5</a:t>
            </a:r>
            <a:r>
              <a:rPr lang="en-US" sz="800" dirty="0"/>
              <a:t>. Using Wireshark for Analysis</a:t>
            </a:r>
          </a:p>
          <a:p>
            <a:r>
              <a:rPr lang="en-US" sz="800" dirty="0" smtClean="0"/>
              <a:t>       Once </a:t>
            </a:r>
            <a:r>
              <a:rPr lang="en-US" sz="800" dirty="0"/>
              <a:t>Wireshark opens:</a:t>
            </a:r>
          </a:p>
          <a:p>
            <a:r>
              <a:rPr lang="en-US" sz="800" dirty="0" smtClean="0"/>
              <a:t>You </a:t>
            </a:r>
            <a:r>
              <a:rPr lang="en-US" sz="800" dirty="0"/>
              <a:t>can apply filters like:</a:t>
            </a:r>
          </a:p>
          <a:p>
            <a:pPr lvl="1"/>
            <a:r>
              <a:rPr lang="en-US" sz="800" dirty="0" err="1"/>
              <a:t>arp</a:t>
            </a:r>
            <a:endParaRPr lang="en-US" sz="800" dirty="0"/>
          </a:p>
          <a:p>
            <a:pPr lvl="1"/>
            <a:r>
              <a:rPr lang="en-US" sz="800" dirty="0" err="1"/>
              <a:t>icmp</a:t>
            </a:r>
            <a:endParaRPr lang="en-US" sz="800" dirty="0"/>
          </a:p>
          <a:p>
            <a:pPr lvl="1"/>
            <a:r>
              <a:rPr lang="en-US" sz="800" dirty="0" err="1"/>
              <a:t>ip.addr</a:t>
            </a:r>
            <a:r>
              <a:rPr lang="en-US" sz="800" dirty="0"/>
              <a:t> == 192.168.x.x</a:t>
            </a:r>
          </a:p>
          <a:p>
            <a:r>
              <a:rPr lang="en-US" sz="800" dirty="0"/>
              <a:t>Analyze protocols, headers, conversations, and more.</a:t>
            </a:r>
          </a:p>
          <a:p>
            <a:endParaRPr lang="en-US" sz="800" dirty="0"/>
          </a:p>
          <a:p>
            <a:r>
              <a:rPr lang="en-US" sz="800" dirty="0"/>
              <a:t>🔁 Troubleshooting Tips</a:t>
            </a:r>
          </a:p>
        </p:txBody>
      </p:sp>
      <p:graphicFrame>
        <p:nvGraphicFramePr>
          <p:cNvPr id="6" name="Table 5"/>
          <p:cNvGraphicFramePr>
            <a:graphicFrameLocks noGrp="1"/>
          </p:cNvGraphicFramePr>
          <p:nvPr>
            <p:extLst>
              <p:ext uri="{D42A27DB-BD31-4B8C-83A1-F6EECF244321}">
                <p14:modId xmlns:p14="http://schemas.microsoft.com/office/powerpoint/2010/main" val="1735545365"/>
              </p:ext>
            </p:extLst>
          </p:nvPr>
        </p:nvGraphicFramePr>
        <p:xfrm>
          <a:off x="5772150" y="2966413"/>
          <a:ext cx="5381626" cy="1402080"/>
        </p:xfrm>
        <a:graphic>
          <a:graphicData uri="http://schemas.openxmlformats.org/drawingml/2006/table">
            <a:tbl>
              <a:tblPr/>
              <a:tblGrid>
                <a:gridCol w="2690813">
                  <a:extLst>
                    <a:ext uri="{9D8B030D-6E8A-4147-A177-3AD203B41FA5}">
                      <a16:colId xmlns:a16="http://schemas.microsoft.com/office/drawing/2014/main" val="3527524342"/>
                    </a:ext>
                  </a:extLst>
                </a:gridCol>
                <a:gridCol w="2690813">
                  <a:extLst>
                    <a:ext uri="{9D8B030D-6E8A-4147-A177-3AD203B41FA5}">
                      <a16:colId xmlns:a16="http://schemas.microsoft.com/office/drawing/2014/main" val="403164763"/>
                    </a:ext>
                  </a:extLst>
                </a:gridCol>
              </a:tblGrid>
              <a:tr h="0">
                <a:tc>
                  <a:txBody>
                    <a:bodyPr/>
                    <a:lstStyle/>
                    <a:p>
                      <a:pPr algn="l" fontAlgn="base"/>
                      <a:r>
                        <a:rPr lang="en-US" sz="800">
                          <a:effectLst/>
                        </a:rPr>
                        <a:t>Wireshark doesn't open</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ase"/>
                      <a:r>
                        <a:rPr lang="en-US" sz="800">
                          <a:effectLst/>
                        </a:rPr>
                        <a:t>Recheck Wireshark path in preferences</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3969361003"/>
                  </a:ext>
                </a:extLst>
              </a:tr>
              <a:tr h="0">
                <a:tc>
                  <a:txBody>
                    <a:bodyPr/>
                    <a:lstStyle/>
                    <a:p>
                      <a:pPr algn="l" fontAlgn="base"/>
                      <a:r>
                        <a:rPr lang="en-US" sz="800" dirty="0">
                          <a:effectLst/>
                        </a:rPr>
                        <a:t>No </a:t>
                      </a:r>
                      <a:r>
                        <a:rPr lang="en-US" sz="800" dirty="0" smtClean="0">
                          <a:effectLst/>
                        </a:rPr>
                        <a:t>capture </a:t>
                      </a:r>
                      <a:r>
                        <a:rPr lang="en-US" sz="800" dirty="0">
                          <a:effectLst/>
                        </a:rPr>
                        <a:t>interfaces shown</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ase"/>
                      <a:r>
                        <a:rPr lang="en-US" sz="800">
                          <a:effectLst/>
                        </a:rPr>
                        <a:t>Restart GNS3 or reboot system</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992775926"/>
                  </a:ext>
                </a:extLst>
              </a:tr>
              <a:tr h="0">
                <a:tc>
                  <a:txBody>
                    <a:bodyPr/>
                    <a:lstStyle/>
                    <a:p>
                      <a:pPr algn="l" fontAlgn="base"/>
                      <a:r>
                        <a:rPr lang="en-US" sz="800">
                          <a:effectLst/>
                        </a:rPr>
                        <a:t>Error: “Could not run wireshark”</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ase"/>
                      <a:r>
                        <a:rPr lang="en-US" sz="800">
                          <a:effectLst/>
                        </a:rPr>
                        <a:t>Run GNS3 as administrator (Windows only)</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31339458"/>
                  </a:ext>
                </a:extLst>
              </a:tr>
              <a:tr h="0">
                <a:tc>
                  <a:txBody>
                    <a:bodyPr/>
                    <a:lstStyle/>
                    <a:p>
                      <a:pPr algn="l" fontAlgn="base"/>
                      <a:r>
                        <a:rPr lang="en-US" sz="800">
                          <a:effectLst/>
                        </a:rPr>
                        <a:t>Unable to see packets</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base"/>
                      <a:r>
                        <a:rPr lang="en-US" sz="800" dirty="0">
                          <a:effectLst/>
                        </a:rPr>
                        <a:t>Ensure devices are sending traffic (use ping, telnet, etc.)</a:t>
                      </a:r>
                    </a:p>
                  </a:txBody>
                  <a:tcPr marL="114300" marR="114300" marT="114300" marB="1143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274068217"/>
                  </a:ext>
                </a:extLst>
              </a:tr>
            </a:tbl>
          </a:graphicData>
        </a:graphic>
      </p:graphicFrame>
    </p:spTree>
    <p:extLst>
      <p:ext uri="{BB962C8B-B14F-4D97-AF65-F5344CB8AC3E}">
        <p14:creationId xmlns:p14="http://schemas.microsoft.com/office/powerpoint/2010/main" val="23294764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62892" y="165531"/>
            <a:ext cx="9347200" cy="771712"/>
          </a:xfrm>
          <a:prstGeom prst="rect">
            <a:avLst/>
          </a:prstGeom>
        </p:spPr>
        <p:txBody>
          <a:bodyPr vert="horz" lIns="81280" tIns="40640" rIns="81280" bIns="40640" rtlCol="0" anchor="b">
            <a:normAutofit fontScale="5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Ex 1:</a:t>
            </a:r>
          </a:p>
          <a:p>
            <a:pPr algn="l"/>
            <a:r>
              <a:rPr lang="en-US" b="1" dirty="0">
                <a:solidFill>
                  <a:schemeClr val="bg1">
                    <a:lumMod val="75000"/>
                  </a:schemeClr>
                </a:solidFill>
              </a:rPr>
              <a:t>Wireshark Protocol </a:t>
            </a:r>
            <a:r>
              <a:rPr lang="en-US" b="1" dirty="0" smtClean="0">
                <a:solidFill>
                  <a:schemeClr val="bg1">
                    <a:lumMod val="75000"/>
                  </a:schemeClr>
                </a:solidFill>
              </a:rPr>
              <a:t>Monitoring</a:t>
            </a:r>
            <a:endParaRPr lang="en-US" b="1" dirty="0">
              <a:solidFill>
                <a:schemeClr val="bg1">
                  <a:lumMod val="75000"/>
                </a:schemeClr>
              </a:solidFill>
            </a:endParaRPr>
          </a:p>
        </p:txBody>
      </p:sp>
      <p:sp>
        <p:nvSpPr>
          <p:cNvPr id="5" name="Rectangle 4"/>
          <p:cNvSpPr/>
          <p:nvPr/>
        </p:nvSpPr>
        <p:spPr>
          <a:xfrm>
            <a:off x="1005508" y="1158860"/>
            <a:ext cx="5592941" cy="369332"/>
          </a:xfrm>
          <a:prstGeom prst="rect">
            <a:avLst/>
          </a:prstGeom>
        </p:spPr>
        <p:txBody>
          <a:bodyPr wrap="none">
            <a:spAutoFit/>
          </a:bodyPr>
          <a:lstStyle/>
          <a:p>
            <a:r>
              <a:rPr lang="en-US" dirty="0"/>
              <a:t>https://github.com/amelcharolinesgn2/ANJAR_CCNP_Lab</a:t>
            </a:r>
          </a:p>
        </p:txBody>
      </p:sp>
      <p:sp>
        <p:nvSpPr>
          <p:cNvPr id="6" name="Rectangle 5"/>
          <p:cNvSpPr/>
          <p:nvPr/>
        </p:nvSpPr>
        <p:spPr>
          <a:xfrm>
            <a:off x="6898104" y="1528192"/>
            <a:ext cx="4931145" cy="2585323"/>
          </a:xfrm>
          <a:prstGeom prst="rect">
            <a:avLst/>
          </a:prstGeom>
        </p:spPr>
        <p:txBody>
          <a:bodyPr wrap="square">
            <a:spAutoFit/>
          </a:bodyPr>
          <a:lstStyle/>
          <a:p>
            <a:pPr algn="just"/>
            <a:r>
              <a:rPr lang="en-US" dirty="0" smtClean="0"/>
              <a:t>Practical </a:t>
            </a:r>
            <a:r>
              <a:rPr lang="en-US" dirty="0"/>
              <a:t>protocol monitoring in a small network using Wireshark. It combines four connected chapters: initial network setup, full packet observation, DHCP troubleshooting, and advanced protocol filtering. Together, they form a complete workflow that shows how packets appear, how services respond, and how each protocol behaves during normal and failed communication.</a:t>
            </a:r>
          </a:p>
          <a:p>
            <a:endParaRPr lang="en-US" dirty="0"/>
          </a:p>
        </p:txBody>
      </p:sp>
      <p:pic>
        <p:nvPicPr>
          <p:cNvPr id="7" name="Picture 6"/>
          <p:cNvPicPr>
            <a:picLocks noChangeAspect="1"/>
          </p:cNvPicPr>
          <p:nvPr/>
        </p:nvPicPr>
        <p:blipFill>
          <a:blip r:embed="rId2"/>
          <a:stretch>
            <a:fillRect/>
          </a:stretch>
        </p:blipFill>
        <p:spPr>
          <a:xfrm>
            <a:off x="866274" y="2116547"/>
            <a:ext cx="5195386" cy="2792587"/>
          </a:xfrm>
          <a:prstGeom prst="rect">
            <a:avLst/>
          </a:prstGeom>
        </p:spPr>
      </p:pic>
      <p:sp>
        <p:nvSpPr>
          <p:cNvPr id="8" name="Rectangle 7"/>
          <p:cNvSpPr/>
          <p:nvPr/>
        </p:nvSpPr>
        <p:spPr>
          <a:xfrm>
            <a:off x="625641" y="4937207"/>
            <a:ext cx="10138611" cy="1754326"/>
          </a:xfrm>
          <a:prstGeom prst="rect">
            <a:avLst/>
          </a:prstGeom>
        </p:spPr>
        <p:txBody>
          <a:bodyPr wrap="square">
            <a:spAutoFit/>
          </a:bodyPr>
          <a:lstStyle/>
          <a:p>
            <a:r>
              <a:rPr lang="en-US" dirty="0"/>
              <a:t>The objectives are:</a:t>
            </a:r>
          </a:p>
          <a:p>
            <a:pPr marL="342900" indent="-342900">
              <a:buFont typeface="+mj-lt"/>
              <a:buAutoNum type="alphaLcParenR"/>
            </a:pPr>
            <a:r>
              <a:rPr lang="en-US" dirty="0" smtClean="0"/>
              <a:t>Set </a:t>
            </a:r>
            <a:r>
              <a:rPr lang="en-US" dirty="0"/>
              <a:t>up the LAN with DHCP, DNS, and HTTP services on the router.</a:t>
            </a:r>
          </a:p>
          <a:p>
            <a:pPr marL="342900" indent="-342900">
              <a:buFont typeface="+mj-lt"/>
              <a:buAutoNum type="alphaLcParenR"/>
            </a:pPr>
            <a:r>
              <a:rPr lang="en-US" dirty="0" smtClean="0"/>
              <a:t>Observe </a:t>
            </a:r>
            <a:r>
              <a:rPr lang="en-US" dirty="0"/>
              <a:t>packets in real time without filters to see how protocols communicate.</a:t>
            </a:r>
          </a:p>
          <a:p>
            <a:pPr marL="342900" indent="-342900">
              <a:buFont typeface="+mj-lt"/>
              <a:buAutoNum type="alphaLcParenR"/>
            </a:pPr>
            <a:r>
              <a:rPr lang="en-US" dirty="0" smtClean="0"/>
              <a:t>Troubleshoot </a:t>
            </a:r>
            <a:r>
              <a:rPr lang="en-US" dirty="0"/>
              <a:t>DHCP failure on </a:t>
            </a:r>
            <a:r>
              <a:rPr lang="en-US" dirty="0" err="1"/>
              <a:t>Xubuntu</a:t>
            </a:r>
            <a:r>
              <a:rPr lang="en-US" dirty="0"/>
              <a:t> caused by switch misconfiguration.</a:t>
            </a:r>
          </a:p>
          <a:p>
            <a:pPr marL="342900" indent="-342900">
              <a:buFont typeface="+mj-lt"/>
              <a:buAutoNum type="alphaLcParenR"/>
            </a:pPr>
            <a:r>
              <a:rPr lang="en-US" dirty="0" smtClean="0"/>
              <a:t>Apply </a:t>
            </a:r>
            <a:r>
              <a:rPr lang="en-US" dirty="0"/>
              <a:t>protocol-specific filters to </a:t>
            </a:r>
            <a:r>
              <a:rPr lang="en-US" dirty="0" err="1"/>
              <a:t>analyse</a:t>
            </a:r>
            <a:r>
              <a:rPr lang="en-US" dirty="0"/>
              <a:t> ARP, DNS, ICMP, UDP, TCP, and HTTP.</a:t>
            </a:r>
          </a:p>
          <a:p>
            <a:pPr marL="342900" indent="-342900">
              <a:buFont typeface="+mj-lt"/>
              <a:buAutoNum type="alphaLcParenR"/>
            </a:pPr>
            <a:r>
              <a:rPr lang="en-US" dirty="0" smtClean="0"/>
              <a:t>Save </a:t>
            </a:r>
            <a:r>
              <a:rPr lang="en-US" dirty="0"/>
              <a:t>captures for documentation and later analysis.</a:t>
            </a:r>
          </a:p>
        </p:txBody>
      </p:sp>
    </p:spTree>
    <p:extLst>
      <p:ext uri="{BB962C8B-B14F-4D97-AF65-F5344CB8AC3E}">
        <p14:creationId xmlns:p14="http://schemas.microsoft.com/office/powerpoint/2010/main" val="3818405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46850" y="646794"/>
            <a:ext cx="5255592" cy="379901"/>
          </a:xfrm>
          <a:prstGeom prst="rect">
            <a:avLst/>
          </a:prstGeom>
        </p:spPr>
        <p:txBody>
          <a:bodyPr vert="horz" lIns="81280" tIns="40640" rIns="81280" bIns="4064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 Network </a:t>
            </a:r>
            <a:r>
              <a:rPr lang="en-US" sz="2400" b="1" dirty="0">
                <a:solidFill>
                  <a:schemeClr val="bg1">
                    <a:lumMod val="75000"/>
                  </a:schemeClr>
                </a:solidFill>
              </a:rPr>
              <a:t>Setup and Service Configuration</a:t>
            </a:r>
            <a:endParaRPr lang="en-US" sz="2400" b="1" dirty="0">
              <a:solidFill>
                <a:schemeClr val="bg1">
                  <a:lumMod val="75000"/>
                </a:schemeClr>
              </a:solidFill>
            </a:endParaRPr>
          </a:p>
        </p:txBody>
      </p:sp>
      <p:sp>
        <p:nvSpPr>
          <p:cNvPr id="6" name="Rectangle 5"/>
          <p:cNvSpPr/>
          <p:nvPr/>
        </p:nvSpPr>
        <p:spPr>
          <a:xfrm>
            <a:off x="561473" y="1026695"/>
            <a:ext cx="5165559" cy="1754326"/>
          </a:xfrm>
          <a:prstGeom prst="rect">
            <a:avLst/>
          </a:prstGeom>
        </p:spPr>
        <p:txBody>
          <a:bodyPr wrap="square">
            <a:spAutoFit/>
          </a:bodyPr>
          <a:lstStyle/>
          <a:p>
            <a:pPr algn="just"/>
            <a:r>
              <a:rPr lang="en-US" dirty="0" smtClean="0"/>
              <a:t>Setup </a:t>
            </a:r>
            <a:r>
              <a:rPr lang="en-US" dirty="0"/>
              <a:t>of a small LAN used for packet monitoring. The router is given its initial IP configuration and is prepared to provide DHCP, DNS, and HTTP services. Both clients are set to DHCP mode so they receive their network settings from the router. </a:t>
            </a:r>
            <a:r>
              <a:rPr lang="en-US" dirty="0" err="1"/>
              <a:t>Xubuntu</a:t>
            </a:r>
            <a:r>
              <a:rPr lang="en-US" dirty="0"/>
              <a:t> is prepared with a simple installation of Wireshark.</a:t>
            </a:r>
          </a:p>
        </p:txBody>
      </p:sp>
      <p:pic>
        <p:nvPicPr>
          <p:cNvPr id="7" name="Picture 6"/>
          <p:cNvPicPr>
            <a:picLocks noChangeAspect="1"/>
          </p:cNvPicPr>
          <p:nvPr/>
        </p:nvPicPr>
        <p:blipFill>
          <a:blip r:embed="rId2"/>
          <a:stretch>
            <a:fillRect/>
          </a:stretch>
        </p:blipFill>
        <p:spPr>
          <a:xfrm>
            <a:off x="818398" y="3160922"/>
            <a:ext cx="4684044" cy="2827081"/>
          </a:xfrm>
          <a:prstGeom prst="rect">
            <a:avLst/>
          </a:prstGeom>
        </p:spPr>
      </p:pic>
      <p:sp>
        <p:nvSpPr>
          <p:cNvPr id="8" name="Title 1"/>
          <p:cNvSpPr txBox="1">
            <a:spLocks/>
          </p:cNvSpPr>
          <p:nvPr/>
        </p:nvSpPr>
        <p:spPr>
          <a:xfrm>
            <a:off x="5817065" y="724450"/>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1.1. Topology</a:t>
            </a:r>
            <a:endParaRPr lang="en-US" sz="2400" b="1" dirty="0">
              <a:solidFill>
                <a:schemeClr val="bg1">
                  <a:lumMod val="75000"/>
                </a:schemeClr>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856915584"/>
              </p:ext>
            </p:extLst>
          </p:nvPr>
        </p:nvGraphicFramePr>
        <p:xfrm>
          <a:off x="5896190" y="1216645"/>
          <a:ext cx="6063918" cy="2064254"/>
        </p:xfrm>
        <a:graphic>
          <a:graphicData uri="http://schemas.openxmlformats.org/drawingml/2006/table">
            <a:tbl>
              <a:tblPr/>
              <a:tblGrid>
                <a:gridCol w="648989">
                  <a:extLst>
                    <a:ext uri="{9D8B030D-6E8A-4147-A177-3AD203B41FA5}">
                      <a16:colId xmlns:a16="http://schemas.microsoft.com/office/drawing/2014/main" val="1642081047"/>
                    </a:ext>
                  </a:extLst>
                </a:gridCol>
                <a:gridCol w="721895">
                  <a:extLst>
                    <a:ext uri="{9D8B030D-6E8A-4147-A177-3AD203B41FA5}">
                      <a16:colId xmlns:a16="http://schemas.microsoft.com/office/drawing/2014/main" val="2997359544"/>
                    </a:ext>
                  </a:extLst>
                </a:gridCol>
                <a:gridCol w="529389">
                  <a:extLst>
                    <a:ext uri="{9D8B030D-6E8A-4147-A177-3AD203B41FA5}">
                      <a16:colId xmlns:a16="http://schemas.microsoft.com/office/drawing/2014/main" val="3595663715"/>
                    </a:ext>
                  </a:extLst>
                </a:gridCol>
                <a:gridCol w="898358">
                  <a:extLst>
                    <a:ext uri="{9D8B030D-6E8A-4147-A177-3AD203B41FA5}">
                      <a16:colId xmlns:a16="http://schemas.microsoft.com/office/drawing/2014/main" val="2344939442"/>
                    </a:ext>
                  </a:extLst>
                </a:gridCol>
                <a:gridCol w="1171074">
                  <a:extLst>
                    <a:ext uri="{9D8B030D-6E8A-4147-A177-3AD203B41FA5}">
                      <a16:colId xmlns:a16="http://schemas.microsoft.com/office/drawing/2014/main" val="1085722107"/>
                    </a:ext>
                  </a:extLst>
                </a:gridCol>
                <a:gridCol w="1042737">
                  <a:extLst>
                    <a:ext uri="{9D8B030D-6E8A-4147-A177-3AD203B41FA5}">
                      <a16:colId xmlns:a16="http://schemas.microsoft.com/office/drawing/2014/main" val="1741554993"/>
                    </a:ext>
                  </a:extLst>
                </a:gridCol>
                <a:gridCol w="1051476">
                  <a:extLst>
                    <a:ext uri="{9D8B030D-6E8A-4147-A177-3AD203B41FA5}">
                      <a16:colId xmlns:a16="http://schemas.microsoft.com/office/drawing/2014/main" val="821641171"/>
                    </a:ext>
                  </a:extLst>
                </a:gridCol>
              </a:tblGrid>
              <a:tr h="273504">
                <a:tc>
                  <a:txBody>
                    <a:bodyPr/>
                    <a:lstStyle/>
                    <a:p>
                      <a:r>
                        <a:rPr lang="en-US" sz="800" b="1">
                          <a:effectLst/>
                        </a:rPr>
                        <a:t>Device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Interface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Connected to -&gt;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Peer Interface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IP Address</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Subnet Mask</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b="1">
                          <a:effectLst/>
                        </a:rPr>
                        <a:t>Gateway</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9810186"/>
                  </a:ext>
                </a:extLst>
              </a:tr>
              <a:tr h="273504">
                <a:tc>
                  <a:txBody>
                    <a:bodyPr/>
                    <a:lstStyle/>
                    <a:p>
                      <a:r>
                        <a:rPr lang="en-US" sz="800" dirty="0">
                          <a:effectLst/>
                        </a:rPr>
                        <a:t>R1 (Router)</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Gi0/1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dirty="0">
                          <a:effectLst/>
                        </a:rPr>
                        <a:t>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Gi0/1 (SW1)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192.168.50.1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255.255.255.0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N/A</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88515235"/>
                  </a:ext>
                </a:extLst>
              </a:tr>
              <a:tr h="613027">
                <a:tc>
                  <a:txBody>
                    <a:bodyPr/>
                    <a:lstStyle/>
                    <a:p>
                      <a:r>
                        <a:rPr lang="en-US" sz="800">
                          <a:effectLst/>
                        </a:rPr>
                        <a:t>Windows-Client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Ethernet0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Gi0/2 (SW1)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DHCP (192.168.50.10–192.168.50.20)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255.255.255.0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800">
                          <a:effectLst/>
                        </a:rPr>
                        <a:t>192.168.50.1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42729708"/>
                  </a:ext>
                </a:extLst>
              </a:tr>
              <a:tr h="613027">
                <a:tc>
                  <a:txBody>
                    <a:bodyPr/>
                    <a:lstStyle/>
                    <a:p>
                      <a:r>
                        <a:rPr lang="en-US" sz="800">
                          <a:effectLst/>
                        </a:rPr>
                        <a:t>Xubuntu-Client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Gi0/0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Gi0/3 (SW1)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DHCP (192.168.50.10–192.168.50.20)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a:effectLst/>
                        </a:rPr>
                        <a:t>255.255.255.0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800" dirty="0">
                          <a:effectLst/>
                        </a:rPr>
                        <a:t>192.168.50.1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420023445"/>
                  </a:ext>
                </a:extLst>
              </a:tr>
            </a:tbl>
          </a:graphicData>
        </a:graphic>
      </p:graphicFrame>
      <p:sp>
        <p:nvSpPr>
          <p:cNvPr id="10" name="Title 1"/>
          <p:cNvSpPr txBox="1">
            <a:spLocks/>
          </p:cNvSpPr>
          <p:nvPr/>
        </p:nvSpPr>
        <p:spPr>
          <a:xfrm>
            <a:off x="5896190" y="339319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1.2. Step</a:t>
            </a:r>
            <a:endParaRPr lang="en-US" sz="2400" b="1" dirty="0">
              <a:solidFill>
                <a:schemeClr val="bg1">
                  <a:lumMod val="75000"/>
                </a:schemeClr>
              </a:solidFill>
            </a:endParaRPr>
          </a:p>
        </p:txBody>
      </p:sp>
      <p:sp>
        <p:nvSpPr>
          <p:cNvPr id="11" name="Rectangle 10"/>
          <p:cNvSpPr/>
          <p:nvPr/>
        </p:nvSpPr>
        <p:spPr>
          <a:xfrm>
            <a:off x="5896190" y="3773094"/>
            <a:ext cx="6096000" cy="2000548"/>
          </a:xfrm>
          <a:prstGeom prst="rect">
            <a:avLst/>
          </a:prstGeom>
        </p:spPr>
        <p:txBody>
          <a:bodyPr>
            <a:spAutoFit/>
          </a:bodyPr>
          <a:lstStyle/>
          <a:p>
            <a:pPr marL="342900" indent="-342900">
              <a:buFont typeface="+mj-lt"/>
              <a:buAutoNum type="alphaLcParenR"/>
            </a:pPr>
            <a:r>
              <a:rPr lang="en-US" sz="1400" dirty="0"/>
              <a:t>Configure the router interface to enable basic Layer 3 connectivity in the LAN.</a:t>
            </a:r>
          </a:p>
          <a:p>
            <a:pPr marL="342900" indent="-342900">
              <a:buFont typeface="+mj-lt"/>
              <a:buAutoNum type="alphaLcParenR"/>
            </a:pPr>
            <a:r>
              <a:rPr lang="en-US" sz="1400" dirty="0" smtClean="0"/>
              <a:t>Activate </a:t>
            </a:r>
            <a:r>
              <a:rPr lang="en-US" sz="1400" dirty="0"/>
              <a:t>the router services required for DHCP, HTTP, and DNS operation.</a:t>
            </a:r>
          </a:p>
          <a:p>
            <a:pPr marL="342900" indent="-342900">
              <a:buFont typeface="+mj-lt"/>
              <a:buAutoNum type="alphaLcParenR"/>
            </a:pPr>
            <a:r>
              <a:rPr lang="en-US" sz="1400" dirty="0" smtClean="0"/>
              <a:t>Set </a:t>
            </a:r>
            <a:r>
              <a:rPr lang="en-US" sz="1400" dirty="0"/>
              <a:t>both clients to automatic network configuration mode.</a:t>
            </a:r>
          </a:p>
          <a:p>
            <a:pPr marL="342900" indent="-342900">
              <a:buFont typeface="+mj-lt"/>
              <a:buAutoNum type="alphaLcParenR"/>
            </a:pPr>
            <a:r>
              <a:rPr lang="en-US" sz="1400" dirty="0" smtClean="0"/>
              <a:t>Verify </a:t>
            </a:r>
            <a:r>
              <a:rPr lang="en-US" sz="1400" dirty="0"/>
              <a:t>that the clients receive their settings from the router.</a:t>
            </a:r>
          </a:p>
          <a:p>
            <a:pPr marL="342900" indent="-342900">
              <a:buFont typeface="+mj-lt"/>
              <a:buAutoNum type="alphaLcParenR"/>
            </a:pPr>
            <a:r>
              <a:rPr lang="en-US" sz="1400" dirty="0" smtClean="0"/>
              <a:t>Install </a:t>
            </a:r>
            <a:r>
              <a:rPr lang="en-US" sz="1400" dirty="0"/>
              <a:t>Wireshark on </a:t>
            </a:r>
            <a:r>
              <a:rPr lang="en-US" sz="1400" dirty="0" err="1"/>
              <a:t>Xubuntu</a:t>
            </a:r>
            <a:r>
              <a:rPr lang="en-US" sz="1400" dirty="0"/>
              <a:t> and confirm that the interface is available for capture.</a:t>
            </a:r>
          </a:p>
          <a:p>
            <a:pPr marL="342900" indent="-342900">
              <a:buFont typeface="+mj-lt"/>
              <a:buAutoNum type="alphaLcParenR"/>
            </a:pPr>
            <a:r>
              <a:rPr lang="en-US" sz="1400" dirty="0" smtClean="0"/>
              <a:t>Test </a:t>
            </a:r>
            <a:r>
              <a:rPr lang="en-US" sz="1400" dirty="0"/>
              <a:t>basic client connectivity to generate initial ARP and ICMP traffic.</a:t>
            </a:r>
          </a:p>
          <a:p>
            <a:endParaRPr lang="en-US" sz="1200" dirty="0"/>
          </a:p>
        </p:txBody>
      </p:sp>
    </p:spTree>
    <p:extLst>
      <p:ext uri="{BB962C8B-B14F-4D97-AF65-F5344CB8AC3E}">
        <p14:creationId xmlns:p14="http://schemas.microsoft.com/office/powerpoint/2010/main" val="1386990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6286" y="67632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1.3</a:t>
            </a:r>
            <a:r>
              <a:rPr lang="en-US" sz="2400" b="1" dirty="0">
                <a:solidFill>
                  <a:schemeClr val="bg1">
                    <a:lumMod val="75000"/>
                  </a:schemeClr>
                </a:solidFill>
              </a:rPr>
              <a:t>. Router Services - DHCP Configuration</a:t>
            </a:r>
            <a:endParaRPr lang="en-US" sz="2400" b="1" dirty="0">
              <a:solidFill>
                <a:schemeClr val="bg1">
                  <a:lumMod val="75000"/>
                </a:schemeClr>
              </a:solidFill>
            </a:endParaRPr>
          </a:p>
        </p:txBody>
      </p:sp>
      <p:sp>
        <p:nvSpPr>
          <p:cNvPr id="5" name="Rectangle 4"/>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6" name="Rectangle 5"/>
          <p:cNvSpPr/>
          <p:nvPr/>
        </p:nvSpPr>
        <p:spPr>
          <a:xfrm>
            <a:off x="186286" y="1056224"/>
            <a:ext cx="5255592" cy="1200329"/>
          </a:xfrm>
          <a:prstGeom prst="rect">
            <a:avLst/>
          </a:prstGeom>
        </p:spPr>
        <p:txBody>
          <a:bodyPr wrap="square">
            <a:spAutoFit/>
          </a:bodyPr>
          <a:lstStyle/>
          <a:p>
            <a:pPr algn="just"/>
            <a:r>
              <a:rPr lang="en-US" dirty="0" smtClean="0"/>
              <a:t>Configures </a:t>
            </a:r>
            <a:r>
              <a:rPr lang="en-US" dirty="0"/>
              <a:t>DHCP service on R1 so both clients automatically receive their IP settings. The router assigns addresses from the LAN subnet and provides the default gateway and DNS information.</a:t>
            </a:r>
          </a:p>
        </p:txBody>
      </p:sp>
      <p:sp>
        <p:nvSpPr>
          <p:cNvPr id="7" name="Rectangle 6"/>
          <p:cNvSpPr/>
          <p:nvPr/>
        </p:nvSpPr>
        <p:spPr>
          <a:xfrm>
            <a:off x="186286" y="2315338"/>
            <a:ext cx="3343351" cy="369332"/>
          </a:xfrm>
          <a:prstGeom prst="rect">
            <a:avLst/>
          </a:prstGeom>
        </p:spPr>
        <p:txBody>
          <a:bodyPr wrap="none">
            <a:spAutoFit/>
          </a:bodyPr>
          <a:lstStyle/>
          <a:p>
            <a:r>
              <a:rPr lang="en-US" b="1" dirty="0"/>
              <a:t>Router (R1) - DHCP Configuration</a:t>
            </a:r>
          </a:p>
        </p:txBody>
      </p:sp>
      <p:sp>
        <p:nvSpPr>
          <p:cNvPr id="8" name="Rectangle 7"/>
          <p:cNvSpPr/>
          <p:nvPr/>
        </p:nvSpPr>
        <p:spPr>
          <a:xfrm>
            <a:off x="458508" y="2625961"/>
            <a:ext cx="4711148" cy="1200329"/>
          </a:xfrm>
          <a:prstGeom prst="rect">
            <a:avLst/>
          </a:prstGeom>
        </p:spPr>
        <p:txBody>
          <a:bodyPr wrap="square">
            <a:spAutoFit/>
          </a:bodyPr>
          <a:lstStyle/>
          <a:p>
            <a:pPr algn="just"/>
            <a:r>
              <a:rPr lang="en-US" dirty="0"/>
              <a:t>IP configuration for DHCP uses a single excluded address for the router itself. The DHCP pool LOCAL-POOL assigns dynamic addresses to all LAN clients.</a:t>
            </a:r>
          </a:p>
        </p:txBody>
      </p:sp>
      <p:sp>
        <p:nvSpPr>
          <p:cNvPr id="9" name="Rectangle 8"/>
          <p:cNvSpPr/>
          <p:nvPr/>
        </p:nvSpPr>
        <p:spPr>
          <a:xfrm>
            <a:off x="458508" y="3826290"/>
            <a:ext cx="4851923" cy="2554545"/>
          </a:xfrm>
          <a:prstGeom prst="rect">
            <a:avLst/>
          </a:prstGeom>
          <a:solidFill>
            <a:schemeClr val="accent3">
              <a:lumMod val="20000"/>
              <a:lumOff val="80000"/>
            </a:schemeClr>
          </a:solidFill>
        </p:spPr>
        <p:txBody>
          <a:bodyPr wrap="square">
            <a:spAutoFit/>
          </a:bodyPr>
          <a:lstStyle/>
          <a:p>
            <a:r>
              <a:rPr lang="en-US" sz="1600" dirty="0"/>
              <a:t>enable</a:t>
            </a:r>
          </a:p>
          <a:p>
            <a:r>
              <a:rPr lang="en-US" sz="1600" dirty="0"/>
              <a:t>configure terminal</a:t>
            </a:r>
          </a:p>
          <a:p>
            <a:r>
              <a:rPr lang="en-US" sz="1600" dirty="0" err="1"/>
              <a:t>ip</a:t>
            </a:r>
            <a:r>
              <a:rPr lang="en-US" sz="1600" dirty="0"/>
              <a:t> </a:t>
            </a:r>
            <a:r>
              <a:rPr lang="en-US" sz="1600" dirty="0" err="1"/>
              <a:t>dhcp</a:t>
            </a:r>
            <a:r>
              <a:rPr lang="en-US" sz="1600" dirty="0"/>
              <a:t> excluded-address 192.168.50.1 192.168.50.9</a:t>
            </a:r>
          </a:p>
          <a:p>
            <a:r>
              <a:rPr lang="en-US" sz="1600" dirty="0" err="1"/>
              <a:t>ip</a:t>
            </a:r>
            <a:r>
              <a:rPr lang="en-US" sz="1600" dirty="0"/>
              <a:t> </a:t>
            </a:r>
            <a:r>
              <a:rPr lang="en-US" sz="1600" dirty="0" err="1"/>
              <a:t>dhcp</a:t>
            </a:r>
            <a:r>
              <a:rPr lang="en-US" sz="1600" dirty="0"/>
              <a:t> excluded-address 192.168.50.21 192.168.50.254</a:t>
            </a:r>
          </a:p>
          <a:p>
            <a:r>
              <a:rPr lang="en-US" sz="1600" dirty="0" err="1"/>
              <a:t>ip</a:t>
            </a:r>
            <a:r>
              <a:rPr lang="en-US" sz="1600" dirty="0"/>
              <a:t> </a:t>
            </a:r>
            <a:r>
              <a:rPr lang="en-US" sz="1600" dirty="0" err="1"/>
              <a:t>dhcp</a:t>
            </a:r>
            <a:r>
              <a:rPr lang="en-US" sz="1600" dirty="0"/>
              <a:t> pool LOCAL-POOL</a:t>
            </a:r>
          </a:p>
          <a:p>
            <a:r>
              <a:rPr lang="en-US" sz="1600" dirty="0"/>
              <a:t>network 192.168.50.0 255.255.255.0</a:t>
            </a:r>
          </a:p>
          <a:p>
            <a:r>
              <a:rPr lang="en-US" sz="1600" dirty="0"/>
              <a:t>default-router 192.168.50.1</a:t>
            </a:r>
          </a:p>
          <a:p>
            <a:r>
              <a:rPr lang="en-US" sz="1600" dirty="0" err="1"/>
              <a:t>dns</a:t>
            </a:r>
            <a:r>
              <a:rPr lang="en-US" sz="1600" dirty="0"/>
              <a:t>-server 192.168.50.1</a:t>
            </a:r>
          </a:p>
          <a:p>
            <a:r>
              <a:rPr lang="en-US" sz="1600" dirty="0"/>
              <a:t>end</a:t>
            </a:r>
          </a:p>
          <a:p>
            <a:r>
              <a:rPr lang="en-US" sz="1600" dirty="0"/>
              <a:t>write memory</a:t>
            </a:r>
          </a:p>
        </p:txBody>
      </p:sp>
      <p:pic>
        <p:nvPicPr>
          <p:cNvPr id="10" name="Picture 9"/>
          <p:cNvPicPr>
            <a:picLocks noChangeAspect="1"/>
          </p:cNvPicPr>
          <p:nvPr/>
        </p:nvPicPr>
        <p:blipFill>
          <a:blip r:embed="rId2"/>
          <a:stretch>
            <a:fillRect/>
          </a:stretch>
        </p:blipFill>
        <p:spPr>
          <a:xfrm>
            <a:off x="5714100" y="664332"/>
            <a:ext cx="5967665" cy="2581275"/>
          </a:xfrm>
          <a:prstGeom prst="rect">
            <a:avLst/>
          </a:prstGeom>
        </p:spPr>
      </p:pic>
      <p:sp>
        <p:nvSpPr>
          <p:cNvPr id="11" name="Rectangle 10"/>
          <p:cNvSpPr/>
          <p:nvPr/>
        </p:nvSpPr>
        <p:spPr>
          <a:xfrm>
            <a:off x="5596489" y="3456958"/>
            <a:ext cx="2254848" cy="369332"/>
          </a:xfrm>
          <a:prstGeom prst="rect">
            <a:avLst/>
          </a:prstGeom>
        </p:spPr>
        <p:txBody>
          <a:bodyPr wrap="none">
            <a:spAutoFit/>
          </a:bodyPr>
          <a:lstStyle/>
          <a:p>
            <a:r>
              <a:rPr lang="en-US" dirty="0" smtClean="0"/>
              <a:t>R1#show </a:t>
            </a:r>
            <a:r>
              <a:rPr lang="en-US" dirty="0" err="1"/>
              <a:t>ip</a:t>
            </a:r>
            <a:r>
              <a:rPr lang="en-US" dirty="0"/>
              <a:t> </a:t>
            </a:r>
            <a:r>
              <a:rPr lang="en-US" dirty="0" err="1"/>
              <a:t>dhcp</a:t>
            </a:r>
            <a:r>
              <a:rPr lang="en-US" dirty="0"/>
              <a:t> pool</a:t>
            </a:r>
          </a:p>
        </p:txBody>
      </p:sp>
      <p:pic>
        <p:nvPicPr>
          <p:cNvPr id="12" name="Picture 11"/>
          <p:cNvPicPr>
            <a:picLocks noChangeAspect="1"/>
          </p:cNvPicPr>
          <p:nvPr/>
        </p:nvPicPr>
        <p:blipFill>
          <a:blip r:embed="rId3"/>
          <a:stretch>
            <a:fillRect/>
          </a:stretch>
        </p:blipFill>
        <p:spPr>
          <a:xfrm>
            <a:off x="5685126" y="3971364"/>
            <a:ext cx="5996639" cy="1905000"/>
          </a:xfrm>
          <a:prstGeom prst="rect">
            <a:avLst/>
          </a:prstGeom>
        </p:spPr>
      </p:pic>
    </p:spTree>
    <p:extLst>
      <p:ext uri="{BB962C8B-B14F-4D97-AF65-F5344CB8AC3E}">
        <p14:creationId xmlns:p14="http://schemas.microsoft.com/office/powerpoint/2010/main" val="11289843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6286" y="67632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1.4</a:t>
            </a:r>
            <a:r>
              <a:rPr lang="en-US" sz="2400" b="1" dirty="0">
                <a:solidFill>
                  <a:schemeClr val="bg1">
                    <a:lumMod val="75000"/>
                  </a:schemeClr>
                </a:solidFill>
              </a:rPr>
              <a:t>. Router Services - HTTP Configuration</a:t>
            </a:r>
            <a:endParaRPr lang="en-US" sz="2400" b="1" dirty="0">
              <a:solidFill>
                <a:schemeClr val="bg1">
                  <a:lumMod val="75000"/>
                </a:schemeClr>
              </a:solidFill>
            </a:endParaRPr>
          </a:p>
        </p:txBody>
      </p:sp>
      <p:sp>
        <p:nvSpPr>
          <p:cNvPr id="5" name="Rectangle 4"/>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2" name="Rectangle 1"/>
          <p:cNvSpPr/>
          <p:nvPr/>
        </p:nvSpPr>
        <p:spPr>
          <a:xfrm>
            <a:off x="252256" y="1056224"/>
            <a:ext cx="5123651" cy="1477328"/>
          </a:xfrm>
          <a:prstGeom prst="rect">
            <a:avLst/>
          </a:prstGeom>
        </p:spPr>
        <p:txBody>
          <a:bodyPr wrap="square">
            <a:spAutoFit/>
          </a:bodyPr>
          <a:lstStyle/>
          <a:p>
            <a:pPr algn="just"/>
            <a:r>
              <a:rPr lang="en-US" dirty="0"/>
              <a:t>This step enables the HTTP service on R1 so clients in the LAN can generate web traffic for packet monitoring. The service provides a simple test page that allows Wireshark to capture HTTP requests and responses.</a:t>
            </a:r>
          </a:p>
        </p:txBody>
      </p:sp>
      <p:sp>
        <p:nvSpPr>
          <p:cNvPr id="3" name="Rectangle 2"/>
          <p:cNvSpPr/>
          <p:nvPr/>
        </p:nvSpPr>
        <p:spPr>
          <a:xfrm>
            <a:off x="252256" y="2728787"/>
            <a:ext cx="3714991" cy="369332"/>
          </a:xfrm>
          <a:prstGeom prst="rect">
            <a:avLst/>
          </a:prstGeom>
        </p:spPr>
        <p:txBody>
          <a:bodyPr wrap="none">
            <a:spAutoFit/>
          </a:bodyPr>
          <a:lstStyle/>
          <a:p>
            <a:r>
              <a:rPr lang="fr-FR" b="1" dirty="0"/>
              <a:t>Router (R1) - HTTP Service Activation</a:t>
            </a:r>
            <a:endParaRPr lang="en-US" b="1" dirty="0"/>
          </a:p>
        </p:txBody>
      </p:sp>
      <p:sp>
        <p:nvSpPr>
          <p:cNvPr id="6" name="Rectangle 5"/>
          <p:cNvSpPr/>
          <p:nvPr/>
        </p:nvSpPr>
        <p:spPr>
          <a:xfrm>
            <a:off x="318227" y="3098119"/>
            <a:ext cx="5123651" cy="646331"/>
          </a:xfrm>
          <a:prstGeom prst="rect">
            <a:avLst/>
          </a:prstGeom>
        </p:spPr>
        <p:txBody>
          <a:bodyPr wrap="square">
            <a:spAutoFit/>
          </a:bodyPr>
          <a:lstStyle/>
          <a:p>
            <a:pPr algn="just"/>
            <a:r>
              <a:rPr lang="en-US" dirty="0"/>
              <a:t>HTTP service is enabled globally on the router to allow basic web access</a:t>
            </a:r>
          </a:p>
        </p:txBody>
      </p:sp>
      <p:sp>
        <p:nvSpPr>
          <p:cNvPr id="7" name="Rectangle 6"/>
          <p:cNvSpPr/>
          <p:nvPr/>
        </p:nvSpPr>
        <p:spPr>
          <a:xfrm>
            <a:off x="481264" y="3771797"/>
            <a:ext cx="4894643" cy="1477328"/>
          </a:xfrm>
          <a:prstGeom prst="rect">
            <a:avLst/>
          </a:prstGeom>
          <a:solidFill>
            <a:schemeClr val="accent3">
              <a:lumMod val="20000"/>
              <a:lumOff val="80000"/>
            </a:schemeClr>
          </a:solidFill>
        </p:spPr>
        <p:txBody>
          <a:bodyPr wrap="square">
            <a:spAutoFit/>
          </a:bodyPr>
          <a:lstStyle/>
          <a:p>
            <a:r>
              <a:rPr lang="en-US" dirty="0"/>
              <a:t>enable</a:t>
            </a:r>
          </a:p>
          <a:p>
            <a:r>
              <a:rPr lang="en-US" dirty="0"/>
              <a:t>configure terminal</a:t>
            </a:r>
          </a:p>
          <a:p>
            <a:r>
              <a:rPr lang="en-US" dirty="0" err="1"/>
              <a:t>ip</a:t>
            </a:r>
            <a:r>
              <a:rPr lang="en-US" dirty="0"/>
              <a:t> http server</a:t>
            </a:r>
          </a:p>
          <a:p>
            <a:r>
              <a:rPr lang="en-US" dirty="0"/>
              <a:t>end</a:t>
            </a:r>
          </a:p>
          <a:p>
            <a:r>
              <a:rPr lang="en-US" dirty="0"/>
              <a:t>write memory</a:t>
            </a:r>
          </a:p>
        </p:txBody>
      </p:sp>
      <p:pic>
        <p:nvPicPr>
          <p:cNvPr id="8" name="Picture 7"/>
          <p:cNvPicPr>
            <a:picLocks noChangeAspect="1"/>
          </p:cNvPicPr>
          <p:nvPr/>
        </p:nvPicPr>
        <p:blipFill>
          <a:blip r:embed="rId2"/>
          <a:stretch>
            <a:fillRect/>
          </a:stretch>
        </p:blipFill>
        <p:spPr>
          <a:xfrm>
            <a:off x="481264" y="5454065"/>
            <a:ext cx="4960614" cy="1019175"/>
          </a:xfrm>
          <a:prstGeom prst="rect">
            <a:avLst/>
          </a:prstGeom>
        </p:spPr>
      </p:pic>
      <p:sp>
        <p:nvSpPr>
          <p:cNvPr id="9" name="Title 1"/>
          <p:cNvSpPr txBox="1">
            <a:spLocks/>
          </p:cNvSpPr>
          <p:nvPr/>
        </p:nvSpPr>
        <p:spPr>
          <a:xfrm>
            <a:off x="5759376" y="67632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1.5</a:t>
            </a:r>
            <a:r>
              <a:rPr lang="en-US" sz="2400" b="1" dirty="0">
                <a:solidFill>
                  <a:schemeClr val="bg1">
                    <a:lumMod val="75000"/>
                  </a:schemeClr>
                </a:solidFill>
              </a:rPr>
              <a:t>. Router Services - DNS Configuration</a:t>
            </a:r>
            <a:endParaRPr lang="en-US" sz="2400" b="1" dirty="0">
              <a:solidFill>
                <a:schemeClr val="bg1">
                  <a:lumMod val="75000"/>
                </a:schemeClr>
              </a:solidFill>
            </a:endParaRPr>
          </a:p>
        </p:txBody>
      </p:sp>
      <p:sp>
        <p:nvSpPr>
          <p:cNvPr id="10" name="Rectangle 9"/>
          <p:cNvSpPr/>
          <p:nvPr/>
        </p:nvSpPr>
        <p:spPr>
          <a:xfrm>
            <a:off x="5759376" y="1056224"/>
            <a:ext cx="6096000" cy="1200329"/>
          </a:xfrm>
          <a:prstGeom prst="rect">
            <a:avLst/>
          </a:prstGeom>
        </p:spPr>
        <p:txBody>
          <a:bodyPr>
            <a:spAutoFit/>
          </a:bodyPr>
          <a:lstStyle/>
          <a:p>
            <a:pPr algn="just"/>
            <a:r>
              <a:rPr lang="en-US" dirty="0"/>
              <a:t>This step configures a simple DNS service on R1 so that clients can generate DNS queries for packet analysis. The router provides a basic hostname-to-IP mapping used for testing in Wireshark.</a:t>
            </a:r>
          </a:p>
        </p:txBody>
      </p:sp>
      <p:sp>
        <p:nvSpPr>
          <p:cNvPr id="11" name="Rectangle 10"/>
          <p:cNvSpPr/>
          <p:nvPr/>
        </p:nvSpPr>
        <p:spPr>
          <a:xfrm>
            <a:off x="5825346" y="2348886"/>
            <a:ext cx="2355581" cy="369332"/>
          </a:xfrm>
          <a:prstGeom prst="rect">
            <a:avLst/>
          </a:prstGeom>
        </p:spPr>
        <p:txBody>
          <a:bodyPr wrap="none">
            <a:spAutoFit/>
          </a:bodyPr>
          <a:lstStyle/>
          <a:p>
            <a:r>
              <a:rPr lang="fr-FR" b="1" dirty="0"/>
              <a:t>R1 - DNS Service Setup</a:t>
            </a:r>
            <a:endParaRPr lang="en-US" b="1" dirty="0"/>
          </a:p>
        </p:txBody>
      </p:sp>
      <p:sp>
        <p:nvSpPr>
          <p:cNvPr id="12" name="Rectangle 11"/>
          <p:cNvSpPr/>
          <p:nvPr/>
        </p:nvSpPr>
        <p:spPr>
          <a:xfrm>
            <a:off x="5825346" y="2718218"/>
            <a:ext cx="5123651" cy="646331"/>
          </a:xfrm>
          <a:prstGeom prst="rect">
            <a:avLst/>
          </a:prstGeom>
        </p:spPr>
        <p:txBody>
          <a:bodyPr wrap="square">
            <a:spAutoFit/>
          </a:bodyPr>
          <a:lstStyle/>
          <a:p>
            <a:pPr algn="just"/>
            <a:r>
              <a:rPr lang="en-US" dirty="0"/>
              <a:t>DNS service is enabled globally, and a test hostname is mapped to the router’s LAN IP address.</a:t>
            </a:r>
          </a:p>
        </p:txBody>
      </p:sp>
      <p:sp>
        <p:nvSpPr>
          <p:cNvPr id="13" name="Rectangle 12"/>
          <p:cNvSpPr/>
          <p:nvPr/>
        </p:nvSpPr>
        <p:spPr>
          <a:xfrm>
            <a:off x="5939849" y="3421284"/>
            <a:ext cx="4894643" cy="1754326"/>
          </a:xfrm>
          <a:prstGeom prst="rect">
            <a:avLst/>
          </a:prstGeom>
          <a:solidFill>
            <a:schemeClr val="accent3">
              <a:lumMod val="20000"/>
              <a:lumOff val="80000"/>
            </a:schemeClr>
          </a:solidFill>
        </p:spPr>
        <p:txBody>
          <a:bodyPr wrap="square">
            <a:spAutoFit/>
          </a:bodyPr>
          <a:lstStyle/>
          <a:p>
            <a:r>
              <a:rPr lang="en-US" dirty="0"/>
              <a:t>enable</a:t>
            </a:r>
          </a:p>
          <a:p>
            <a:r>
              <a:rPr lang="en-US" dirty="0"/>
              <a:t>configure terminal</a:t>
            </a:r>
          </a:p>
          <a:p>
            <a:r>
              <a:rPr lang="en-US" dirty="0" err="1"/>
              <a:t>ip</a:t>
            </a:r>
            <a:r>
              <a:rPr lang="en-US" dirty="0"/>
              <a:t> </a:t>
            </a:r>
            <a:r>
              <a:rPr lang="en-US" dirty="0" err="1"/>
              <a:t>dns</a:t>
            </a:r>
            <a:r>
              <a:rPr lang="en-US" dirty="0"/>
              <a:t> server</a:t>
            </a:r>
          </a:p>
          <a:p>
            <a:r>
              <a:rPr lang="en-US" dirty="0" err="1"/>
              <a:t>ip</a:t>
            </a:r>
            <a:r>
              <a:rPr lang="en-US" dirty="0"/>
              <a:t> host </a:t>
            </a:r>
            <a:r>
              <a:rPr lang="en-US" dirty="0" err="1"/>
              <a:t>test.lab</a:t>
            </a:r>
            <a:r>
              <a:rPr lang="en-US" dirty="0"/>
              <a:t> 192.168.50.1</a:t>
            </a:r>
          </a:p>
          <a:p>
            <a:r>
              <a:rPr lang="en-US" dirty="0"/>
              <a:t>end</a:t>
            </a:r>
          </a:p>
          <a:p>
            <a:r>
              <a:rPr lang="en-US" dirty="0"/>
              <a:t>write memory</a:t>
            </a:r>
          </a:p>
        </p:txBody>
      </p:sp>
      <p:pic>
        <p:nvPicPr>
          <p:cNvPr id="14" name="Picture 13"/>
          <p:cNvPicPr>
            <a:picLocks noChangeAspect="1"/>
          </p:cNvPicPr>
          <p:nvPr/>
        </p:nvPicPr>
        <p:blipFill>
          <a:blip r:embed="rId3"/>
          <a:stretch>
            <a:fillRect/>
          </a:stretch>
        </p:blipFill>
        <p:spPr>
          <a:xfrm>
            <a:off x="5939849" y="5249125"/>
            <a:ext cx="6252151" cy="1323975"/>
          </a:xfrm>
          <a:prstGeom prst="rect">
            <a:avLst/>
          </a:prstGeom>
        </p:spPr>
      </p:pic>
    </p:spTree>
    <p:extLst>
      <p:ext uri="{BB962C8B-B14F-4D97-AF65-F5344CB8AC3E}">
        <p14:creationId xmlns:p14="http://schemas.microsoft.com/office/powerpoint/2010/main" val="17897323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86286" y="67632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1.6</a:t>
            </a:r>
            <a:r>
              <a:rPr lang="en-US" sz="2400" b="1" dirty="0">
                <a:solidFill>
                  <a:schemeClr val="bg1">
                    <a:lumMod val="75000"/>
                  </a:schemeClr>
                </a:solidFill>
              </a:rPr>
              <a:t>. </a:t>
            </a:r>
            <a:r>
              <a:rPr lang="en-US" sz="2400" b="1" dirty="0" err="1">
                <a:solidFill>
                  <a:schemeClr val="bg1">
                    <a:lumMod val="75000"/>
                  </a:schemeClr>
                </a:solidFill>
              </a:rPr>
              <a:t>Xubuntu</a:t>
            </a:r>
            <a:r>
              <a:rPr lang="en-US" sz="2400" b="1" dirty="0">
                <a:solidFill>
                  <a:schemeClr val="bg1">
                    <a:lumMod val="75000"/>
                  </a:schemeClr>
                </a:solidFill>
              </a:rPr>
              <a:t> DHCP, HTTP and DNS Verification</a:t>
            </a:r>
            <a:endParaRPr lang="en-US" sz="2400" b="1" dirty="0">
              <a:solidFill>
                <a:schemeClr val="bg1">
                  <a:lumMod val="75000"/>
                </a:schemeClr>
              </a:solidFill>
            </a:endParaRPr>
          </a:p>
        </p:txBody>
      </p:sp>
      <p:sp>
        <p:nvSpPr>
          <p:cNvPr id="5" name="Rectangle 4"/>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2" name="Rectangle 1"/>
          <p:cNvSpPr/>
          <p:nvPr/>
        </p:nvSpPr>
        <p:spPr>
          <a:xfrm>
            <a:off x="186286" y="1056224"/>
            <a:ext cx="5255592" cy="1477328"/>
          </a:xfrm>
          <a:prstGeom prst="rect">
            <a:avLst/>
          </a:prstGeom>
        </p:spPr>
        <p:txBody>
          <a:bodyPr wrap="square">
            <a:spAutoFit/>
          </a:bodyPr>
          <a:lstStyle/>
          <a:p>
            <a:pPr algn="just"/>
            <a:r>
              <a:rPr lang="en-US" dirty="0"/>
              <a:t>This section verifies that the </a:t>
            </a:r>
            <a:r>
              <a:rPr lang="en-US" dirty="0" err="1"/>
              <a:t>Xubuntu</a:t>
            </a:r>
            <a:r>
              <a:rPr lang="en-US" dirty="0"/>
              <a:t> client successfully receives an IP address from the DHCP pool on R1. The network adapter must be configured to use automatic DHCP so the client can request and obtain its settings dynamically.</a:t>
            </a:r>
          </a:p>
        </p:txBody>
      </p:sp>
      <p:sp>
        <p:nvSpPr>
          <p:cNvPr id="6" name="Rectangle 5"/>
          <p:cNvSpPr/>
          <p:nvPr/>
        </p:nvSpPr>
        <p:spPr>
          <a:xfrm>
            <a:off x="186286" y="2533552"/>
            <a:ext cx="3114892" cy="369332"/>
          </a:xfrm>
          <a:prstGeom prst="rect">
            <a:avLst/>
          </a:prstGeom>
        </p:spPr>
        <p:txBody>
          <a:bodyPr wrap="none">
            <a:spAutoFit/>
          </a:bodyPr>
          <a:lstStyle/>
          <a:p>
            <a:r>
              <a:rPr lang="fr-FR" b="1" dirty="0" err="1"/>
              <a:t>Xubuntu</a:t>
            </a:r>
            <a:r>
              <a:rPr lang="fr-FR" b="1" dirty="0"/>
              <a:t> – DHCP Configuration</a:t>
            </a:r>
            <a:endParaRPr lang="en-US" b="1" dirty="0"/>
          </a:p>
        </p:txBody>
      </p:sp>
      <p:sp>
        <p:nvSpPr>
          <p:cNvPr id="7" name="Rectangle 6"/>
          <p:cNvSpPr/>
          <p:nvPr/>
        </p:nvSpPr>
        <p:spPr>
          <a:xfrm>
            <a:off x="252257" y="2902884"/>
            <a:ext cx="5123651" cy="646331"/>
          </a:xfrm>
          <a:prstGeom prst="rect">
            <a:avLst/>
          </a:prstGeom>
        </p:spPr>
        <p:txBody>
          <a:bodyPr wrap="square">
            <a:spAutoFit/>
          </a:bodyPr>
          <a:lstStyle/>
          <a:p>
            <a:pPr algn="just"/>
            <a:r>
              <a:rPr lang="en-US" dirty="0"/>
              <a:t>The network connection is set to automatic mode so the client uses DHCP.</a:t>
            </a:r>
          </a:p>
        </p:txBody>
      </p:sp>
      <p:sp>
        <p:nvSpPr>
          <p:cNvPr id="8" name="Rectangle 7"/>
          <p:cNvSpPr/>
          <p:nvPr/>
        </p:nvSpPr>
        <p:spPr>
          <a:xfrm>
            <a:off x="366760" y="3549215"/>
            <a:ext cx="4894643" cy="369332"/>
          </a:xfrm>
          <a:prstGeom prst="rect">
            <a:avLst/>
          </a:prstGeom>
          <a:solidFill>
            <a:schemeClr val="accent3">
              <a:lumMod val="20000"/>
              <a:lumOff val="80000"/>
            </a:schemeClr>
          </a:solidFill>
        </p:spPr>
        <p:txBody>
          <a:bodyPr wrap="square">
            <a:spAutoFit/>
          </a:bodyPr>
          <a:lstStyle/>
          <a:p>
            <a:r>
              <a:rPr lang="en-US" dirty="0"/>
              <a:t>method automatic DHCP</a:t>
            </a:r>
          </a:p>
        </p:txBody>
      </p:sp>
      <p:pic>
        <p:nvPicPr>
          <p:cNvPr id="3" name="Picture 2"/>
          <p:cNvPicPr>
            <a:picLocks noChangeAspect="1"/>
          </p:cNvPicPr>
          <p:nvPr/>
        </p:nvPicPr>
        <p:blipFill>
          <a:blip r:embed="rId2"/>
          <a:stretch>
            <a:fillRect/>
          </a:stretch>
        </p:blipFill>
        <p:spPr>
          <a:xfrm>
            <a:off x="5885814" y="866273"/>
            <a:ext cx="5629275" cy="5067300"/>
          </a:xfrm>
          <a:prstGeom prst="rect">
            <a:avLst/>
          </a:prstGeom>
        </p:spPr>
      </p:pic>
    </p:spTree>
    <p:extLst>
      <p:ext uri="{BB962C8B-B14F-4D97-AF65-F5344CB8AC3E}">
        <p14:creationId xmlns:p14="http://schemas.microsoft.com/office/powerpoint/2010/main" val="28239994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6" name="Rectangle 5"/>
          <p:cNvSpPr/>
          <p:nvPr/>
        </p:nvSpPr>
        <p:spPr>
          <a:xfrm>
            <a:off x="252257" y="865173"/>
            <a:ext cx="3114892" cy="369332"/>
          </a:xfrm>
          <a:prstGeom prst="rect">
            <a:avLst/>
          </a:prstGeom>
        </p:spPr>
        <p:txBody>
          <a:bodyPr wrap="none">
            <a:spAutoFit/>
          </a:bodyPr>
          <a:lstStyle/>
          <a:p>
            <a:r>
              <a:rPr lang="fr-FR" b="1" dirty="0" err="1"/>
              <a:t>Xubuntu</a:t>
            </a:r>
            <a:r>
              <a:rPr lang="fr-FR" b="1" dirty="0"/>
              <a:t> – </a:t>
            </a:r>
            <a:r>
              <a:rPr lang="fr-FR" b="1" dirty="0" err="1"/>
              <a:t>Assigned</a:t>
            </a:r>
            <a:r>
              <a:rPr lang="fr-FR" b="1" dirty="0"/>
              <a:t> IP </a:t>
            </a:r>
            <a:r>
              <a:rPr lang="fr-FR" b="1" dirty="0" err="1"/>
              <a:t>Address</a:t>
            </a:r>
            <a:endParaRPr lang="en-US" b="1" dirty="0"/>
          </a:p>
        </p:txBody>
      </p:sp>
      <p:sp>
        <p:nvSpPr>
          <p:cNvPr id="7" name="Rectangle 6"/>
          <p:cNvSpPr/>
          <p:nvPr/>
        </p:nvSpPr>
        <p:spPr>
          <a:xfrm>
            <a:off x="252255" y="1234505"/>
            <a:ext cx="5123651" cy="646331"/>
          </a:xfrm>
          <a:prstGeom prst="rect">
            <a:avLst/>
          </a:prstGeom>
        </p:spPr>
        <p:txBody>
          <a:bodyPr wrap="square">
            <a:spAutoFit/>
          </a:bodyPr>
          <a:lstStyle/>
          <a:p>
            <a:pPr algn="just"/>
            <a:r>
              <a:rPr lang="en-US" dirty="0"/>
              <a:t>The terminal output shows the dynamic IPv4 address provided by the router.</a:t>
            </a:r>
          </a:p>
        </p:txBody>
      </p:sp>
      <p:sp>
        <p:nvSpPr>
          <p:cNvPr id="8" name="Rectangle 7"/>
          <p:cNvSpPr/>
          <p:nvPr/>
        </p:nvSpPr>
        <p:spPr>
          <a:xfrm>
            <a:off x="252255" y="2065502"/>
            <a:ext cx="4894643" cy="369332"/>
          </a:xfrm>
          <a:prstGeom prst="rect">
            <a:avLst/>
          </a:prstGeom>
          <a:solidFill>
            <a:schemeClr val="accent3">
              <a:lumMod val="20000"/>
              <a:lumOff val="80000"/>
            </a:schemeClr>
          </a:solidFill>
        </p:spPr>
        <p:txBody>
          <a:bodyPr wrap="square">
            <a:spAutoFit/>
          </a:bodyPr>
          <a:lstStyle/>
          <a:p>
            <a:r>
              <a:rPr lang="en-US" dirty="0" err="1"/>
              <a:t>ip</a:t>
            </a:r>
            <a:r>
              <a:rPr lang="en-US" dirty="0"/>
              <a:t> a</a:t>
            </a:r>
          </a:p>
        </p:txBody>
      </p:sp>
      <p:pic>
        <p:nvPicPr>
          <p:cNvPr id="2" name="Picture 1"/>
          <p:cNvPicPr>
            <a:picLocks noChangeAspect="1"/>
          </p:cNvPicPr>
          <p:nvPr/>
        </p:nvPicPr>
        <p:blipFill>
          <a:blip r:embed="rId2"/>
          <a:stretch>
            <a:fillRect/>
          </a:stretch>
        </p:blipFill>
        <p:spPr>
          <a:xfrm>
            <a:off x="275009" y="2619500"/>
            <a:ext cx="5100897" cy="2486025"/>
          </a:xfrm>
          <a:prstGeom prst="rect">
            <a:avLst/>
          </a:prstGeom>
        </p:spPr>
      </p:pic>
      <p:sp>
        <p:nvSpPr>
          <p:cNvPr id="9" name="Rectangle 8"/>
          <p:cNvSpPr/>
          <p:nvPr/>
        </p:nvSpPr>
        <p:spPr>
          <a:xfrm>
            <a:off x="5834909" y="865173"/>
            <a:ext cx="2820644" cy="646331"/>
          </a:xfrm>
          <a:prstGeom prst="rect">
            <a:avLst/>
          </a:prstGeom>
        </p:spPr>
        <p:txBody>
          <a:bodyPr wrap="none">
            <a:spAutoFit/>
          </a:bodyPr>
          <a:lstStyle/>
          <a:p>
            <a:r>
              <a:rPr lang="fr-FR" b="1" dirty="0" err="1"/>
              <a:t>Xubuntu</a:t>
            </a:r>
            <a:r>
              <a:rPr lang="fr-FR" b="1" dirty="0"/>
              <a:t> </a:t>
            </a:r>
            <a:r>
              <a:rPr lang="fr-FR" b="1" dirty="0" smtClean="0"/>
              <a:t>–</a:t>
            </a:r>
            <a:r>
              <a:rPr lang="en-US" b="1" dirty="0" smtClean="0"/>
              <a:t>HTTP </a:t>
            </a:r>
            <a:r>
              <a:rPr lang="en-US" b="1" dirty="0"/>
              <a:t>Verification</a:t>
            </a:r>
          </a:p>
          <a:p>
            <a:endParaRPr lang="en-US" b="1" dirty="0"/>
          </a:p>
        </p:txBody>
      </p:sp>
      <p:sp>
        <p:nvSpPr>
          <p:cNvPr id="10" name="Rectangle 9"/>
          <p:cNvSpPr/>
          <p:nvPr/>
        </p:nvSpPr>
        <p:spPr>
          <a:xfrm>
            <a:off x="5834909" y="1256054"/>
            <a:ext cx="5123651" cy="646331"/>
          </a:xfrm>
          <a:prstGeom prst="rect">
            <a:avLst/>
          </a:prstGeom>
        </p:spPr>
        <p:txBody>
          <a:bodyPr wrap="square">
            <a:spAutoFit/>
          </a:bodyPr>
          <a:lstStyle/>
          <a:p>
            <a:pPr algn="just"/>
            <a:r>
              <a:rPr lang="en-US" dirty="0"/>
              <a:t>This section verifies that the </a:t>
            </a:r>
            <a:r>
              <a:rPr lang="en-US" dirty="0" err="1"/>
              <a:t>Xubuntu</a:t>
            </a:r>
            <a:r>
              <a:rPr lang="en-US" dirty="0"/>
              <a:t> client can reach the HTTP service running on R1.</a:t>
            </a:r>
            <a:endParaRPr lang="en-US" dirty="0"/>
          </a:p>
        </p:txBody>
      </p:sp>
      <p:sp>
        <p:nvSpPr>
          <p:cNvPr id="3" name="Rectangle 2"/>
          <p:cNvSpPr/>
          <p:nvPr/>
        </p:nvSpPr>
        <p:spPr>
          <a:xfrm>
            <a:off x="5864108" y="1973169"/>
            <a:ext cx="6096000" cy="923330"/>
          </a:xfrm>
          <a:prstGeom prst="rect">
            <a:avLst/>
          </a:prstGeom>
        </p:spPr>
        <p:txBody>
          <a:bodyPr>
            <a:spAutoFit/>
          </a:bodyPr>
          <a:lstStyle/>
          <a:p>
            <a:pPr algn="just"/>
            <a:r>
              <a:rPr lang="en-US" b="1" dirty="0"/>
              <a:t>R1 – HTTP Authentication Setup</a:t>
            </a:r>
          </a:p>
          <a:p>
            <a:pPr algn="just"/>
            <a:r>
              <a:rPr lang="en-US" dirty="0"/>
              <a:t>A local user account is created on R1 to allow browser access when HTTP authentication is required.</a:t>
            </a:r>
          </a:p>
        </p:txBody>
      </p:sp>
      <p:sp>
        <p:nvSpPr>
          <p:cNvPr id="12" name="Rectangle 11"/>
          <p:cNvSpPr/>
          <p:nvPr/>
        </p:nvSpPr>
        <p:spPr>
          <a:xfrm>
            <a:off x="5864108" y="2992955"/>
            <a:ext cx="4894643" cy="1477328"/>
          </a:xfrm>
          <a:prstGeom prst="rect">
            <a:avLst/>
          </a:prstGeom>
          <a:solidFill>
            <a:schemeClr val="accent3">
              <a:lumMod val="20000"/>
              <a:lumOff val="80000"/>
            </a:schemeClr>
          </a:solidFill>
        </p:spPr>
        <p:txBody>
          <a:bodyPr wrap="square">
            <a:spAutoFit/>
          </a:bodyPr>
          <a:lstStyle/>
          <a:p>
            <a:r>
              <a:rPr lang="en-US" dirty="0" err="1"/>
              <a:t>conf</a:t>
            </a:r>
            <a:r>
              <a:rPr lang="en-US" dirty="0"/>
              <a:t> t</a:t>
            </a:r>
          </a:p>
          <a:p>
            <a:r>
              <a:rPr lang="en-US" dirty="0"/>
              <a:t>username admin privilege 15 secret cisco</a:t>
            </a:r>
          </a:p>
          <a:p>
            <a:r>
              <a:rPr lang="en-US" dirty="0" err="1"/>
              <a:t>ip</a:t>
            </a:r>
            <a:r>
              <a:rPr lang="en-US" dirty="0"/>
              <a:t> http authentication local</a:t>
            </a:r>
          </a:p>
          <a:p>
            <a:r>
              <a:rPr lang="en-US" dirty="0"/>
              <a:t>end</a:t>
            </a:r>
          </a:p>
          <a:p>
            <a:r>
              <a:rPr lang="en-US" dirty="0"/>
              <a:t>write memory</a:t>
            </a:r>
          </a:p>
        </p:txBody>
      </p:sp>
      <p:pic>
        <p:nvPicPr>
          <p:cNvPr id="13" name="Picture 12"/>
          <p:cNvPicPr>
            <a:picLocks noChangeAspect="1"/>
          </p:cNvPicPr>
          <p:nvPr/>
        </p:nvPicPr>
        <p:blipFill>
          <a:blip r:embed="rId3"/>
          <a:stretch>
            <a:fillRect/>
          </a:stretch>
        </p:blipFill>
        <p:spPr>
          <a:xfrm>
            <a:off x="5834909" y="4703345"/>
            <a:ext cx="7439025" cy="1333500"/>
          </a:xfrm>
          <a:prstGeom prst="rect">
            <a:avLst/>
          </a:prstGeom>
        </p:spPr>
      </p:pic>
    </p:spTree>
    <p:extLst>
      <p:ext uri="{BB962C8B-B14F-4D97-AF65-F5344CB8AC3E}">
        <p14:creationId xmlns:p14="http://schemas.microsoft.com/office/powerpoint/2010/main" val="46530046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6" name="Rectangle 5"/>
          <p:cNvSpPr/>
          <p:nvPr/>
        </p:nvSpPr>
        <p:spPr>
          <a:xfrm>
            <a:off x="220173" y="517540"/>
            <a:ext cx="4274440" cy="369332"/>
          </a:xfrm>
          <a:prstGeom prst="rect">
            <a:avLst/>
          </a:prstGeom>
        </p:spPr>
        <p:txBody>
          <a:bodyPr wrap="none">
            <a:spAutoFit/>
          </a:bodyPr>
          <a:lstStyle/>
          <a:p>
            <a:r>
              <a:rPr lang="en-US" b="1" dirty="0" err="1"/>
              <a:t>Xubuntu</a:t>
            </a:r>
            <a:r>
              <a:rPr lang="en-US" b="1" dirty="0"/>
              <a:t> – Accessing the Router HTTP Page</a:t>
            </a:r>
          </a:p>
        </p:txBody>
      </p:sp>
      <p:sp>
        <p:nvSpPr>
          <p:cNvPr id="7" name="Rectangle 6"/>
          <p:cNvSpPr/>
          <p:nvPr/>
        </p:nvSpPr>
        <p:spPr>
          <a:xfrm>
            <a:off x="220171" y="886872"/>
            <a:ext cx="5123651" cy="646331"/>
          </a:xfrm>
          <a:prstGeom prst="rect">
            <a:avLst/>
          </a:prstGeom>
        </p:spPr>
        <p:txBody>
          <a:bodyPr wrap="square">
            <a:spAutoFit/>
          </a:bodyPr>
          <a:lstStyle/>
          <a:p>
            <a:pPr algn="just"/>
            <a:r>
              <a:rPr lang="en-US" dirty="0"/>
              <a:t>The browser is directed to the router's LAN address to test HTTP connectivity.</a:t>
            </a:r>
          </a:p>
        </p:txBody>
      </p:sp>
      <p:sp>
        <p:nvSpPr>
          <p:cNvPr id="8" name="Rectangle 7"/>
          <p:cNvSpPr/>
          <p:nvPr/>
        </p:nvSpPr>
        <p:spPr>
          <a:xfrm>
            <a:off x="220171" y="1717869"/>
            <a:ext cx="4894643" cy="369332"/>
          </a:xfrm>
          <a:prstGeom prst="rect">
            <a:avLst/>
          </a:prstGeom>
          <a:solidFill>
            <a:schemeClr val="accent3">
              <a:lumMod val="20000"/>
              <a:lumOff val="80000"/>
            </a:schemeClr>
          </a:solidFill>
        </p:spPr>
        <p:txBody>
          <a:bodyPr wrap="square">
            <a:spAutoFit/>
          </a:bodyPr>
          <a:lstStyle/>
          <a:p>
            <a:r>
              <a:rPr lang="en-US" dirty="0"/>
              <a:t>http://192.168.50.1</a:t>
            </a:r>
          </a:p>
        </p:txBody>
      </p:sp>
      <p:pic>
        <p:nvPicPr>
          <p:cNvPr id="2" name="Picture 1"/>
          <p:cNvPicPr>
            <a:picLocks noChangeAspect="1"/>
          </p:cNvPicPr>
          <p:nvPr/>
        </p:nvPicPr>
        <p:blipFill>
          <a:blip r:embed="rId2"/>
          <a:stretch>
            <a:fillRect/>
          </a:stretch>
        </p:blipFill>
        <p:spPr>
          <a:xfrm>
            <a:off x="220171" y="2457952"/>
            <a:ext cx="5123651" cy="2258927"/>
          </a:xfrm>
          <a:prstGeom prst="rect">
            <a:avLst/>
          </a:prstGeom>
        </p:spPr>
      </p:pic>
    </p:spTree>
    <p:extLst>
      <p:ext uri="{BB962C8B-B14F-4D97-AF65-F5344CB8AC3E}">
        <p14:creationId xmlns:p14="http://schemas.microsoft.com/office/powerpoint/2010/main" val="36588976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5" name="Rectangle 4"/>
          <p:cNvSpPr/>
          <p:nvPr/>
        </p:nvSpPr>
        <p:spPr>
          <a:xfrm>
            <a:off x="202328" y="895803"/>
            <a:ext cx="5255592" cy="2308324"/>
          </a:xfrm>
          <a:prstGeom prst="rect">
            <a:avLst/>
          </a:prstGeom>
        </p:spPr>
        <p:txBody>
          <a:bodyPr wrap="square">
            <a:spAutoFit/>
          </a:bodyPr>
          <a:lstStyle/>
          <a:p>
            <a:pPr algn="just"/>
            <a:r>
              <a:rPr lang="en-US" dirty="0"/>
              <a:t>The Windows client confirms DHCP functionality by successfully receiving an IP address from the router. In this lab, the client is assigned 192.168.50.11, indicating that the DHCP pool on R1 is operating correctly. The client also loads the router’s web interface both through its IP address and through the DNS hostname </a:t>
            </a:r>
            <a:r>
              <a:rPr lang="en-US" dirty="0" err="1"/>
              <a:t>test.lab</a:t>
            </a:r>
            <a:r>
              <a:rPr lang="en-US" dirty="0"/>
              <a:t>, confirming proper operation of both HTTP and DNS services in the network.</a:t>
            </a:r>
          </a:p>
        </p:txBody>
      </p:sp>
      <p:sp>
        <p:nvSpPr>
          <p:cNvPr id="7" name="Rectangle 6"/>
          <p:cNvSpPr/>
          <p:nvPr/>
        </p:nvSpPr>
        <p:spPr>
          <a:xfrm>
            <a:off x="5821976" y="895802"/>
            <a:ext cx="5888761" cy="1200329"/>
          </a:xfrm>
          <a:prstGeom prst="rect">
            <a:avLst/>
          </a:prstGeom>
        </p:spPr>
        <p:txBody>
          <a:bodyPr wrap="square">
            <a:spAutoFit/>
          </a:bodyPr>
          <a:lstStyle/>
          <a:p>
            <a:pPr algn="just"/>
            <a:r>
              <a:rPr lang="en-US" dirty="0"/>
              <a:t>Wireshark is installed on the </a:t>
            </a:r>
            <a:r>
              <a:rPr lang="en-US" dirty="0" err="1"/>
              <a:t>Xubuntu</a:t>
            </a:r>
            <a:r>
              <a:rPr lang="en-US" dirty="0"/>
              <a:t> client to capture and analyze network traffic generated in the lab. The client uses the default package manager to install the application, ensuring it is ready for packet monitoring.</a:t>
            </a:r>
          </a:p>
        </p:txBody>
      </p:sp>
      <p:sp>
        <p:nvSpPr>
          <p:cNvPr id="8" name="Rectangle 7"/>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pic>
        <p:nvPicPr>
          <p:cNvPr id="9" name="Picture 8"/>
          <p:cNvPicPr>
            <a:picLocks noChangeAspect="1"/>
          </p:cNvPicPr>
          <p:nvPr/>
        </p:nvPicPr>
        <p:blipFill>
          <a:blip r:embed="rId2"/>
          <a:stretch>
            <a:fillRect/>
          </a:stretch>
        </p:blipFill>
        <p:spPr>
          <a:xfrm>
            <a:off x="503767" y="4240928"/>
            <a:ext cx="4652712" cy="3253228"/>
          </a:xfrm>
          <a:prstGeom prst="rect">
            <a:avLst/>
          </a:prstGeom>
        </p:spPr>
      </p:pic>
      <p:sp>
        <p:nvSpPr>
          <p:cNvPr id="10" name="Title 1"/>
          <p:cNvSpPr txBox="1">
            <a:spLocks/>
          </p:cNvSpPr>
          <p:nvPr/>
        </p:nvSpPr>
        <p:spPr>
          <a:xfrm>
            <a:off x="5756006" y="515901"/>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1.8</a:t>
            </a:r>
            <a:r>
              <a:rPr lang="en-US" sz="2000" b="1" dirty="0">
                <a:solidFill>
                  <a:schemeClr val="bg1">
                    <a:lumMod val="75000"/>
                  </a:schemeClr>
                </a:solidFill>
              </a:rPr>
              <a:t>. </a:t>
            </a:r>
            <a:r>
              <a:rPr lang="en-US" sz="2000" b="1" dirty="0" err="1">
                <a:solidFill>
                  <a:schemeClr val="bg1">
                    <a:lumMod val="75000"/>
                  </a:schemeClr>
                </a:solidFill>
              </a:rPr>
              <a:t>Xubuntu</a:t>
            </a:r>
            <a:r>
              <a:rPr lang="en-US" sz="2000" b="1" dirty="0">
                <a:solidFill>
                  <a:schemeClr val="bg1">
                    <a:lumMod val="75000"/>
                  </a:schemeClr>
                </a:solidFill>
              </a:rPr>
              <a:t> Client – Wireshark Installation</a:t>
            </a:r>
            <a:endParaRPr lang="en-US" sz="2000" b="1" dirty="0">
              <a:solidFill>
                <a:schemeClr val="bg1">
                  <a:lumMod val="75000"/>
                </a:schemeClr>
              </a:solidFill>
            </a:endParaRPr>
          </a:p>
        </p:txBody>
      </p:sp>
      <p:sp>
        <p:nvSpPr>
          <p:cNvPr id="11" name="Rectangle 10"/>
          <p:cNvSpPr/>
          <p:nvPr/>
        </p:nvSpPr>
        <p:spPr>
          <a:xfrm>
            <a:off x="5821976" y="2195031"/>
            <a:ext cx="4894643" cy="923330"/>
          </a:xfrm>
          <a:prstGeom prst="rect">
            <a:avLst/>
          </a:prstGeom>
          <a:solidFill>
            <a:schemeClr val="accent3">
              <a:lumMod val="20000"/>
              <a:lumOff val="80000"/>
            </a:schemeClr>
          </a:solidFill>
        </p:spPr>
        <p:txBody>
          <a:bodyPr wrap="square">
            <a:spAutoFit/>
          </a:bodyPr>
          <a:lstStyle/>
          <a:p>
            <a:r>
              <a:rPr lang="en-US" dirty="0"/>
              <a:t>http://192.168.50.1</a:t>
            </a:r>
          </a:p>
          <a:p>
            <a:r>
              <a:rPr lang="en-US" dirty="0" err="1"/>
              <a:t>httpsudo</a:t>
            </a:r>
            <a:r>
              <a:rPr lang="en-US" dirty="0"/>
              <a:t> apt update</a:t>
            </a:r>
          </a:p>
          <a:p>
            <a:r>
              <a:rPr lang="en-US" dirty="0" err="1"/>
              <a:t>sudo</a:t>
            </a:r>
            <a:r>
              <a:rPr lang="en-US" dirty="0"/>
              <a:t> apt install </a:t>
            </a:r>
            <a:r>
              <a:rPr lang="en-US" dirty="0" err="1"/>
              <a:t>wireshark</a:t>
            </a:r>
            <a:r>
              <a:rPr lang="en-US" dirty="0"/>
              <a:t> -</a:t>
            </a:r>
            <a:r>
              <a:rPr lang="en-US" dirty="0" smtClean="0"/>
              <a:t>y</a:t>
            </a:r>
            <a:endParaRPr lang="en-US" dirty="0"/>
          </a:p>
        </p:txBody>
      </p:sp>
      <p:pic>
        <p:nvPicPr>
          <p:cNvPr id="12" name="Picture 11"/>
          <p:cNvPicPr>
            <a:picLocks noChangeAspect="1"/>
          </p:cNvPicPr>
          <p:nvPr/>
        </p:nvPicPr>
        <p:blipFill>
          <a:blip r:embed="rId3"/>
          <a:stretch>
            <a:fillRect/>
          </a:stretch>
        </p:blipFill>
        <p:spPr>
          <a:xfrm>
            <a:off x="5821976" y="3431303"/>
            <a:ext cx="6105525" cy="809625"/>
          </a:xfrm>
          <a:prstGeom prst="rect">
            <a:avLst/>
          </a:prstGeom>
        </p:spPr>
      </p:pic>
      <p:sp>
        <p:nvSpPr>
          <p:cNvPr id="13" name="Rectangle 12"/>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Tree>
    <p:extLst>
      <p:ext uri="{BB962C8B-B14F-4D97-AF65-F5344CB8AC3E}">
        <p14:creationId xmlns:p14="http://schemas.microsoft.com/office/powerpoint/2010/main" val="3701523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7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1.9</a:t>
            </a:r>
            <a:r>
              <a:rPr lang="en-US" sz="2000" b="1" dirty="0">
                <a:solidFill>
                  <a:schemeClr val="bg1">
                    <a:lumMod val="75000"/>
                  </a:schemeClr>
                </a:solidFill>
              </a:rPr>
              <a:t>. Full Connectivity Verification – Router, </a:t>
            </a:r>
            <a:r>
              <a:rPr lang="en-US" sz="2000" b="1" dirty="0" err="1">
                <a:solidFill>
                  <a:schemeClr val="bg1">
                    <a:lumMod val="75000"/>
                  </a:schemeClr>
                </a:solidFill>
              </a:rPr>
              <a:t>Xubuntu</a:t>
            </a:r>
            <a:r>
              <a:rPr lang="en-US" sz="2000" b="1" dirty="0">
                <a:solidFill>
                  <a:schemeClr val="bg1">
                    <a:lumMod val="75000"/>
                  </a:schemeClr>
                </a:solidFill>
              </a:rPr>
              <a:t> and Windows</a:t>
            </a:r>
            <a:endParaRPr lang="en-US" sz="2000" b="1" dirty="0">
              <a:solidFill>
                <a:schemeClr val="bg1">
                  <a:lumMod val="75000"/>
                </a:schemeClr>
              </a:solidFill>
            </a:endParaRPr>
          </a:p>
        </p:txBody>
      </p:sp>
      <p:sp>
        <p:nvSpPr>
          <p:cNvPr id="6" name="Rectangle 5"/>
          <p:cNvSpPr/>
          <p:nvPr/>
        </p:nvSpPr>
        <p:spPr>
          <a:xfrm>
            <a:off x="382802" y="2660698"/>
            <a:ext cx="4894643" cy="369332"/>
          </a:xfrm>
          <a:prstGeom prst="rect">
            <a:avLst/>
          </a:prstGeom>
          <a:solidFill>
            <a:schemeClr val="accent3">
              <a:lumMod val="20000"/>
              <a:lumOff val="80000"/>
            </a:schemeClr>
          </a:solidFill>
        </p:spPr>
        <p:txBody>
          <a:bodyPr wrap="square">
            <a:spAutoFit/>
          </a:bodyPr>
          <a:lstStyle/>
          <a:p>
            <a:r>
              <a:rPr lang="en-US" dirty="0"/>
              <a:t>ping 192.168.50.1</a:t>
            </a:r>
          </a:p>
        </p:txBody>
      </p:sp>
      <p:sp>
        <p:nvSpPr>
          <p:cNvPr id="7" name="Rectangle 6"/>
          <p:cNvSpPr/>
          <p:nvPr/>
        </p:nvSpPr>
        <p:spPr>
          <a:xfrm>
            <a:off x="202328" y="947253"/>
            <a:ext cx="5396367" cy="1200329"/>
          </a:xfrm>
          <a:prstGeom prst="rect">
            <a:avLst/>
          </a:prstGeom>
        </p:spPr>
        <p:txBody>
          <a:bodyPr wrap="square">
            <a:spAutoFit/>
          </a:bodyPr>
          <a:lstStyle/>
          <a:p>
            <a:pPr algn="just"/>
            <a:r>
              <a:rPr lang="en-US" dirty="0"/>
              <a:t>This step verifies clear end-to-end connectivity across the lab. Each device sends ICMP echo requests to the others to confirm that ARP and ICMP traffic are functioning before packet capture.</a:t>
            </a:r>
          </a:p>
        </p:txBody>
      </p:sp>
      <p:sp>
        <p:nvSpPr>
          <p:cNvPr id="8" name="Rectangle 7"/>
          <p:cNvSpPr/>
          <p:nvPr/>
        </p:nvSpPr>
        <p:spPr>
          <a:xfrm>
            <a:off x="202328" y="2219474"/>
            <a:ext cx="2956515" cy="369332"/>
          </a:xfrm>
          <a:prstGeom prst="rect">
            <a:avLst/>
          </a:prstGeom>
        </p:spPr>
        <p:txBody>
          <a:bodyPr wrap="none">
            <a:spAutoFit/>
          </a:bodyPr>
          <a:lstStyle/>
          <a:p>
            <a:r>
              <a:rPr lang="en-US" b="1" dirty="0"/>
              <a:t>From </a:t>
            </a:r>
            <a:r>
              <a:rPr lang="en-US" b="1" dirty="0" err="1"/>
              <a:t>Xubuntu</a:t>
            </a:r>
            <a:r>
              <a:rPr lang="en-US" b="1" dirty="0"/>
              <a:t> → Router (R1)</a:t>
            </a:r>
          </a:p>
        </p:txBody>
      </p:sp>
      <p:pic>
        <p:nvPicPr>
          <p:cNvPr id="9" name="Picture 8"/>
          <p:cNvPicPr>
            <a:picLocks noChangeAspect="1"/>
          </p:cNvPicPr>
          <p:nvPr/>
        </p:nvPicPr>
        <p:blipFill>
          <a:blip r:embed="rId2"/>
          <a:stretch>
            <a:fillRect/>
          </a:stretch>
        </p:blipFill>
        <p:spPr>
          <a:xfrm>
            <a:off x="382802" y="3101922"/>
            <a:ext cx="6086475" cy="1257300"/>
          </a:xfrm>
          <a:prstGeom prst="rect">
            <a:avLst/>
          </a:prstGeom>
        </p:spPr>
      </p:pic>
      <p:sp>
        <p:nvSpPr>
          <p:cNvPr id="10" name="Rectangle 9"/>
          <p:cNvSpPr/>
          <p:nvPr/>
        </p:nvSpPr>
        <p:spPr>
          <a:xfrm>
            <a:off x="382802" y="4609748"/>
            <a:ext cx="2762679" cy="369332"/>
          </a:xfrm>
          <a:prstGeom prst="rect">
            <a:avLst/>
          </a:prstGeom>
        </p:spPr>
        <p:txBody>
          <a:bodyPr wrap="none">
            <a:spAutoFit/>
          </a:bodyPr>
          <a:lstStyle/>
          <a:p>
            <a:r>
              <a:rPr lang="en-US" b="1" dirty="0"/>
              <a:t>From </a:t>
            </a:r>
            <a:r>
              <a:rPr lang="en-US" b="1" dirty="0" err="1"/>
              <a:t>Xubuntu</a:t>
            </a:r>
            <a:r>
              <a:rPr lang="en-US" b="1" dirty="0"/>
              <a:t> → Windows</a:t>
            </a:r>
          </a:p>
        </p:txBody>
      </p:sp>
      <p:sp>
        <p:nvSpPr>
          <p:cNvPr id="11" name="Rectangle 10"/>
          <p:cNvSpPr/>
          <p:nvPr/>
        </p:nvSpPr>
        <p:spPr>
          <a:xfrm>
            <a:off x="382802" y="4979080"/>
            <a:ext cx="4894643" cy="369332"/>
          </a:xfrm>
          <a:prstGeom prst="rect">
            <a:avLst/>
          </a:prstGeom>
          <a:solidFill>
            <a:schemeClr val="accent3">
              <a:lumMod val="20000"/>
              <a:lumOff val="80000"/>
            </a:schemeClr>
          </a:solidFill>
        </p:spPr>
        <p:txBody>
          <a:bodyPr wrap="square">
            <a:spAutoFit/>
          </a:bodyPr>
          <a:lstStyle/>
          <a:p>
            <a:r>
              <a:rPr lang="en-US" dirty="0"/>
              <a:t>ping 192.168.50.11</a:t>
            </a:r>
          </a:p>
        </p:txBody>
      </p:sp>
      <p:pic>
        <p:nvPicPr>
          <p:cNvPr id="12" name="Picture 11"/>
          <p:cNvPicPr>
            <a:picLocks noChangeAspect="1"/>
          </p:cNvPicPr>
          <p:nvPr/>
        </p:nvPicPr>
        <p:blipFill>
          <a:blip r:embed="rId3"/>
          <a:stretch>
            <a:fillRect/>
          </a:stretch>
        </p:blipFill>
        <p:spPr>
          <a:xfrm>
            <a:off x="382802" y="5463339"/>
            <a:ext cx="6096000" cy="1257300"/>
          </a:xfrm>
          <a:prstGeom prst="rect">
            <a:avLst/>
          </a:prstGeom>
        </p:spPr>
      </p:pic>
      <p:sp>
        <p:nvSpPr>
          <p:cNvPr id="13" name="Rectangle 12"/>
          <p:cNvSpPr/>
          <p:nvPr/>
        </p:nvSpPr>
        <p:spPr>
          <a:xfrm>
            <a:off x="6318381" y="1047962"/>
            <a:ext cx="4894643" cy="369332"/>
          </a:xfrm>
          <a:prstGeom prst="rect">
            <a:avLst/>
          </a:prstGeom>
          <a:solidFill>
            <a:schemeClr val="accent3">
              <a:lumMod val="20000"/>
              <a:lumOff val="80000"/>
            </a:schemeClr>
          </a:solidFill>
        </p:spPr>
        <p:txBody>
          <a:bodyPr wrap="square">
            <a:spAutoFit/>
          </a:bodyPr>
          <a:lstStyle/>
          <a:p>
            <a:r>
              <a:rPr lang="en-US" dirty="0"/>
              <a:t>ping 192.168.50.1</a:t>
            </a:r>
          </a:p>
        </p:txBody>
      </p:sp>
      <p:sp>
        <p:nvSpPr>
          <p:cNvPr id="14" name="Rectangle 13"/>
          <p:cNvSpPr/>
          <p:nvPr/>
        </p:nvSpPr>
        <p:spPr>
          <a:xfrm>
            <a:off x="6137907" y="606738"/>
            <a:ext cx="3036024" cy="369332"/>
          </a:xfrm>
          <a:prstGeom prst="rect">
            <a:avLst/>
          </a:prstGeom>
        </p:spPr>
        <p:txBody>
          <a:bodyPr wrap="none">
            <a:spAutoFit/>
          </a:bodyPr>
          <a:lstStyle/>
          <a:p>
            <a:r>
              <a:rPr lang="en-US" b="1" dirty="0"/>
              <a:t>From Windows → Router (R1)</a:t>
            </a:r>
          </a:p>
        </p:txBody>
      </p:sp>
      <p:pic>
        <p:nvPicPr>
          <p:cNvPr id="15" name="Picture 14"/>
          <p:cNvPicPr>
            <a:picLocks noChangeAspect="1"/>
          </p:cNvPicPr>
          <p:nvPr/>
        </p:nvPicPr>
        <p:blipFill>
          <a:blip r:embed="rId4"/>
          <a:stretch>
            <a:fillRect/>
          </a:stretch>
        </p:blipFill>
        <p:spPr>
          <a:xfrm>
            <a:off x="6649751" y="1502863"/>
            <a:ext cx="7972425" cy="1790700"/>
          </a:xfrm>
          <a:prstGeom prst="rect">
            <a:avLst/>
          </a:prstGeom>
        </p:spPr>
      </p:pic>
      <p:sp>
        <p:nvSpPr>
          <p:cNvPr id="16" name="Rectangle 15"/>
          <p:cNvSpPr/>
          <p:nvPr/>
        </p:nvSpPr>
        <p:spPr>
          <a:xfrm>
            <a:off x="6649751" y="3901448"/>
            <a:ext cx="4894643" cy="369332"/>
          </a:xfrm>
          <a:prstGeom prst="rect">
            <a:avLst/>
          </a:prstGeom>
          <a:solidFill>
            <a:schemeClr val="accent3">
              <a:lumMod val="20000"/>
              <a:lumOff val="80000"/>
            </a:schemeClr>
          </a:solidFill>
        </p:spPr>
        <p:txBody>
          <a:bodyPr wrap="square">
            <a:spAutoFit/>
          </a:bodyPr>
          <a:lstStyle/>
          <a:p>
            <a:r>
              <a:rPr lang="en-US" dirty="0"/>
              <a:t>ping 192.168.50.10</a:t>
            </a:r>
          </a:p>
        </p:txBody>
      </p:sp>
      <p:sp>
        <p:nvSpPr>
          <p:cNvPr id="17" name="Rectangle 16"/>
          <p:cNvSpPr/>
          <p:nvPr/>
        </p:nvSpPr>
        <p:spPr>
          <a:xfrm>
            <a:off x="6469277" y="3460224"/>
            <a:ext cx="2762679" cy="369332"/>
          </a:xfrm>
          <a:prstGeom prst="rect">
            <a:avLst/>
          </a:prstGeom>
        </p:spPr>
        <p:txBody>
          <a:bodyPr wrap="none">
            <a:spAutoFit/>
          </a:bodyPr>
          <a:lstStyle/>
          <a:p>
            <a:r>
              <a:rPr lang="en-US" b="1" dirty="0"/>
              <a:t>From Windows → </a:t>
            </a:r>
            <a:r>
              <a:rPr lang="en-US" b="1" dirty="0" err="1"/>
              <a:t>Xubuntu</a:t>
            </a:r>
            <a:endParaRPr lang="en-US" b="1" dirty="0"/>
          </a:p>
        </p:txBody>
      </p:sp>
      <p:pic>
        <p:nvPicPr>
          <p:cNvPr id="18" name="Picture 17"/>
          <p:cNvPicPr>
            <a:picLocks noChangeAspect="1"/>
          </p:cNvPicPr>
          <p:nvPr/>
        </p:nvPicPr>
        <p:blipFill>
          <a:blip r:embed="rId5"/>
          <a:stretch>
            <a:fillRect/>
          </a:stretch>
        </p:blipFill>
        <p:spPr>
          <a:xfrm>
            <a:off x="6819789" y="4467349"/>
            <a:ext cx="7000875" cy="1762125"/>
          </a:xfrm>
          <a:prstGeom prst="rect">
            <a:avLst/>
          </a:prstGeom>
        </p:spPr>
      </p:pic>
    </p:spTree>
    <p:extLst>
      <p:ext uri="{BB962C8B-B14F-4D97-AF65-F5344CB8AC3E}">
        <p14:creationId xmlns:p14="http://schemas.microsoft.com/office/powerpoint/2010/main" val="6468738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7" name="Rectangle 6"/>
          <p:cNvSpPr/>
          <p:nvPr/>
        </p:nvSpPr>
        <p:spPr>
          <a:xfrm>
            <a:off x="202328" y="1008154"/>
            <a:ext cx="4894643" cy="646331"/>
          </a:xfrm>
          <a:prstGeom prst="rect">
            <a:avLst/>
          </a:prstGeom>
          <a:solidFill>
            <a:schemeClr val="accent3">
              <a:lumMod val="20000"/>
              <a:lumOff val="80000"/>
            </a:schemeClr>
          </a:solidFill>
        </p:spPr>
        <p:txBody>
          <a:bodyPr wrap="square">
            <a:spAutoFit/>
          </a:bodyPr>
          <a:lstStyle/>
          <a:p>
            <a:r>
              <a:rPr lang="en-US" dirty="0"/>
              <a:t>ping 192.168.50.10</a:t>
            </a:r>
          </a:p>
          <a:p>
            <a:r>
              <a:rPr lang="en-US" dirty="0"/>
              <a:t>ping 192.168.50.11</a:t>
            </a:r>
          </a:p>
        </p:txBody>
      </p:sp>
      <p:sp>
        <p:nvSpPr>
          <p:cNvPr id="8" name="Rectangle 7"/>
          <p:cNvSpPr/>
          <p:nvPr/>
        </p:nvSpPr>
        <p:spPr>
          <a:xfrm>
            <a:off x="202328" y="638822"/>
            <a:ext cx="3290709" cy="369332"/>
          </a:xfrm>
          <a:prstGeom prst="rect">
            <a:avLst/>
          </a:prstGeom>
        </p:spPr>
        <p:txBody>
          <a:bodyPr wrap="none">
            <a:spAutoFit/>
          </a:bodyPr>
          <a:lstStyle/>
          <a:p>
            <a:r>
              <a:rPr lang="en-US" b="1" dirty="0"/>
              <a:t>From Router (R1) → Both Clients</a:t>
            </a:r>
          </a:p>
        </p:txBody>
      </p:sp>
      <p:pic>
        <p:nvPicPr>
          <p:cNvPr id="2" name="Picture 1"/>
          <p:cNvPicPr>
            <a:picLocks noChangeAspect="1"/>
          </p:cNvPicPr>
          <p:nvPr/>
        </p:nvPicPr>
        <p:blipFill>
          <a:blip r:embed="rId2"/>
          <a:stretch>
            <a:fillRect/>
          </a:stretch>
        </p:blipFill>
        <p:spPr>
          <a:xfrm>
            <a:off x="202328" y="1769902"/>
            <a:ext cx="7467600" cy="1952625"/>
          </a:xfrm>
          <a:prstGeom prst="rect">
            <a:avLst/>
          </a:prstGeom>
        </p:spPr>
      </p:pic>
    </p:spTree>
    <p:extLst>
      <p:ext uri="{BB962C8B-B14F-4D97-AF65-F5344CB8AC3E}">
        <p14:creationId xmlns:p14="http://schemas.microsoft.com/office/powerpoint/2010/main" val="4129155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46850" y="646794"/>
            <a:ext cx="5255592" cy="379901"/>
          </a:xfrm>
          <a:prstGeom prst="rect">
            <a:avLst/>
          </a:prstGeom>
        </p:spPr>
        <p:txBody>
          <a:bodyPr vert="horz" lIns="81280" tIns="40640" rIns="81280" bIns="4064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chemeClr val="bg1">
                    <a:lumMod val="75000"/>
                  </a:schemeClr>
                </a:solidFill>
              </a:rPr>
              <a:t>2</a:t>
            </a:r>
            <a:r>
              <a:rPr lang="en-US" sz="2400" b="1" dirty="0" smtClean="0">
                <a:solidFill>
                  <a:schemeClr val="bg1">
                    <a:lumMod val="75000"/>
                  </a:schemeClr>
                </a:solidFill>
              </a:rPr>
              <a:t>. </a:t>
            </a:r>
            <a:r>
              <a:rPr lang="en-US" sz="2400" b="1" dirty="0">
                <a:solidFill>
                  <a:schemeClr val="bg1">
                    <a:lumMod val="75000"/>
                  </a:schemeClr>
                </a:solidFill>
              </a:rPr>
              <a:t>Packet Capture and Protocol Observation</a:t>
            </a:r>
            <a:endParaRPr lang="en-US" sz="2400" b="1" dirty="0">
              <a:solidFill>
                <a:schemeClr val="bg1">
                  <a:lumMod val="75000"/>
                </a:schemeClr>
              </a:solidFill>
            </a:endParaRPr>
          </a:p>
        </p:txBody>
      </p:sp>
      <p:sp>
        <p:nvSpPr>
          <p:cNvPr id="6" name="Rectangle 5"/>
          <p:cNvSpPr/>
          <p:nvPr/>
        </p:nvSpPr>
        <p:spPr>
          <a:xfrm>
            <a:off x="561473" y="1026695"/>
            <a:ext cx="5165559" cy="3970318"/>
          </a:xfrm>
          <a:prstGeom prst="rect">
            <a:avLst/>
          </a:prstGeom>
        </p:spPr>
        <p:txBody>
          <a:bodyPr wrap="square">
            <a:spAutoFit/>
          </a:bodyPr>
          <a:lstStyle/>
          <a:p>
            <a:pPr algn="just"/>
            <a:r>
              <a:rPr lang="en-US" dirty="0"/>
              <a:t>Wireshark captures every packet that moves across the interface and shows it in real time. Each line represents one packet with the time it appears, the source, the destination, the protocol, and simple information about what the packet does. In this chapter, the capture runs without filters, so the user can see natural traffic such as ARP, DNS, ICMP, UDP, TCP, and HTTP. Basic actions like pinging between clients, pinging the router, or opening the </a:t>
            </a:r>
            <a:r>
              <a:rPr lang="en-US" dirty="0" err="1"/>
              <a:t>test.lab</a:t>
            </a:r>
            <a:r>
              <a:rPr lang="en-US" dirty="0"/>
              <a:t> page generate packets, and Wireshark displays them in the order they arrive. This introduction helps the user understand how common protocols appear during normal communication and how the network behaves when devices send or receive data.</a:t>
            </a:r>
          </a:p>
        </p:txBody>
      </p:sp>
      <p:pic>
        <p:nvPicPr>
          <p:cNvPr id="2" name="Picture 1"/>
          <p:cNvPicPr>
            <a:picLocks noChangeAspect="1"/>
          </p:cNvPicPr>
          <p:nvPr/>
        </p:nvPicPr>
        <p:blipFill>
          <a:blip r:embed="rId2"/>
          <a:stretch>
            <a:fillRect/>
          </a:stretch>
        </p:blipFill>
        <p:spPr>
          <a:xfrm>
            <a:off x="5893031" y="1363578"/>
            <a:ext cx="6067077" cy="2828424"/>
          </a:xfrm>
          <a:prstGeom prst="rect">
            <a:avLst/>
          </a:prstGeom>
        </p:spPr>
      </p:pic>
    </p:spTree>
    <p:extLst>
      <p:ext uri="{BB962C8B-B14F-4D97-AF65-F5344CB8AC3E}">
        <p14:creationId xmlns:p14="http://schemas.microsoft.com/office/powerpoint/2010/main" val="10508555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7" name="Title 1"/>
          <p:cNvSpPr txBox="1">
            <a:spLocks/>
          </p:cNvSpPr>
          <p:nvPr/>
        </p:nvSpPr>
        <p:spPr>
          <a:xfrm>
            <a:off x="378792" y="740493"/>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chemeClr val="bg1">
                    <a:lumMod val="75000"/>
                  </a:schemeClr>
                </a:solidFill>
              </a:rPr>
              <a:t>2</a:t>
            </a:r>
            <a:r>
              <a:rPr lang="en-US" sz="2400" b="1" dirty="0" smtClean="0">
                <a:solidFill>
                  <a:schemeClr val="bg1">
                    <a:lumMod val="75000"/>
                  </a:schemeClr>
                </a:solidFill>
              </a:rPr>
              <a:t>.1</a:t>
            </a:r>
            <a:r>
              <a:rPr lang="en-US" sz="2400" b="1" dirty="0">
                <a:solidFill>
                  <a:schemeClr val="bg1">
                    <a:lumMod val="75000"/>
                  </a:schemeClr>
                </a:solidFill>
              </a:rPr>
              <a:t>. Protocol </a:t>
            </a:r>
            <a:endParaRPr lang="en-US" sz="2400" b="1" dirty="0">
              <a:solidFill>
                <a:schemeClr val="bg1">
                  <a:lumMod val="75000"/>
                </a:schemeClr>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894533563"/>
              </p:ext>
            </p:extLst>
          </p:nvPr>
        </p:nvGraphicFramePr>
        <p:xfrm>
          <a:off x="378792" y="1120394"/>
          <a:ext cx="6615566" cy="4580680"/>
        </p:xfrm>
        <a:graphic>
          <a:graphicData uri="http://schemas.openxmlformats.org/drawingml/2006/table">
            <a:tbl>
              <a:tblPr/>
              <a:tblGrid>
                <a:gridCol w="710497">
                  <a:extLst>
                    <a:ext uri="{9D8B030D-6E8A-4147-A177-3AD203B41FA5}">
                      <a16:colId xmlns:a16="http://schemas.microsoft.com/office/drawing/2014/main" val="1990258223"/>
                    </a:ext>
                  </a:extLst>
                </a:gridCol>
                <a:gridCol w="1676841">
                  <a:extLst>
                    <a:ext uri="{9D8B030D-6E8A-4147-A177-3AD203B41FA5}">
                      <a16:colId xmlns:a16="http://schemas.microsoft.com/office/drawing/2014/main" val="122526534"/>
                    </a:ext>
                  </a:extLst>
                </a:gridCol>
                <a:gridCol w="4228228">
                  <a:extLst>
                    <a:ext uri="{9D8B030D-6E8A-4147-A177-3AD203B41FA5}">
                      <a16:colId xmlns:a16="http://schemas.microsoft.com/office/drawing/2014/main" val="3475592786"/>
                    </a:ext>
                  </a:extLst>
                </a:gridCol>
              </a:tblGrid>
              <a:tr h="294712">
                <a:tc>
                  <a:txBody>
                    <a:bodyPr/>
                    <a:lstStyle/>
                    <a:p>
                      <a:r>
                        <a:rPr lang="en-US" sz="1400" b="1">
                          <a:effectLst/>
                        </a:rPr>
                        <a:t>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b="1">
                          <a:effectLst/>
                        </a:rPr>
                        <a:t>Full Name</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b="1">
                          <a:effectLst/>
                        </a:rPr>
                        <a:t>Meaning / Simple Explanation</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33688589"/>
                  </a:ext>
                </a:extLst>
              </a:tr>
              <a:tr h="710776">
                <a:tc>
                  <a:txBody>
                    <a:bodyPr/>
                    <a:lstStyle/>
                    <a:p>
                      <a:r>
                        <a:rPr lang="en-US" sz="1400" b="1">
                          <a:effectLst/>
                        </a:rPr>
                        <a:t>ARP</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Address Resolution 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Maps an IP address to a MAC address so devices can communicate inside the LAN.</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851235410"/>
                  </a:ext>
                </a:extLst>
              </a:tr>
              <a:tr h="502744">
                <a:tc>
                  <a:txBody>
                    <a:bodyPr/>
                    <a:lstStyle/>
                    <a:p>
                      <a:r>
                        <a:rPr lang="en-US" sz="1400" b="1">
                          <a:effectLst/>
                        </a:rPr>
                        <a:t>DNS</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a:effectLst/>
                        </a:rPr>
                        <a:t>Domain Name System</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a:effectLst/>
                        </a:rPr>
                        <a:t>Translates domain names (e.g., test.lab) into IP addresses.</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59577589"/>
                  </a:ext>
                </a:extLst>
              </a:tr>
              <a:tr h="710776">
                <a:tc>
                  <a:txBody>
                    <a:bodyPr/>
                    <a:lstStyle/>
                    <a:p>
                      <a:r>
                        <a:rPr lang="en-US" sz="1400" b="1">
                          <a:effectLst/>
                        </a:rPr>
                        <a:t>ICMP</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Internet Control Message 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Used for connectivity testing (ping), error messages, and basic diagnostics.</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13264652"/>
                  </a:ext>
                </a:extLst>
              </a:tr>
              <a:tr h="710776">
                <a:tc>
                  <a:txBody>
                    <a:bodyPr/>
                    <a:lstStyle/>
                    <a:p>
                      <a:r>
                        <a:rPr lang="en-US" sz="1400" b="1">
                          <a:effectLst/>
                        </a:rPr>
                        <a:t>UDP</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a:effectLst/>
                        </a:rPr>
                        <a:t>User Datagram 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a:effectLst/>
                        </a:rPr>
                        <a:t>Fast, lightweight transport without acknowledgments. Used by DNS and similar services.</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802033333"/>
                  </a:ext>
                </a:extLst>
              </a:tr>
              <a:tr h="710776">
                <a:tc>
                  <a:txBody>
                    <a:bodyPr/>
                    <a:lstStyle/>
                    <a:p>
                      <a:r>
                        <a:rPr lang="en-US" sz="1400" b="1">
                          <a:effectLst/>
                        </a:rPr>
                        <a:t>TCP</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Transmission Control 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sz="1400">
                          <a:effectLst/>
                        </a:rPr>
                        <a:t>Reliable transport with handshake, acknowledgments, and ordered delivery.</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06961132"/>
                  </a:ext>
                </a:extLst>
              </a:tr>
              <a:tr h="710776">
                <a:tc>
                  <a:txBody>
                    <a:bodyPr/>
                    <a:lstStyle/>
                    <a:p>
                      <a:r>
                        <a:rPr lang="en-US" sz="1400" b="1">
                          <a:effectLst/>
                        </a:rPr>
                        <a:t>HTTP</a:t>
                      </a:r>
                      <a:endParaRPr lang="en-US" sz="1400">
                        <a:effectLst/>
                      </a:endParaRP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a:effectLst/>
                        </a:rPr>
                        <a:t>Hypertext Transfer Protocol</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sz="1400" dirty="0">
                          <a:effectLst/>
                        </a:rPr>
                        <a:t>Web protocol for client–server communication (GET requests and responses).</a:t>
                      </a:r>
                    </a:p>
                  </a:txBody>
                  <a:tcPr marL="93903" marR="93903" marT="43340" marB="4334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60515798"/>
                  </a:ext>
                </a:extLst>
              </a:tr>
            </a:tbl>
          </a:graphicData>
        </a:graphic>
      </p:graphicFrame>
      <p:sp>
        <p:nvSpPr>
          <p:cNvPr id="8" name="Title 1"/>
          <p:cNvSpPr txBox="1">
            <a:spLocks/>
          </p:cNvSpPr>
          <p:nvPr/>
        </p:nvSpPr>
        <p:spPr>
          <a:xfrm>
            <a:off x="6994358" y="707490"/>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a:solidFill>
                  <a:schemeClr val="bg1">
                    <a:lumMod val="75000"/>
                  </a:schemeClr>
                </a:solidFill>
              </a:rPr>
              <a:t>2</a:t>
            </a:r>
            <a:r>
              <a:rPr lang="en-US" sz="2400" b="1" dirty="0" smtClean="0">
                <a:solidFill>
                  <a:schemeClr val="bg1">
                    <a:lumMod val="75000"/>
                  </a:schemeClr>
                </a:solidFill>
              </a:rPr>
              <a:t>.2</a:t>
            </a:r>
            <a:r>
              <a:rPr lang="en-US" sz="2400" b="1" dirty="0">
                <a:solidFill>
                  <a:schemeClr val="bg1">
                    <a:lumMod val="75000"/>
                  </a:schemeClr>
                </a:solidFill>
              </a:rPr>
              <a:t>. Addressing Table</a:t>
            </a:r>
            <a:endParaRPr lang="en-US" sz="2400" b="1" dirty="0">
              <a:solidFill>
                <a:schemeClr val="bg1">
                  <a:lumMod val="75000"/>
                </a:schemeClr>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234715828"/>
              </p:ext>
            </p:extLst>
          </p:nvPr>
        </p:nvGraphicFramePr>
        <p:xfrm>
          <a:off x="7427494" y="1277341"/>
          <a:ext cx="3669632" cy="1554480"/>
        </p:xfrm>
        <a:graphic>
          <a:graphicData uri="http://schemas.openxmlformats.org/drawingml/2006/table">
            <a:tbl>
              <a:tblPr/>
              <a:tblGrid>
                <a:gridCol w="1834816">
                  <a:extLst>
                    <a:ext uri="{9D8B030D-6E8A-4147-A177-3AD203B41FA5}">
                      <a16:colId xmlns:a16="http://schemas.microsoft.com/office/drawing/2014/main" val="3838053687"/>
                    </a:ext>
                  </a:extLst>
                </a:gridCol>
                <a:gridCol w="1834816">
                  <a:extLst>
                    <a:ext uri="{9D8B030D-6E8A-4147-A177-3AD203B41FA5}">
                      <a16:colId xmlns:a16="http://schemas.microsoft.com/office/drawing/2014/main" val="1592838415"/>
                    </a:ext>
                  </a:extLst>
                </a:gridCol>
              </a:tblGrid>
              <a:tr h="0">
                <a:tc>
                  <a:txBody>
                    <a:bodyPr/>
                    <a:lstStyle/>
                    <a:p>
                      <a:r>
                        <a:rPr lang="en-US" b="1">
                          <a:effectLst/>
                        </a:rPr>
                        <a:t>Device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b="1">
                          <a:effectLst/>
                        </a:rPr>
                        <a:t>IP Address</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3808061"/>
                  </a:ext>
                </a:extLst>
              </a:tr>
              <a:tr h="0">
                <a:tc>
                  <a:txBody>
                    <a:bodyPr/>
                    <a:lstStyle/>
                    <a:p>
                      <a:r>
                        <a:rPr lang="en-US">
                          <a:effectLst/>
                        </a:rPr>
                        <a:t>Xubuntu-client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a:effectLst/>
                        </a:rPr>
                        <a:t>192.168.50.10</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15590219"/>
                  </a:ext>
                </a:extLst>
              </a:tr>
              <a:tr h="0">
                <a:tc>
                  <a:txBody>
                    <a:bodyPr/>
                    <a:lstStyle/>
                    <a:p>
                      <a:r>
                        <a:rPr lang="en-US">
                          <a:effectLst/>
                        </a:rPr>
                        <a:t>Windows-client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a:effectLst/>
                        </a:rPr>
                        <a:t>192.168.50.11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912061199"/>
                  </a:ext>
                </a:extLst>
              </a:tr>
              <a:tr h="0">
                <a:tc>
                  <a:txBody>
                    <a:bodyPr/>
                    <a:lstStyle/>
                    <a:p>
                      <a:r>
                        <a:rPr lang="en-US">
                          <a:effectLst/>
                        </a:rPr>
                        <a:t>Router (R1)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dirty="0">
                          <a:effectLst/>
                        </a:rPr>
                        <a:t>192.168.50.1</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80371099"/>
                  </a:ext>
                </a:extLst>
              </a:tr>
            </a:tbl>
          </a:graphicData>
        </a:graphic>
      </p:graphicFrame>
    </p:spTree>
    <p:extLst>
      <p:ext uri="{BB962C8B-B14F-4D97-AF65-F5344CB8AC3E}">
        <p14:creationId xmlns:p14="http://schemas.microsoft.com/office/powerpoint/2010/main" val="34283326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198723" y="2527514"/>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2.4</a:t>
            </a:r>
            <a:r>
              <a:rPr lang="en-US" sz="2400" b="1" dirty="0">
                <a:solidFill>
                  <a:schemeClr val="bg1">
                    <a:lumMod val="75000"/>
                  </a:schemeClr>
                </a:solidFill>
              </a:rPr>
              <a:t>. Full Packet View</a:t>
            </a:r>
            <a:endParaRPr lang="en-US" sz="2400" b="1" dirty="0">
              <a:solidFill>
                <a:schemeClr val="bg1">
                  <a:lumMod val="75000"/>
                </a:schemeClr>
              </a:solidFill>
            </a:endParaRPr>
          </a:p>
        </p:txBody>
      </p:sp>
      <p:sp>
        <p:nvSpPr>
          <p:cNvPr id="6" name="Rectangle 5"/>
          <p:cNvSpPr/>
          <p:nvPr/>
        </p:nvSpPr>
        <p:spPr>
          <a:xfrm>
            <a:off x="288756" y="2907415"/>
            <a:ext cx="5165559" cy="2585323"/>
          </a:xfrm>
          <a:prstGeom prst="rect">
            <a:avLst/>
          </a:prstGeom>
        </p:spPr>
        <p:txBody>
          <a:bodyPr wrap="square">
            <a:spAutoFit/>
          </a:bodyPr>
          <a:lstStyle/>
          <a:p>
            <a:pPr algn="just"/>
            <a:r>
              <a:rPr lang="en-US" dirty="0"/>
              <a:t>Wireshark shows all captured packets in the main list at the top. Each line represents one packet with its time, source, destination, protocol, and basic information. The lower left panel displays the structured details of the selected packet, such as Ethernet, IP, or TCP fields. The lower right panel shows the raw packet data in hexadecimal and ASCII form. Together, these views provide a complete picture of how the packet looks on every layer.</a:t>
            </a:r>
          </a:p>
        </p:txBody>
      </p:sp>
      <p:sp>
        <p:nvSpPr>
          <p:cNvPr id="10" name="Title 1"/>
          <p:cNvSpPr txBox="1">
            <a:spLocks/>
          </p:cNvSpPr>
          <p:nvPr/>
        </p:nvSpPr>
        <p:spPr>
          <a:xfrm>
            <a:off x="198723" y="357225"/>
            <a:ext cx="5255592" cy="379901"/>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b="1" dirty="0" smtClean="0">
                <a:solidFill>
                  <a:schemeClr val="bg1">
                    <a:lumMod val="75000"/>
                  </a:schemeClr>
                </a:solidFill>
              </a:rPr>
              <a:t>2.3. Step</a:t>
            </a:r>
            <a:endParaRPr lang="en-US" sz="2400" b="1" dirty="0">
              <a:solidFill>
                <a:schemeClr val="bg1">
                  <a:lumMod val="75000"/>
                </a:schemeClr>
              </a:solidFill>
            </a:endParaRPr>
          </a:p>
        </p:txBody>
      </p:sp>
      <p:sp>
        <p:nvSpPr>
          <p:cNvPr id="11" name="Rectangle 10"/>
          <p:cNvSpPr/>
          <p:nvPr/>
        </p:nvSpPr>
        <p:spPr>
          <a:xfrm>
            <a:off x="198723" y="737126"/>
            <a:ext cx="6096000" cy="1600438"/>
          </a:xfrm>
          <a:prstGeom prst="rect">
            <a:avLst/>
          </a:prstGeom>
        </p:spPr>
        <p:txBody>
          <a:bodyPr>
            <a:spAutoFit/>
          </a:bodyPr>
          <a:lstStyle/>
          <a:p>
            <a:pPr marL="342900" indent="-342900">
              <a:buFont typeface="+mj-lt"/>
              <a:buAutoNum type="alphaLcParenR"/>
            </a:pPr>
            <a:r>
              <a:rPr lang="en-US" sz="1400" dirty="0"/>
              <a:t>Start packet capture on the </a:t>
            </a:r>
            <a:r>
              <a:rPr lang="en-US" sz="1400" dirty="0" err="1"/>
              <a:t>Xubuntu</a:t>
            </a:r>
            <a:r>
              <a:rPr lang="en-US" sz="1400" dirty="0"/>
              <a:t> interface without filters.</a:t>
            </a:r>
          </a:p>
          <a:p>
            <a:pPr marL="342900" indent="-342900">
              <a:buFont typeface="+mj-lt"/>
              <a:buAutoNum type="alphaLcParenR"/>
            </a:pPr>
            <a:r>
              <a:rPr lang="en-US" sz="1400" dirty="0" smtClean="0"/>
              <a:t>See </a:t>
            </a:r>
            <a:r>
              <a:rPr lang="en-US" sz="1400" dirty="0"/>
              <a:t>how ARP packets appear when devices communicate on the local network.</a:t>
            </a:r>
          </a:p>
          <a:p>
            <a:pPr marL="342900" indent="-342900">
              <a:buFont typeface="+mj-lt"/>
              <a:buAutoNum type="alphaLcParenR"/>
            </a:pPr>
            <a:r>
              <a:rPr lang="en-US" sz="1400" dirty="0" smtClean="0"/>
              <a:t>See </a:t>
            </a:r>
            <a:r>
              <a:rPr lang="en-US" sz="1400" dirty="0"/>
              <a:t>how DNS packets appear when a domain name is requested.</a:t>
            </a:r>
          </a:p>
          <a:p>
            <a:pPr marL="342900" indent="-342900">
              <a:buFont typeface="+mj-lt"/>
              <a:buAutoNum type="alphaLcParenR"/>
            </a:pPr>
            <a:r>
              <a:rPr lang="en-US" sz="1400" dirty="0" smtClean="0"/>
              <a:t>See </a:t>
            </a:r>
            <a:r>
              <a:rPr lang="en-US" sz="1400" dirty="0"/>
              <a:t>how ICMP packets appear when a device is reached with ping.</a:t>
            </a:r>
          </a:p>
          <a:p>
            <a:pPr marL="342900" indent="-342900">
              <a:buFont typeface="+mj-lt"/>
              <a:buAutoNum type="alphaLcParenR"/>
            </a:pPr>
            <a:r>
              <a:rPr lang="en-US" sz="1400" dirty="0" smtClean="0"/>
              <a:t>See </a:t>
            </a:r>
            <a:r>
              <a:rPr lang="en-US" sz="1400" dirty="0"/>
              <a:t>how UDP packets appear </a:t>
            </a:r>
            <a:r>
              <a:rPr lang="en-US" sz="1400" dirty="0" err="1"/>
              <a:t>appear</a:t>
            </a:r>
            <a:r>
              <a:rPr lang="en-US" sz="1400" dirty="0"/>
              <a:t> when a webpage is opened.</a:t>
            </a:r>
          </a:p>
          <a:p>
            <a:pPr marL="342900" indent="-342900">
              <a:buFont typeface="+mj-lt"/>
              <a:buAutoNum type="alphaLcParenR"/>
            </a:pPr>
            <a:r>
              <a:rPr lang="en-US" sz="1400" dirty="0" smtClean="0"/>
              <a:t>See </a:t>
            </a:r>
            <a:r>
              <a:rPr lang="en-US" sz="1400" dirty="0"/>
              <a:t>how TCP and HTTP packets appear when a webpage is opened.</a:t>
            </a:r>
            <a:endParaRPr lang="en-US" sz="1200" dirty="0"/>
          </a:p>
        </p:txBody>
      </p:sp>
      <p:sp>
        <p:nvSpPr>
          <p:cNvPr id="12" name="Rectangle 11"/>
          <p:cNvSpPr/>
          <p:nvPr/>
        </p:nvSpPr>
        <p:spPr>
          <a:xfrm>
            <a:off x="288756" y="5549473"/>
            <a:ext cx="4894643" cy="369332"/>
          </a:xfrm>
          <a:prstGeom prst="rect">
            <a:avLst/>
          </a:prstGeom>
          <a:solidFill>
            <a:schemeClr val="accent3">
              <a:lumMod val="20000"/>
              <a:lumOff val="80000"/>
            </a:schemeClr>
          </a:solidFill>
        </p:spPr>
        <p:txBody>
          <a:bodyPr wrap="square">
            <a:spAutoFit/>
          </a:bodyPr>
          <a:lstStyle/>
          <a:p>
            <a:r>
              <a:rPr lang="en-US" dirty="0" err="1"/>
              <a:t>wireshark</a:t>
            </a:r>
            <a:endParaRPr lang="en-US" dirty="0"/>
          </a:p>
        </p:txBody>
      </p:sp>
      <p:pic>
        <p:nvPicPr>
          <p:cNvPr id="2" name="Picture 1"/>
          <p:cNvPicPr>
            <a:picLocks noChangeAspect="1"/>
          </p:cNvPicPr>
          <p:nvPr/>
        </p:nvPicPr>
        <p:blipFill>
          <a:blip r:embed="rId2"/>
          <a:stretch>
            <a:fillRect/>
          </a:stretch>
        </p:blipFill>
        <p:spPr>
          <a:xfrm>
            <a:off x="288756" y="5975540"/>
            <a:ext cx="6267450" cy="638175"/>
          </a:xfrm>
          <a:prstGeom prst="rect">
            <a:avLst/>
          </a:prstGeom>
        </p:spPr>
      </p:pic>
      <p:sp>
        <p:nvSpPr>
          <p:cNvPr id="3" name="Rectangle 2"/>
          <p:cNvSpPr/>
          <p:nvPr/>
        </p:nvSpPr>
        <p:spPr>
          <a:xfrm>
            <a:off x="6096000" y="644792"/>
            <a:ext cx="5662863" cy="1323439"/>
          </a:xfrm>
          <a:prstGeom prst="rect">
            <a:avLst/>
          </a:prstGeom>
        </p:spPr>
        <p:txBody>
          <a:bodyPr wrap="square">
            <a:spAutoFit/>
          </a:bodyPr>
          <a:lstStyle/>
          <a:p>
            <a:pPr algn="just"/>
            <a:r>
              <a:rPr lang="en-US" sz="1600" dirty="0"/>
              <a:t>After starting Wireshark, a list of available network interfaces appears. Each interface represents a network path that the system can capture from. In this environment, the active interface is named ens3, and it is used to monitor all traffic coming from and going to the virtual machine.</a:t>
            </a:r>
          </a:p>
        </p:txBody>
      </p:sp>
      <p:sp>
        <p:nvSpPr>
          <p:cNvPr id="13" name="Rectangle 12"/>
          <p:cNvSpPr/>
          <p:nvPr/>
        </p:nvSpPr>
        <p:spPr>
          <a:xfrm>
            <a:off x="6096000" y="2095483"/>
            <a:ext cx="4894643" cy="369332"/>
          </a:xfrm>
          <a:prstGeom prst="rect">
            <a:avLst/>
          </a:prstGeom>
          <a:solidFill>
            <a:schemeClr val="accent3">
              <a:lumMod val="20000"/>
              <a:lumOff val="80000"/>
            </a:schemeClr>
          </a:solidFill>
        </p:spPr>
        <p:txBody>
          <a:bodyPr wrap="square">
            <a:spAutoFit/>
          </a:bodyPr>
          <a:lstStyle/>
          <a:p>
            <a:r>
              <a:rPr lang="en-US" dirty="0"/>
              <a:t>ens3</a:t>
            </a:r>
          </a:p>
        </p:txBody>
      </p:sp>
      <p:pic>
        <p:nvPicPr>
          <p:cNvPr id="14" name="Picture 13"/>
          <p:cNvPicPr>
            <a:picLocks noChangeAspect="1"/>
          </p:cNvPicPr>
          <p:nvPr/>
        </p:nvPicPr>
        <p:blipFill>
          <a:blip r:embed="rId3"/>
          <a:stretch>
            <a:fillRect/>
          </a:stretch>
        </p:blipFill>
        <p:spPr>
          <a:xfrm>
            <a:off x="5935577" y="2649012"/>
            <a:ext cx="6757737" cy="2748910"/>
          </a:xfrm>
          <a:prstGeom prst="rect">
            <a:avLst/>
          </a:prstGeom>
        </p:spPr>
      </p:pic>
      <p:sp>
        <p:nvSpPr>
          <p:cNvPr id="15" name="Rectangle 14"/>
          <p:cNvSpPr/>
          <p:nvPr/>
        </p:nvSpPr>
        <p:spPr>
          <a:xfrm>
            <a:off x="6430155" y="4795420"/>
            <a:ext cx="5403902" cy="1877437"/>
          </a:xfrm>
          <a:prstGeom prst="rect">
            <a:avLst/>
          </a:prstGeom>
        </p:spPr>
        <p:txBody>
          <a:bodyPr wrap="square">
            <a:spAutoFit/>
          </a:bodyPr>
          <a:lstStyle/>
          <a:p>
            <a:r>
              <a:rPr lang="en-US" dirty="0"/>
              <a:t>Notes:</a:t>
            </a:r>
            <a:endParaRPr lang="en-US" sz="1400" dirty="0"/>
          </a:p>
          <a:p>
            <a:r>
              <a:rPr lang="en-US" sz="1400" dirty="0" smtClean="0"/>
              <a:t>Loopback </a:t>
            </a:r>
            <a:r>
              <a:rPr lang="en-US" sz="1400" dirty="0"/>
              <a:t>(lo) – internal interface used by the system to communicate with itself.</a:t>
            </a:r>
          </a:p>
          <a:p>
            <a:r>
              <a:rPr lang="en-US" sz="1400" dirty="0"/>
              <a:t>It does not send or receive any real network traffic, so Wireshark shows only local system packets.</a:t>
            </a:r>
          </a:p>
          <a:p>
            <a:r>
              <a:rPr lang="en-US" sz="1400" dirty="0" smtClean="0"/>
              <a:t>Any </a:t>
            </a:r>
            <a:r>
              <a:rPr lang="en-US" sz="1400" dirty="0"/>
              <a:t>– virtual interface that merges all other interfaces into one view.</a:t>
            </a:r>
          </a:p>
          <a:p>
            <a:r>
              <a:rPr lang="en-US" sz="1400" dirty="0"/>
              <a:t>It mixes multiple traffic sources together and produces noise, so it is not used for controlled packet capture.</a:t>
            </a:r>
          </a:p>
        </p:txBody>
      </p:sp>
    </p:spTree>
    <p:extLst>
      <p:ext uri="{BB962C8B-B14F-4D97-AF65-F5344CB8AC3E}">
        <p14:creationId xmlns:p14="http://schemas.microsoft.com/office/powerpoint/2010/main" val="33982890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2" name="Rectangle 1"/>
          <p:cNvSpPr/>
          <p:nvPr/>
        </p:nvSpPr>
        <p:spPr>
          <a:xfrm>
            <a:off x="382802" y="517540"/>
            <a:ext cx="6096000" cy="646331"/>
          </a:xfrm>
          <a:prstGeom prst="rect">
            <a:avLst/>
          </a:prstGeom>
        </p:spPr>
        <p:txBody>
          <a:bodyPr>
            <a:spAutoFit/>
          </a:bodyPr>
          <a:lstStyle/>
          <a:p>
            <a:r>
              <a:rPr lang="en-US" b="1" dirty="0"/>
              <a:t>Main list</a:t>
            </a:r>
          </a:p>
          <a:p>
            <a:r>
              <a:rPr lang="en-US" dirty="0"/>
              <a:t>The main list displays all captured packets in real time.</a:t>
            </a:r>
          </a:p>
        </p:txBody>
      </p:sp>
      <p:pic>
        <p:nvPicPr>
          <p:cNvPr id="3" name="Picture 2"/>
          <p:cNvPicPr>
            <a:picLocks noChangeAspect="1"/>
          </p:cNvPicPr>
          <p:nvPr/>
        </p:nvPicPr>
        <p:blipFill>
          <a:blip r:embed="rId2"/>
          <a:stretch>
            <a:fillRect/>
          </a:stretch>
        </p:blipFill>
        <p:spPr>
          <a:xfrm>
            <a:off x="545432" y="1371879"/>
            <a:ext cx="10348912" cy="4327579"/>
          </a:xfrm>
          <a:prstGeom prst="rect">
            <a:avLst/>
          </a:prstGeom>
        </p:spPr>
      </p:pic>
    </p:spTree>
    <p:extLst>
      <p:ext uri="{BB962C8B-B14F-4D97-AF65-F5344CB8AC3E}">
        <p14:creationId xmlns:p14="http://schemas.microsoft.com/office/powerpoint/2010/main" val="5300669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2.5</a:t>
            </a:r>
            <a:r>
              <a:rPr lang="en-US" sz="2000" b="1" dirty="0">
                <a:solidFill>
                  <a:schemeClr val="bg1">
                    <a:lumMod val="75000"/>
                  </a:schemeClr>
                </a:solidFill>
              </a:rPr>
              <a:t>. ARP Capture</a:t>
            </a:r>
            <a:endParaRPr lang="en-US" sz="2000" b="1" dirty="0">
              <a:solidFill>
                <a:schemeClr val="bg1">
                  <a:lumMod val="75000"/>
                </a:schemeClr>
              </a:solidFill>
            </a:endParaRPr>
          </a:p>
        </p:txBody>
      </p:sp>
      <p:sp>
        <p:nvSpPr>
          <p:cNvPr id="6" name="Rectangle 5"/>
          <p:cNvSpPr/>
          <p:nvPr/>
        </p:nvSpPr>
        <p:spPr>
          <a:xfrm>
            <a:off x="6771812" y="1080469"/>
            <a:ext cx="4894643" cy="369332"/>
          </a:xfrm>
          <a:prstGeom prst="rect">
            <a:avLst/>
          </a:prstGeom>
          <a:solidFill>
            <a:schemeClr val="accent3">
              <a:lumMod val="20000"/>
              <a:lumOff val="80000"/>
            </a:schemeClr>
          </a:solidFill>
        </p:spPr>
        <p:txBody>
          <a:bodyPr wrap="square">
            <a:spAutoFit/>
          </a:bodyPr>
          <a:lstStyle/>
          <a:p>
            <a:r>
              <a:rPr lang="en-US" dirty="0"/>
              <a:t>ping 192.168.50.11</a:t>
            </a:r>
          </a:p>
        </p:txBody>
      </p:sp>
      <p:sp>
        <p:nvSpPr>
          <p:cNvPr id="2" name="Rectangle 1"/>
          <p:cNvSpPr/>
          <p:nvPr/>
        </p:nvSpPr>
        <p:spPr>
          <a:xfrm>
            <a:off x="202328" y="895803"/>
            <a:ext cx="6096000" cy="1477328"/>
          </a:xfrm>
          <a:prstGeom prst="rect">
            <a:avLst/>
          </a:prstGeom>
        </p:spPr>
        <p:txBody>
          <a:bodyPr>
            <a:spAutoFit/>
          </a:bodyPr>
          <a:lstStyle/>
          <a:p>
            <a:pPr algn="just"/>
            <a:r>
              <a:rPr lang="en-US" dirty="0"/>
              <a:t>ARP identifies the MAC address of a device inside the local network when the IP address is known. ARP packets appear only when a device does not have the required MAC address stored in its ARP cache. After the cache is filled, repeated pings no longer create new ARP requests until the cache expires.</a:t>
            </a:r>
          </a:p>
        </p:txBody>
      </p:sp>
      <p:graphicFrame>
        <p:nvGraphicFramePr>
          <p:cNvPr id="3" name="Table 2"/>
          <p:cNvGraphicFramePr>
            <a:graphicFrameLocks noGrp="1"/>
          </p:cNvGraphicFramePr>
          <p:nvPr>
            <p:extLst>
              <p:ext uri="{D42A27DB-BD31-4B8C-83A1-F6EECF244321}">
                <p14:modId xmlns:p14="http://schemas.microsoft.com/office/powerpoint/2010/main" val="1335849049"/>
              </p:ext>
            </p:extLst>
          </p:nvPr>
        </p:nvGraphicFramePr>
        <p:xfrm>
          <a:off x="324853" y="2433698"/>
          <a:ext cx="5973474" cy="1714500"/>
        </p:xfrm>
        <a:graphic>
          <a:graphicData uri="http://schemas.openxmlformats.org/drawingml/2006/table">
            <a:tbl>
              <a:tblPr/>
              <a:tblGrid>
                <a:gridCol w="1471863">
                  <a:extLst>
                    <a:ext uri="{9D8B030D-6E8A-4147-A177-3AD203B41FA5}">
                      <a16:colId xmlns:a16="http://schemas.microsoft.com/office/drawing/2014/main" val="1610096877"/>
                    </a:ext>
                  </a:extLst>
                </a:gridCol>
                <a:gridCol w="4501611">
                  <a:extLst>
                    <a:ext uri="{9D8B030D-6E8A-4147-A177-3AD203B41FA5}">
                      <a16:colId xmlns:a16="http://schemas.microsoft.com/office/drawing/2014/main" val="267588509"/>
                    </a:ext>
                  </a:extLst>
                </a:gridCol>
              </a:tblGrid>
              <a:tr h="0">
                <a:tc>
                  <a:txBody>
                    <a:bodyPr/>
                    <a:lstStyle/>
                    <a:p>
                      <a:r>
                        <a:rPr lang="en-US" b="1">
                          <a:effectLst/>
                        </a:rPr>
                        <a:t>ARP Type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b="1">
                          <a:effectLst/>
                        </a:rPr>
                        <a:t>Description</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235166465"/>
                  </a:ext>
                </a:extLst>
              </a:tr>
              <a:tr h="0">
                <a:tc>
                  <a:txBody>
                    <a:bodyPr/>
                    <a:lstStyle/>
                    <a:p>
                      <a:r>
                        <a:rPr lang="en-US">
                          <a:effectLst/>
                        </a:rPr>
                        <a:t>ARP Request</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a:effectLst/>
                        </a:rPr>
                        <a:t>"Who has ?" — a device asks who owns an IP address.</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1062804"/>
                  </a:ext>
                </a:extLst>
              </a:tr>
              <a:tr h="0">
                <a:tc>
                  <a:txBody>
                    <a:bodyPr/>
                    <a:lstStyle/>
                    <a:p>
                      <a:r>
                        <a:rPr lang="en-US">
                          <a:effectLst/>
                        </a:rPr>
                        <a:t>ARP Reply</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dirty="0">
                          <a:effectLst/>
                        </a:rPr>
                        <a:t>" is at " — the target device responds with its MAC.</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56254342"/>
                  </a:ext>
                </a:extLst>
              </a:tr>
            </a:tbl>
          </a:graphicData>
        </a:graphic>
      </p:graphicFrame>
      <p:sp>
        <p:nvSpPr>
          <p:cNvPr id="7" name="Rectangle 6"/>
          <p:cNvSpPr/>
          <p:nvPr/>
        </p:nvSpPr>
        <p:spPr>
          <a:xfrm>
            <a:off x="6657438" y="711137"/>
            <a:ext cx="3042371" cy="369332"/>
          </a:xfrm>
          <a:prstGeom prst="rect">
            <a:avLst/>
          </a:prstGeom>
        </p:spPr>
        <p:txBody>
          <a:bodyPr wrap="none">
            <a:spAutoFit/>
          </a:bodyPr>
          <a:lstStyle/>
          <a:p>
            <a:r>
              <a:rPr lang="en-US" b="1" dirty="0">
                <a:solidFill>
                  <a:srgbClr val="1F2328"/>
                </a:solidFill>
                <a:latin typeface="Mona Sans VF"/>
              </a:rPr>
              <a:t>Ping </a:t>
            </a:r>
            <a:r>
              <a:rPr lang="en-US" b="1" dirty="0" err="1">
                <a:solidFill>
                  <a:srgbClr val="1F2328"/>
                </a:solidFill>
                <a:latin typeface="Mona Sans VF"/>
              </a:rPr>
              <a:t>Xubuntu</a:t>
            </a:r>
            <a:r>
              <a:rPr lang="en-US" b="1" dirty="0">
                <a:solidFill>
                  <a:srgbClr val="1F2328"/>
                </a:solidFill>
                <a:latin typeface="Mona Sans VF"/>
              </a:rPr>
              <a:t> to Windows</a:t>
            </a:r>
            <a:endParaRPr lang="en-US" b="1" i="0" dirty="0">
              <a:solidFill>
                <a:srgbClr val="1F2328"/>
              </a:solidFill>
              <a:effectLst/>
              <a:latin typeface="Mona Sans VF"/>
            </a:endParaRPr>
          </a:p>
        </p:txBody>
      </p:sp>
      <p:pic>
        <p:nvPicPr>
          <p:cNvPr id="24578" name="Picture 2" descr="https://github.com/lukasdula/lab-08-GNS3-wireshark-protocol-monitoring/raw/main/images/Pasted%20image%20202511140111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7438" y="1634467"/>
            <a:ext cx="6096000" cy="141922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6547187" y="3238359"/>
            <a:ext cx="3042371" cy="369332"/>
          </a:xfrm>
          <a:prstGeom prst="rect">
            <a:avLst/>
          </a:prstGeom>
        </p:spPr>
        <p:txBody>
          <a:bodyPr wrap="none">
            <a:spAutoFit/>
          </a:bodyPr>
          <a:lstStyle/>
          <a:p>
            <a:r>
              <a:rPr lang="en-US" b="1" dirty="0">
                <a:solidFill>
                  <a:srgbClr val="1F2328"/>
                </a:solidFill>
                <a:latin typeface="Mona Sans VF"/>
              </a:rPr>
              <a:t>Ping Windows to </a:t>
            </a:r>
            <a:r>
              <a:rPr lang="en-US" b="1" dirty="0" err="1">
                <a:solidFill>
                  <a:srgbClr val="1F2328"/>
                </a:solidFill>
                <a:latin typeface="Mona Sans VF"/>
              </a:rPr>
              <a:t>Xubuntu</a:t>
            </a:r>
            <a:endParaRPr lang="en-US" b="1" i="0" dirty="0">
              <a:solidFill>
                <a:srgbClr val="1F2328"/>
              </a:solidFill>
              <a:effectLst/>
              <a:latin typeface="Mona Sans VF"/>
            </a:endParaRPr>
          </a:p>
        </p:txBody>
      </p:sp>
      <p:sp>
        <p:nvSpPr>
          <p:cNvPr id="10" name="Rectangle 9"/>
          <p:cNvSpPr/>
          <p:nvPr/>
        </p:nvSpPr>
        <p:spPr>
          <a:xfrm>
            <a:off x="6657438" y="3607691"/>
            <a:ext cx="4894643" cy="369332"/>
          </a:xfrm>
          <a:prstGeom prst="rect">
            <a:avLst/>
          </a:prstGeom>
          <a:solidFill>
            <a:schemeClr val="accent3">
              <a:lumMod val="20000"/>
              <a:lumOff val="80000"/>
            </a:schemeClr>
          </a:solidFill>
        </p:spPr>
        <p:txBody>
          <a:bodyPr wrap="square">
            <a:spAutoFit/>
          </a:bodyPr>
          <a:lstStyle/>
          <a:p>
            <a:r>
              <a:rPr lang="en-US" dirty="0"/>
              <a:t>ping 192.168.50.10</a:t>
            </a:r>
          </a:p>
        </p:txBody>
      </p:sp>
      <p:pic>
        <p:nvPicPr>
          <p:cNvPr id="9" name="Picture 8"/>
          <p:cNvPicPr>
            <a:picLocks noChangeAspect="1"/>
          </p:cNvPicPr>
          <p:nvPr/>
        </p:nvPicPr>
        <p:blipFill>
          <a:blip r:embed="rId3"/>
          <a:stretch>
            <a:fillRect/>
          </a:stretch>
        </p:blipFill>
        <p:spPr>
          <a:xfrm>
            <a:off x="6657438" y="4346355"/>
            <a:ext cx="8001000" cy="1876425"/>
          </a:xfrm>
          <a:prstGeom prst="rect">
            <a:avLst/>
          </a:prstGeom>
        </p:spPr>
      </p:pic>
    </p:spTree>
    <p:extLst>
      <p:ext uri="{BB962C8B-B14F-4D97-AF65-F5344CB8AC3E}">
        <p14:creationId xmlns:p14="http://schemas.microsoft.com/office/powerpoint/2010/main" val="421483278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ICMP Traffic</a:t>
            </a:r>
            <a:endParaRPr lang="en-US" sz="2000" b="1" dirty="0">
              <a:solidFill>
                <a:schemeClr val="bg1">
                  <a:lumMod val="75000"/>
                </a:schemeClr>
              </a:solidFill>
            </a:endParaRPr>
          </a:p>
        </p:txBody>
      </p:sp>
      <p:sp>
        <p:nvSpPr>
          <p:cNvPr id="2" name="Rectangle 1"/>
          <p:cNvSpPr/>
          <p:nvPr/>
        </p:nvSpPr>
        <p:spPr>
          <a:xfrm>
            <a:off x="202328" y="895803"/>
            <a:ext cx="5255592" cy="2031325"/>
          </a:xfrm>
          <a:prstGeom prst="rect">
            <a:avLst/>
          </a:prstGeom>
        </p:spPr>
        <p:txBody>
          <a:bodyPr wrap="square">
            <a:spAutoFit/>
          </a:bodyPr>
          <a:lstStyle/>
          <a:p>
            <a:pPr algn="just"/>
            <a:r>
              <a:rPr lang="en-US" dirty="0"/>
              <a:t>**ICMP Traffic</a:t>
            </a:r>
          </a:p>
          <a:p>
            <a:pPr algn="just"/>
            <a:r>
              <a:rPr lang="en-US" dirty="0"/>
              <a:t>Ping packets between </a:t>
            </a:r>
            <a:r>
              <a:rPr lang="en-US" dirty="0" err="1"/>
              <a:t>Xubuntu</a:t>
            </a:r>
            <a:r>
              <a:rPr lang="en-US" dirty="0"/>
              <a:t> and Windows are visible here. These ICMP exchanges confirm that both devices communicate correctly. The initial ping also triggered ARP requests and replies, which allowed the devices to learn each other's MAC addresses before the ICMP traffic could flow.</a:t>
            </a:r>
          </a:p>
        </p:txBody>
      </p:sp>
      <p:pic>
        <p:nvPicPr>
          <p:cNvPr id="3" name="Picture 2"/>
          <p:cNvPicPr>
            <a:picLocks noChangeAspect="1"/>
          </p:cNvPicPr>
          <p:nvPr/>
        </p:nvPicPr>
        <p:blipFill>
          <a:blip r:embed="rId2"/>
          <a:stretch>
            <a:fillRect/>
          </a:stretch>
        </p:blipFill>
        <p:spPr>
          <a:xfrm>
            <a:off x="1064795" y="3307029"/>
            <a:ext cx="9677400" cy="2647950"/>
          </a:xfrm>
          <a:prstGeom prst="rect">
            <a:avLst/>
          </a:prstGeom>
        </p:spPr>
      </p:pic>
    </p:spTree>
    <p:extLst>
      <p:ext uri="{BB962C8B-B14F-4D97-AF65-F5344CB8AC3E}">
        <p14:creationId xmlns:p14="http://schemas.microsoft.com/office/powerpoint/2010/main" val="25656163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2" name="Rectangle 1"/>
          <p:cNvSpPr/>
          <p:nvPr/>
        </p:nvSpPr>
        <p:spPr>
          <a:xfrm>
            <a:off x="368968" y="332874"/>
            <a:ext cx="6096000" cy="1754326"/>
          </a:xfrm>
          <a:prstGeom prst="rect">
            <a:avLst/>
          </a:prstGeom>
        </p:spPr>
        <p:txBody>
          <a:bodyPr>
            <a:spAutoFit/>
          </a:bodyPr>
          <a:lstStyle/>
          <a:p>
            <a:pPr algn="just"/>
            <a:r>
              <a:rPr lang="en-US" dirty="0"/>
              <a:t>ARP Response</a:t>
            </a:r>
          </a:p>
          <a:p>
            <a:pPr algn="just"/>
            <a:r>
              <a:rPr lang="en-US" dirty="0"/>
              <a:t>ARP replies appear immediately after the request. They confirm the MAC address of the destination device and allow the communication to continue across the local network. You will see the request and reply sequence on the main packet list when the ping begins.</a:t>
            </a:r>
          </a:p>
        </p:txBody>
      </p:sp>
      <p:pic>
        <p:nvPicPr>
          <p:cNvPr id="3" name="Picture 2"/>
          <p:cNvPicPr>
            <a:picLocks noChangeAspect="1"/>
          </p:cNvPicPr>
          <p:nvPr/>
        </p:nvPicPr>
        <p:blipFill>
          <a:blip r:embed="rId2"/>
          <a:stretch>
            <a:fillRect/>
          </a:stretch>
        </p:blipFill>
        <p:spPr>
          <a:xfrm>
            <a:off x="1087103" y="2087200"/>
            <a:ext cx="9953625" cy="4076700"/>
          </a:xfrm>
          <a:prstGeom prst="rect">
            <a:avLst/>
          </a:prstGeom>
        </p:spPr>
      </p:pic>
      <p:sp>
        <p:nvSpPr>
          <p:cNvPr id="7" name="Rectangle 6"/>
          <p:cNvSpPr/>
          <p:nvPr/>
        </p:nvSpPr>
        <p:spPr>
          <a:xfrm>
            <a:off x="368968" y="6163900"/>
            <a:ext cx="11591140" cy="553998"/>
          </a:xfrm>
          <a:prstGeom prst="rect">
            <a:avLst/>
          </a:prstGeom>
        </p:spPr>
        <p:txBody>
          <a:bodyPr wrap="square">
            <a:spAutoFit/>
          </a:bodyPr>
          <a:lstStyle/>
          <a:p>
            <a:r>
              <a:rPr lang="en-US" sz="1000" dirty="0"/>
              <a:t>Notes.: ARP does not depend on ping. It appears automatically whenever a device needs the MAC address of another device. Ping can trigger ARP if the MAC address is unknown, but ARP also appears during normal network activity such as DNS, DHCP, or opening web pages.</a:t>
            </a:r>
          </a:p>
          <a:p>
            <a:endParaRPr lang="en-US" sz="1000" dirty="0"/>
          </a:p>
        </p:txBody>
      </p:sp>
    </p:spTree>
    <p:extLst>
      <p:ext uri="{BB962C8B-B14F-4D97-AF65-F5344CB8AC3E}">
        <p14:creationId xmlns:p14="http://schemas.microsoft.com/office/powerpoint/2010/main" val="40011638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a:solidFill>
                  <a:schemeClr val="bg1">
                    <a:lumMod val="75000"/>
                  </a:schemeClr>
                </a:solidFill>
              </a:rPr>
              <a:t>2.5 DNS Capture (</a:t>
            </a:r>
            <a:r>
              <a:rPr lang="en-US" sz="2000" b="1" dirty="0" err="1">
                <a:solidFill>
                  <a:schemeClr val="bg1">
                    <a:lumMod val="75000"/>
                  </a:schemeClr>
                </a:solidFill>
              </a:rPr>
              <a:t>Xubuntu</a:t>
            </a:r>
            <a:r>
              <a:rPr lang="en-US" sz="2000" b="1" dirty="0">
                <a:solidFill>
                  <a:schemeClr val="bg1">
                    <a:lumMod val="75000"/>
                  </a:schemeClr>
                </a:solidFill>
              </a:rPr>
              <a:t>)</a:t>
            </a:r>
            <a:endParaRPr lang="en-US" sz="2000" b="1" dirty="0">
              <a:solidFill>
                <a:schemeClr val="bg1">
                  <a:lumMod val="75000"/>
                </a:schemeClr>
              </a:solidFill>
            </a:endParaRPr>
          </a:p>
        </p:txBody>
      </p:sp>
      <p:sp>
        <p:nvSpPr>
          <p:cNvPr id="6" name="Rectangle 5"/>
          <p:cNvSpPr/>
          <p:nvPr/>
        </p:nvSpPr>
        <p:spPr>
          <a:xfrm>
            <a:off x="6045665" y="1131919"/>
            <a:ext cx="4894643" cy="369332"/>
          </a:xfrm>
          <a:prstGeom prst="rect">
            <a:avLst/>
          </a:prstGeom>
          <a:solidFill>
            <a:schemeClr val="accent3">
              <a:lumMod val="20000"/>
              <a:lumOff val="80000"/>
            </a:schemeClr>
          </a:solidFill>
        </p:spPr>
        <p:txBody>
          <a:bodyPr wrap="square">
            <a:spAutoFit/>
          </a:bodyPr>
          <a:lstStyle/>
          <a:p>
            <a:r>
              <a:rPr lang="en-US" dirty="0"/>
              <a:t>Open browser and navigate to:  http://test.lab</a:t>
            </a:r>
          </a:p>
        </p:txBody>
      </p:sp>
      <p:sp>
        <p:nvSpPr>
          <p:cNvPr id="2" name="Rectangle 1"/>
          <p:cNvSpPr/>
          <p:nvPr/>
        </p:nvSpPr>
        <p:spPr>
          <a:xfrm>
            <a:off x="202328" y="947253"/>
            <a:ext cx="5572830" cy="1477328"/>
          </a:xfrm>
          <a:prstGeom prst="rect">
            <a:avLst/>
          </a:prstGeom>
        </p:spPr>
        <p:txBody>
          <a:bodyPr wrap="square">
            <a:spAutoFit/>
          </a:bodyPr>
          <a:lstStyle/>
          <a:p>
            <a:pPr algn="just"/>
            <a:r>
              <a:rPr lang="en-US" dirty="0"/>
              <a:t>This section explains how DNS traffic is captured when a webpage is opened from the </a:t>
            </a:r>
            <a:r>
              <a:rPr lang="en-US" dirty="0" err="1"/>
              <a:t>Xubuntu</a:t>
            </a:r>
            <a:r>
              <a:rPr lang="en-US" dirty="0"/>
              <a:t> browser. DNS converts a hostname into an IP address, and Wireshark allows you to see both the query and the response directly.</a:t>
            </a:r>
          </a:p>
        </p:txBody>
      </p:sp>
      <p:graphicFrame>
        <p:nvGraphicFramePr>
          <p:cNvPr id="3" name="Table 2"/>
          <p:cNvGraphicFramePr>
            <a:graphicFrameLocks noGrp="1"/>
          </p:cNvGraphicFramePr>
          <p:nvPr>
            <p:extLst>
              <p:ext uri="{D42A27DB-BD31-4B8C-83A1-F6EECF244321}">
                <p14:modId xmlns:p14="http://schemas.microsoft.com/office/powerpoint/2010/main" val="1924830590"/>
              </p:ext>
            </p:extLst>
          </p:nvPr>
        </p:nvGraphicFramePr>
        <p:xfrm>
          <a:off x="202328" y="2506551"/>
          <a:ext cx="4936958" cy="1714500"/>
        </p:xfrm>
        <a:graphic>
          <a:graphicData uri="http://schemas.openxmlformats.org/drawingml/2006/table">
            <a:tbl>
              <a:tblPr/>
              <a:tblGrid>
                <a:gridCol w="1530219">
                  <a:extLst>
                    <a:ext uri="{9D8B030D-6E8A-4147-A177-3AD203B41FA5}">
                      <a16:colId xmlns:a16="http://schemas.microsoft.com/office/drawing/2014/main" val="1241384705"/>
                    </a:ext>
                  </a:extLst>
                </a:gridCol>
                <a:gridCol w="3406739">
                  <a:extLst>
                    <a:ext uri="{9D8B030D-6E8A-4147-A177-3AD203B41FA5}">
                      <a16:colId xmlns:a16="http://schemas.microsoft.com/office/drawing/2014/main" val="1109363616"/>
                    </a:ext>
                  </a:extLst>
                </a:gridCol>
              </a:tblGrid>
              <a:tr h="0">
                <a:tc>
                  <a:txBody>
                    <a:bodyPr/>
                    <a:lstStyle/>
                    <a:p>
                      <a:r>
                        <a:rPr lang="en-US" b="1">
                          <a:effectLst/>
                        </a:rPr>
                        <a:t>DNS Phase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b="1">
                          <a:effectLst/>
                        </a:rPr>
                        <a:t>Description</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670462309"/>
                  </a:ext>
                </a:extLst>
              </a:tr>
              <a:tr h="0">
                <a:tc>
                  <a:txBody>
                    <a:bodyPr/>
                    <a:lstStyle/>
                    <a:p>
                      <a:r>
                        <a:rPr lang="en-US">
                          <a:effectLst/>
                        </a:rPr>
                        <a:t>DNS Query</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tc>
                  <a:txBody>
                    <a:bodyPr/>
                    <a:lstStyle/>
                    <a:p>
                      <a:r>
                        <a:rPr lang="en-US">
                          <a:effectLst/>
                        </a:rPr>
                        <a:t>Xubuntu asks for the IP address of the domain name.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76170886"/>
                  </a:ext>
                </a:extLst>
              </a:tr>
              <a:tr h="0">
                <a:tc>
                  <a:txBody>
                    <a:bodyPr/>
                    <a:lstStyle/>
                    <a:p>
                      <a:r>
                        <a:rPr lang="en-US">
                          <a:effectLst/>
                        </a:rPr>
                        <a:t>DNS Response</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tc>
                  <a:txBody>
                    <a:bodyPr/>
                    <a:lstStyle/>
                    <a:p>
                      <a:r>
                        <a:rPr lang="en-US" dirty="0">
                          <a:effectLst/>
                        </a:rPr>
                        <a:t>The router returns the resolved IP address.</a:t>
                      </a:r>
                    </a:p>
                  </a:txBody>
                  <a:tcPr marL="123825" marR="123825" marT="57150" marB="57150" anchor="ctr">
                    <a:lnL w="10582" cap="flat" cmpd="sng" algn="ctr">
                      <a:solidFill>
                        <a:srgbClr val="D1D9E0"/>
                      </a:solidFill>
                      <a:prstDash val="solid"/>
                      <a:round/>
                      <a:headEnd type="none" w="med" len="med"/>
                      <a:tailEnd type="none" w="med" len="med"/>
                    </a:lnL>
                    <a:lnR w="10582" cap="flat" cmpd="sng" algn="ctr">
                      <a:solidFill>
                        <a:srgbClr val="D1D9E0"/>
                      </a:solidFill>
                      <a:prstDash val="solid"/>
                      <a:round/>
                      <a:headEnd type="none" w="med" len="med"/>
                      <a:tailEnd type="none" w="med" len="med"/>
                    </a:lnR>
                    <a:lnT w="10582" cap="flat" cmpd="sng" algn="ctr">
                      <a:solidFill>
                        <a:srgbClr val="D1D9E0"/>
                      </a:solidFill>
                      <a:prstDash val="solid"/>
                      <a:round/>
                      <a:headEnd type="none" w="med" len="med"/>
                      <a:tailEnd type="none" w="med" len="med"/>
                    </a:lnT>
                    <a:lnB w="10582"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91358665"/>
                  </a:ext>
                </a:extLst>
              </a:tr>
            </a:tbl>
          </a:graphicData>
        </a:graphic>
      </p:graphicFrame>
      <p:sp>
        <p:nvSpPr>
          <p:cNvPr id="7" name="Rectangle 6"/>
          <p:cNvSpPr/>
          <p:nvPr/>
        </p:nvSpPr>
        <p:spPr>
          <a:xfrm>
            <a:off x="5898546" y="762587"/>
            <a:ext cx="2974982" cy="369332"/>
          </a:xfrm>
          <a:prstGeom prst="rect">
            <a:avLst/>
          </a:prstGeom>
        </p:spPr>
        <p:txBody>
          <a:bodyPr wrap="none">
            <a:spAutoFit/>
          </a:bodyPr>
          <a:lstStyle/>
          <a:p>
            <a:r>
              <a:rPr lang="en-US" b="1" dirty="0"/>
              <a:t>Triggering DNS from </a:t>
            </a:r>
            <a:r>
              <a:rPr lang="en-US" b="1" dirty="0" err="1"/>
              <a:t>Xubuntu</a:t>
            </a:r>
            <a:endParaRPr lang="en-US" b="1" dirty="0"/>
          </a:p>
        </p:txBody>
      </p:sp>
      <p:pic>
        <p:nvPicPr>
          <p:cNvPr id="8" name="Picture 7"/>
          <p:cNvPicPr>
            <a:picLocks noChangeAspect="1"/>
          </p:cNvPicPr>
          <p:nvPr/>
        </p:nvPicPr>
        <p:blipFill>
          <a:blip r:embed="rId2"/>
          <a:stretch>
            <a:fillRect/>
          </a:stretch>
        </p:blipFill>
        <p:spPr>
          <a:xfrm>
            <a:off x="5898546" y="1746298"/>
            <a:ext cx="10915650" cy="3571875"/>
          </a:xfrm>
          <a:prstGeom prst="rect">
            <a:avLst/>
          </a:prstGeom>
        </p:spPr>
      </p:pic>
    </p:spTree>
    <p:extLst>
      <p:ext uri="{BB962C8B-B14F-4D97-AF65-F5344CB8AC3E}">
        <p14:creationId xmlns:p14="http://schemas.microsoft.com/office/powerpoint/2010/main" val="5141786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2" name="Rectangle 1"/>
          <p:cNvSpPr/>
          <p:nvPr/>
        </p:nvSpPr>
        <p:spPr>
          <a:xfrm>
            <a:off x="176463" y="517540"/>
            <a:ext cx="5406190" cy="1477328"/>
          </a:xfrm>
          <a:prstGeom prst="rect">
            <a:avLst/>
          </a:prstGeom>
        </p:spPr>
        <p:txBody>
          <a:bodyPr wrap="square">
            <a:spAutoFit/>
          </a:bodyPr>
          <a:lstStyle/>
          <a:p>
            <a:pPr algn="just"/>
            <a:r>
              <a:rPr lang="en-US" b="1" dirty="0">
                <a:solidFill>
                  <a:srgbClr val="1F2328"/>
                </a:solidFill>
                <a:latin typeface="Mona Sans VF"/>
              </a:rPr>
              <a:t>DNS Frames in Wireshark</a:t>
            </a:r>
          </a:p>
          <a:p>
            <a:pPr algn="just"/>
            <a:r>
              <a:rPr lang="en-US" dirty="0">
                <a:solidFill>
                  <a:srgbClr val="1F2328"/>
                </a:solidFill>
                <a:latin typeface="Mona Sans VF"/>
              </a:rPr>
              <a:t>After opening the </a:t>
            </a:r>
            <a:r>
              <a:rPr lang="en-US" dirty="0" err="1">
                <a:solidFill>
                  <a:srgbClr val="1F2328"/>
                </a:solidFill>
                <a:latin typeface="Mona Sans VF"/>
              </a:rPr>
              <a:t>test.lab</a:t>
            </a:r>
            <a:r>
              <a:rPr lang="en-US" dirty="0">
                <a:solidFill>
                  <a:srgbClr val="1F2328"/>
                </a:solidFill>
                <a:latin typeface="Mona Sans VF"/>
              </a:rPr>
              <a:t> page, DNS packets immediately appear in the capture. You will see a query for the domain name and a matching response. Add your screenshot below.</a:t>
            </a:r>
            <a:endParaRPr lang="en-US" b="0" i="0" dirty="0">
              <a:solidFill>
                <a:srgbClr val="1F2328"/>
              </a:solidFill>
              <a:effectLst/>
              <a:latin typeface="Mona Sans VF"/>
            </a:endParaRPr>
          </a:p>
        </p:txBody>
      </p:sp>
      <p:pic>
        <p:nvPicPr>
          <p:cNvPr id="3" name="Picture 2"/>
          <p:cNvPicPr>
            <a:picLocks noChangeAspect="1"/>
          </p:cNvPicPr>
          <p:nvPr/>
        </p:nvPicPr>
        <p:blipFill>
          <a:blip r:embed="rId3"/>
          <a:stretch>
            <a:fillRect/>
          </a:stretch>
        </p:blipFill>
        <p:spPr>
          <a:xfrm>
            <a:off x="662990" y="2507831"/>
            <a:ext cx="9839325" cy="2676525"/>
          </a:xfrm>
          <a:prstGeom prst="rect">
            <a:avLst/>
          </a:prstGeom>
        </p:spPr>
      </p:pic>
      <p:sp>
        <p:nvSpPr>
          <p:cNvPr id="7" name="Rectangle 6"/>
          <p:cNvSpPr/>
          <p:nvPr/>
        </p:nvSpPr>
        <p:spPr>
          <a:xfrm>
            <a:off x="662990" y="5331404"/>
            <a:ext cx="11529010" cy="646331"/>
          </a:xfrm>
          <a:prstGeom prst="rect">
            <a:avLst/>
          </a:prstGeom>
        </p:spPr>
        <p:txBody>
          <a:bodyPr wrap="square">
            <a:spAutoFit/>
          </a:bodyPr>
          <a:lstStyle/>
          <a:p>
            <a:pPr algn="just"/>
            <a:r>
              <a:rPr lang="en-US" dirty="0"/>
              <a:t>Notes.: </a:t>
            </a:r>
            <a:r>
              <a:rPr lang="en-US" dirty="0" err="1"/>
              <a:t>Xubuntu</a:t>
            </a:r>
            <a:r>
              <a:rPr lang="en-US" dirty="0"/>
              <a:t> generates the DNS request as soon as the hostname is used in the browser.</a:t>
            </a:r>
          </a:p>
          <a:p>
            <a:pPr algn="just"/>
            <a:r>
              <a:rPr lang="en-US" dirty="0"/>
              <a:t>The router acts as the DNS responder</a:t>
            </a:r>
            <a:r>
              <a:rPr lang="en-US" dirty="0" smtClean="0"/>
              <a:t>. DNS </a:t>
            </a:r>
            <a:r>
              <a:rPr lang="en-US" dirty="0"/>
              <a:t>packets are easy to identify in the Protocol column (DNS).</a:t>
            </a:r>
          </a:p>
        </p:txBody>
      </p:sp>
    </p:spTree>
    <p:extLst>
      <p:ext uri="{BB962C8B-B14F-4D97-AF65-F5344CB8AC3E}">
        <p14:creationId xmlns:p14="http://schemas.microsoft.com/office/powerpoint/2010/main" val="31723519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18789491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19578044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9094327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11685307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41929171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3220396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21691761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93001411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6833697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2222837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645370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40150959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25205984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178624" y="148208"/>
            <a:ext cx="3781484" cy="369332"/>
          </a:xfrm>
          <a:prstGeom prst="rect">
            <a:avLst/>
          </a:prstGeom>
        </p:spPr>
        <p:txBody>
          <a:bodyPr wrap="none">
            <a:spAutoFit/>
          </a:bodyPr>
          <a:lstStyle/>
          <a:p>
            <a:r>
              <a:rPr lang="en-US" dirty="0">
                <a:solidFill>
                  <a:schemeClr val="bg1">
                    <a:lumMod val="75000"/>
                  </a:schemeClr>
                </a:solidFill>
              </a:rPr>
              <a:t>Wireshark Protocol </a:t>
            </a:r>
            <a:r>
              <a:rPr lang="en-US" dirty="0" smtClean="0">
                <a:solidFill>
                  <a:schemeClr val="bg1">
                    <a:lumMod val="75000"/>
                  </a:schemeClr>
                </a:solidFill>
              </a:rPr>
              <a:t>Monitoring (</a:t>
            </a:r>
            <a:r>
              <a:rPr lang="en-US" dirty="0" err="1" smtClean="0">
                <a:solidFill>
                  <a:schemeClr val="bg1">
                    <a:lumMod val="75000"/>
                  </a:schemeClr>
                </a:solidFill>
              </a:rPr>
              <a:t>Con’t</a:t>
            </a:r>
            <a:r>
              <a:rPr lang="en-US" dirty="0" smtClean="0">
                <a:solidFill>
                  <a:schemeClr val="bg1">
                    <a:lumMod val="75000"/>
                  </a:schemeClr>
                </a:solidFill>
              </a:rPr>
              <a:t>)</a:t>
            </a:r>
            <a:endParaRPr lang="en-US" dirty="0">
              <a:solidFill>
                <a:schemeClr val="bg1">
                  <a:lumMod val="75000"/>
                </a:schemeClr>
              </a:solidFill>
            </a:endParaRPr>
          </a:p>
        </p:txBody>
      </p:sp>
      <p:sp>
        <p:nvSpPr>
          <p:cNvPr id="5" name="Title 1"/>
          <p:cNvSpPr txBox="1">
            <a:spLocks/>
          </p:cNvSpPr>
          <p:nvPr/>
        </p:nvSpPr>
        <p:spPr>
          <a:xfrm>
            <a:off x="202328" y="515902"/>
            <a:ext cx="5255592" cy="3799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000" b="1" dirty="0" smtClean="0">
                <a:solidFill>
                  <a:schemeClr val="bg1">
                    <a:lumMod val="75000"/>
                  </a:schemeClr>
                </a:solidFill>
              </a:rPr>
              <a:t>1.7. </a:t>
            </a:r>
            <a:r>
              <a:rPr lang="en-US" sz="2000" b="1" dirty="0">
                <a:solidFill>
                  <a:schemeClr val="bg1">
                    <a:lumMod val="75000"/>
                  </a:schemeClr>
                </a:solidFill>
              </a:rPr>
              <a:t>Windows Client DNS Verification*</a:t>
            </a:r>
          </a:p>
        </p:txBody>
      </p:sp>
      <p:sp>
        <p:nvSpPr>
          <p:cNvPr id="6" name="Rectangle 5"/>
          <p:cNvSpPr/>
          <p:nvPr/>
        </p:nvSpPr>
        <p:spPr>
          <a:xfrm>
            <a:off x="382802" y="3399362"/>
            <a:ext cx="4894643" cy="646331"/>
          </a:xfrm>
          <a:prstGeom prst="rect">
            <a:avLst/>
          </a:prstGeom>
          <a:solidFill>
            <a:schemeClr val="accent3">
              <a:lumMod val="20000"/>
              <a:lumOff val="80000"/>
            </a:schemeClr>
          </a:solidFill>
        </p:spPr>
        <p:txBody>
          <a:bodyPr wrap="square">
            <a:spAutoFit/>
          </a:bodyPr>
          <a:lstStyle/>
          <a:p>
            <a:r>
              <a:rPr lang="en-US" dirty="0"/>
              <a:t>http://192.168.50.1</a:t>
            </a:r>
          </a:p>
          <a:p>
            <a:r>
              <a:rPr lang="en-US" dirty="0"/>
              <a:t>http://test.lab</a:t>
            </a:r>
          </a:p>
        </p:txBody>
      </p:sp>
    </p:spTree>
    <p:extLst>
      <p:ext uri="{BB962C8B-B14F-4D97-AF65-F5344CB8AC3E}">
        <p14:creationId xmlns:p14="http://schemas.microsoft.com/office/powerpoint/2010/main" val="37022372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BGP VPN </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Multi-Protocol Label </a:t>
            </a:r>
            <a:r>
              <a:rPr lang="en-US" sz="1600" b="1" dirty="0" smtClean="0">
                <a:solidFill>
                  <a:schemeClr val="bg1">
                    <a:lumMod val="75000"/>
                  </a:schemeClr>
                </a:solidFill>
              </a:rPr>
              <a:t>Switching</a:t>
            </a:r>
            <a:endParaRPr lang="en-US" sz="1600" b="1" dirty="0">
              <a:solidFill>
                <a:schemeClr val="bg1">
                  <a:lumMod val="75000"/>
                </a:schemeClr>
              </a:solidFill>
            </a:endParaRPr>
          </a:p>
        </p:txBody>
      </p:sp>
    </p:spTree>
    <p:extLst>
      <p:ext uri="{BB962C8B-B14F-4D97-AF65-F5344CB8AC3E}">
        <p14:creationId xmlns:p14="http://schemas.microsoft.com/office/powerpoint/2010/main" val="26528720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BGP VPN </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Multi-Protocol Label </a:t>
            </a:r>
            <a:r>
              <a:rPr lang="en-US" sz="1600" b="1" dirty="0" smtClean="0">
                <a:solidFill>
                  <a:schemeClr val="bg1">
                    <a:lumMod val="75000"/>
                  </a:schemeClr>
                </a:solidFill>
              </a:rPr>
              <a:t>Switching</a:t>
            </a:r>
            <a:endParaRPr lang="en-US" sz="1600" b="1" dirty="0">
              <a:solidFill>
                <a:schemeClr val="bg1">
                  <a:lumMod val="75000"/>
                </a:schemeClr>
              </a:solidFill>
            </a:endParaRPr>
          </a:p>
        </p:txBody>
      </p:sp>
    </p:spTree>
    <p:extLst>
      <p:ext uri="{BB962C8B-B14F-4D97-AF65-F5344CB8AC3E}">
        <p14:creationId xmlns:p14="http://schemas.microsoft.com/office/powerpoint/2010/main" val="426527884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MPLS BGP VPN </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Multi-Protocol Label </a:t>
            </a:r>
            <a:r>
              <a:rPr lang="en-US" sz="1600" b="1" dirty="0" smtClean="0">
                <a:solidFill>
                  <a:schemeClr val="bg1">
                    <a:lumMod val="75000"/>
                  </a:schemeClr>
                </a:solidFill>
              </a:rPr>
              <a:t>Switching</a:t>
            </a:r>
            <a:endParaRPr lang="en-US" sz="1600" b="1" dirty="0">
              <a:solidFill>
                <a:schemeClr val="bg1">
                  <a:lumMod val="75000"/>
                </a:schemeClr>
              </a:solidFill>
            </a:endParaRPr>
          </a:p>
        </p:txBody>
      </p:sp>
    </p:spTree>
    <p:extLst>
      <p:ext uri="{BB962C8B-B14F-4D97-AF65-F5344CB8AC3E}">
        <p14:creationId xmlns:p14="http://schemas.microsoft.com/office/powerpoint/2010/main" val="398139827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1769" y="361649"/>
            <a:ext cx="4171270" cy="369332"/>
          </a:xfrm>
          <a:prstGeom prst="rect">
            <a:avLst/>
          </a:prstGeom>
        </p:spPr>
        <p:txBody>
          <a:bodyPr wrap="none">
            <a:spAutoFit/>
          </a:bodyPr>
          <a:lstStyle/>
          <a:p>
            <a:r>
              <a:rPr lang="en-US" dirty="0"/>
              <a:t>MPLS with static Label Switched Path (LSP)</a:t>
            </a:r>
          </a:p>
        </p:txBody>
      </p:sp>
      <p:sp>
        <p:nvSpPr>
          <p:cNvPr id="5" name="Rectangle 4"/>
          <p:cNvSpPr/>
          <p:nvPr/>
        </p:nvSpPr>
        <p:spPr>
          <a:xfrm>
            <a:off x="321769" y="730981"/>
            <a:ext cx="5507531" cy="9787295"/>
          </a:xfrm>
          <a:prstGeom prst="rect">
            <a:avLst/>
          </a:prstGeom>
        </p:spPr>
        <p:txBody>
          <a:bodyPr wrap="square">
            <a:spAutoFit/>
          </a:bodyPr>
          <a:lstStyle/>
          <a:p>
            <a:pPr algn="just"/>
            <a:r>
              <a:rPr lang="en-US" dirty="0"/>
              <a:t>Multiprotocol Label Switching (MPLS) is a routing technique that allows moving data from one node to the next based on external labels rather than destination IP addresses. Packets are routed along pre-established Label Switched Paths (LSPs).</a:t>
            </a:r>
          </a:p>
          <a:p>
            <a:pPr algn="just"/>
            <a:r>
              <a:rPr lang="en-US" dirty="0"/>
              <a:t>Label Switch Routers (LSR), located in the inner part of an MPLS network, forward packets based on MPLS labels.</a:t>
            </a:r>
          </a:p>
          <a:p>
            <a:pPr algn="just"/>
            <a:r>
              <a:rPr lang="en-US" dirty="0"/>
              <a:t>Label Edge Routers (LER), located at the edge of an MPLS network, encapsulate IP packets by adding the MPLS header (push operation) to traffic coming from adjacent routers external to the MPLS network and </a:t>
            </a:r>
            <a:r>
              <a:rPr lang="en-US" dirty="0" err="1"/>
              <a:t>decapsulate</a:t>
            </a:r>
            <a:r>
              <a:rPr lang="en-US" dirty="0"/>
              <a:t> IP packets by removing the MPLS header (pop operation) from traffic coming from adjacent MPLS routers.</a:t>
            </a:r>
          </a:p>
          <a:p>
            <a:pPr algn="just"/>
            <a:r>
              <a:rPr lang="en-US" dirty="0"/>
              <a:t>In MPLS, packets can carry multiple labels in a stack. An LSR can swap the label at the top of the stack, pop the stack, or swap the label and push one or more labels into the stack. The processing of a packet is always based on the top label.</a:t>
            </a:r>
          </a:p>
          <a:p>
            <a:pPr algn="just"/>
            <a:r>
              <a:rPr lang="en-US" dirty="0"/>
              <a:t>As described in RFC 3032, MPLS Label Stack Encoding, the label stack is represented as a sequence of label stack entries. Each label stack entry consists of 4 octets comprising a 20-bits label field. Hence, the maximum label value is 1048575. The S bit, if 1, marks the last entry of the label stack (Bottom of Stack). create a static LSP in an MPLS network consisting of two LERs and a single LSR. Packets towards host H5 are labeled by LER R1 with label 100. The intermediate LSR R2 swaps label 100 into label 200 and forwards packets to the LER R3 which, in turn, pops the label and delivers the packets to the destination H5.</a:t>
            </a:r>
          </a:p>
          <a:p>
            <a:pPr algn="just"/>
            <a:r>
              <a:rPr lang="en-US" dirty="0"/>
              <a:t>For packets generated by H5, the LER R3 encapsulates them with label 300. The intermediate LSR R2 swaps label 300 into label 400 and delivers the packets to the LER R1. Finally, R1 pops the MPLS label and delivers the packets to the destination H4</a:t>
            </a:r>
          </a:p>
        </p:txBody>
      </p:sp>
      <p:pic>
        <p:nvPicPr>
          <p:cNvPr id="6" name="Picture 5"/>
          <p:cNvPicPr>
            <a:picLocks noChangeAspect="1"/>
          </p:cNvPicPr>
          <p:nvPr/>
        </p:nvPicPr>
        <p:blipFill>
          <a:blip r:embed="rId2"/>
          <a:stretch>
            <a:fillRect/>
          </a:stretch>
        </p:blipFill>
        <p:spPr>
          <a:xfrm>
            <a:off x="6090557" y="730981"/>
            <a:ext cx="5767408" cy="1070214"/>
          </a:xfrm>
          <a:prstGeom prst="rect">
            <a:avLst/>
          </a:prstGeom>
        </p:spPr>
      </p:pic>
      <p:sp>
        <p:nvSpPr>
          <p:cNvPr id="7" name="Rectangle 6"/>
          <p:cNvSpPr/>
          <p:nvPr/>
        </p:nvSpPr>
        <p:spPr>
          <a:xfrm>
            <a:off x="6090557" y="1830047"/>
            <a:ext cx="5507531" cy="4801314"/>
          </a:xfrm>
          <a:prstGeom prst="rect">
            <a:avLst/>
          </a:prstGeom>
        </p:spPr>
        <p:txBody>
          <a:bodyPr wrap="square">
            <a:spAutoFit/>
          </a:bodyPr>
          <a:lstStyle/>
          <a:p>
            <a:pPr algn="just"/>
            <a:r>
              <a:rPr lang="en-US" dirty="0" smtClean="0"/>
              <a:t>As </a:t>
            </a:r>
            <a:r>
              <a:rPr lang="en-US" dirty="0"/>
              <a:t>described in RFC 3032, MPLS Label Stack Encoding, the label stack is represented as a sequence of label stack entries. Each label stack entry consists of 4 octets comprising a 20-bits label field. Hence, the maximum label value is 1048575. The S bit, if 1, marks the last entry of the label stack (Bottom of Stack). create a static LSP in an MPLS network consisting of two LERs and a single LSR. Packets towards host H5 are labeled by LER R1 with label 100. The intermediate LSR R2 swaps label 100 into label 200 and forwards packets to the LER R3 which, in turn, pops the label and delivers the packets to the destination H5.</a:t>
            </a:r>
          </a:p>
          <a:p>
            <a:pPr algn="just"/>
            <a:r>
              <a:rPr lang="en-US" dirty="0"/>
              <a:t>For packets generated by H5, the LER R3 encapsulates them with label 300. The intermediate LSR R2 swaps label 300 into label 400 and delivers the packets to the LER R1. Finally, R1 pops the MPLS label and delivers the packets to the destination H4</a:t>
            </a:r>
          </a:p>
        </p:txBody>
      </p:sp>
    </p:spTree>
    <p:extLst>
      <p:ext uri="{BB962C8B-B14F-4D97-AF65-F5344CB8AC3E}">
        <p14:creationId xmlns:p14="http://schemas.microsoft.com/office/powerpoint/2010/main" val="28194120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785537" y="978154"/>
            <a:ext cx="6329605" cy="4657373"/>
          </a:xfrm>
          <a:prstGeom prst="rect">
            <a:avLst/>
          </a:prstGeom>
        </p:spPr>
      </p:pic>
      <p:sp>
        <p:nvSpPr>
          <p:cNvPr id="4" name="TextBox 3"/>
          <p:cNvSpPr txBox="1"/>
          <p:nvPr/>
        </p:nvSpPr>
        <p:spPr>
          <a:xfrm>
            <a:off x="3812583" y="2937508"/>
            <a:ext cx="431528" cy="369332"/>
          </a:xfrm>
          <a:prstGeom prst="rect">
            <a:avLst/>
          </a:prstGeom>
          <a:noFill/>
        </p:spPr>
        <p:txBody>
          <a:bodyPr wrap="none" rtlCol="0">
            <a:spAutoFit/>
          </a:bodyPr>
          <a:lstStyle/>
          <a:p>
            <a:r>
              <a:rPr lang="en-US" b="1" dirty="0" smtClean="0"/>
              <a:t>R1</a:t>
            </a:r>
            <a:endParaRPr lang="en-US" b="1" dirty="0"/>
          </a:p>
        </p:txBody>
      </p:sp>
      <p:sp>
        <p:nvSpPr>
          <p:cNvPr id="5" name="TextBox 4"/>
          <p:cNvSpPr txBox="1"/>
          <p:nvPr/>
        </p:nvSpPr>
        <p:spPr>
          <a:xfrm>
            <a:off x="5730117" y="2341558"/>
            <a:ext cx="431528" cy="369332"/>
          </a:xfrm>
          <a:prstGeom prst="rect">
            <a:avLst/>
          </a:prstGeom>
          <a:noFill/>
        </p:spPr>
        <p:txBody>
          <a:bodyPr wrap="none" rtlCol="0">
            <a:spAutoFit/>
          </a:bodyPr>
          <a:lstStyle/>
          <a:p>
            <a:r>
              <a:rPr lang="en-US" b="1" dirty="0" smtClean="0"/>
              <a:t>R2</a:t>
            </a:r>
            <a:endParaRPr lang="en-US" b="1" dirty="0"/>
          </a:p>
        </p:txBody>
      </p:sp>
      <p:sp>
        <p:nvSpPr>
          <p:cNvPr id="6" name="TextBox 5"/>
          <p:cNvSpPr txBox="1"/>
          <p:nvPr/>
        </p:nvSpPr>
        <p:spPr>
          <a:xfrm>
            <a:off x="7036230" y="2937508"/>
            <a:ext cx="431528" cy="369332"/>
          </a:xfrm>
          <a:prstGeom prst="rect">
            <a:avLst/>
          </a:prstGeom>
          <a:noFill/>
        </p:spPr>
        <p:txBody>
          <a:bodyPr wrap="none" rtlCol="0">
            <a:spAutoFit/>
          </a:bodyPr>
          <a:lstStyle/>
          <a:p>
            <a:r>
              <a:rPr lang="en-US" b="1" dirty="0" smtClean="0"/>
              <a:t>R3</a:t>
            </a:r>
            <a:endParaRPr lang="en-US" b="1" dirty="0"/>
          </a:p>
        </p:txBody>
      </p:sp>
      <p:cxnSp>
        <p:nvCxnSpPr>
          <p:cNvPr id="10" name="Curved Connector 9"/>
          <p:cNvCxnSpPr/>
          <p:nvPr/>
        </p:nvCxnSpPr>
        <p:spPr>
          <a:xfrm flipV="1">
            <a:off x="3436417" y="1580394"/>
            <a:ext cx="2211321" cy="945831"/>
          </a:xfrm>
          <a:prstGeom prst="curved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1" name="Curved Connector 10"/>
          <p:cNvCxnSpPr/>
          <p:nvPr/>
        </p:nvCxnSpPr>
        <p:spPr>
          <a:xfrm>
            <a:off x="5872859" y="1571989"/>
            <a:ext cx="2188982" cy="883390"/>
          </a:xfrm>
          <a:prstGeom prst="curvedConnector3">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3" name="Curved Connector 12"/>
          <p:cNvCxnSpPr/>
          <p:nvPr/>
        </p:nvCxnSpPr>
        <p:spPr>
          <a:xfrm rot="10800000" flipV="1">
            <a:off x="3661978" y="1752189"/>
            <a:ext cx="1985760" cy="1013523"/>
          </a:xfrm>
          <a:prstGeom prst="curvedConnector3">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cxnSp>
        <p:nvCxnSpPr>
          <p:cNvPr id="14" name="Curved Connector 13"/>
          <p:cNvCxnSpPr/>
          <p:nvPr/>
        </p:nvCxnSpPr>
        <p:spPr>
          <a:xfrm rot="10800000">
            <a:off x="5838629" y="1752189"/>
            <a:ext cx="2213857" cy="958702"/>
          </a:xfrm>
          <a:prstGeom prst="curvedConnector3">
            <a:avLst/>
          </a:prstGeom>
          <a:ln>
            <a:solidFill>
              <a:srgbClr val="FF0000"/>
            </a:solidFill>
            <a:tailEnd type="triangle"/>
          </a:ln>
        </p:spPr>
        <p:style>
          <a:lnRef idx="2">
            <a:schemeClr val="accent4"/>
          </a:lnRef>
          <a:fillRef idx="0">
            <a:schemeClr val="accent4"/>
          </a:fillRef>
          <a:effectRef idx="1">
            <a:schemeClr val="accent4"/>
          </a:effectRef>
          <a:fontRef idx="minor">
            <a:schemeClr val="tx1"/>
          </a:fontRef>
        </p:style>
      </p:cxnSp>
      <p:sp>
        <p:nvSpPr>
          <p:cNvPr id="18" name="TextBox 17"/>
          <p:cNvSpPr txBox="1"/>
          <p:nvPr/>
        </p:nvSpPr>
        <p:spPr>
          <a:xfrm>
            <a:off x="4181236" y="1499311"/>
            <a:ext cx="1500732" cy="369332"/>
          </a:xfrm>
          <a:prstGeom prst="rect">
            <a:avLst/>
          </a:prstGeom>
          <a:noFill/>
        </p:spPr>
        <p:txBody>
          <a:bodyPr wrap="none" rtlCol="0">
            <a:spAutoFit/>
          </a:bodyPr>
          <a:lstStyle/>
          <a:p>
            <a:r>
              <a:rPr lang="en-US" b="1" dirty="0" smtClean="0">
                <a:solidFill>
                  <a:schemeClr val="accent4">
                    <a:lumMod val="60000"/>
                    <a:lumOff val="40000"/>
                  </a:schemeClr>
                </a:solidFill>
              </a:rPr>
              <a:t>LSP: </a:t>
            </a:r>
            <a:r>
              <a:rPr lang="en-US" b="1" dirty="0" smtClean="0"/>
              <a:t>label </a:t>
            </a:r>
            <a:r>
              <a:rPr lang="en-US" b="1" dirty="0" smtClean="0">
                <a:solidFill>
                  <a:schemeClr val="accent4">
                    <a:lumMod val="60000"/>
                    <a:lumOff val="40000"/>
                  </a:schemeClr>
                </a:solidFill>
              </a:rPr>
              <a:t>100</a:t>
            </a:r>
            <a:endParaRPr lang="en-US" b="1" dirty="0">
              <a:solidFill>
                <a:schemeClr val="accent4">
                  <a:lumMod val="60000"/>
                  <a:lumOff val="40000"/>
                </a:schemeClr>
              </a:solidFill>
            </a:endParaRPr>
          </a:p>
        </p:txBody>
      </p:sp>
      <p:sp>
        <p:nvSpPr>
          <p:cNvPr id="24" name="TextBox 23"/>
          <p:cNvSpPr txBox="1"/>
          <p:nvPr/>
        </p:nvSpPr>
        <p:spPr>
          <a:xfrm>
            <a:off x="5980324" y="1426248"/>
            <a:ext cx="1500732" cy="369332"/>
          </a:xfrm>
          <a:prstGeom prst="rect">
            <a:avLst/>
          </a:prstGeom>
          <a:noFill/>
        </p:spPr>
        <p:txBody>
          <a:bodyPr wrap="none" rtlCol="0">
            <a:spAutoFit/>
          </a:bodyPr>
          <a:lstStyle/>
          <a:p>
            <a:r>
              <a:rPr lang="en-US" b="1" dirty="0" smtClean="0">
                <a:solidFill>
                  <a:schemeClr val="accent4">
                    <a:lumMod val="60000"/>
                    <a:lumOff val="40000"/>
                  </a:schemeClr>
                </a:solidFill>
              </a:rPr>
              <a:t>LSP: </a:t>
            </a:r>
            <a:r>
              <a:rPr lang="en-US" b="1" dirty="0" smtClean="0"/>
              <a:t>label </a:t>
            </a:r>
            <a:r>
              <a:rPr lang="en-US" b="1" dirty="0" smtClean="0">
                <a:solidFill>
                  <a:schemeClr val="accent4">
                    <a:lumMod val="60000"/>
                    <a:lumOff val="40000"/>
                  </a:schemeClr>
                </a:solidFill>
              </a:rPr>
              <a:t>200</a:t>
            </a:r>
            <a:endParaRPr lang="en-US" b="1" dirty="0">
              <a:solidFill>
                <a:schemeClr val="accent4">
                  <a:lumMod val="60000"/>
                  <a:lumOff val="40000"/>
                </a:schemeClr>
              </a:solidFill>
            </a:endParaRPr>
          </a:p>
        </p:txBody>
      </p:sp>
      <p:sp>
        <p:nvSpPr>
          <p:cNvPr id="25" name="TextBox 24"/>
          <p:cNvSpPr txBox="1"/>
          <p:nvPr/>
        </p:nvSpPr>
        <p:spPr>
          <a:xfrm>
            <a:off x="3979593" y="1868643"/>
            <a:ext cx="1500732" cy="369332"/>
          </a:xfrm>
          <a:prstGeom prst="rect">
            <a:avLst/>
          </a:prstGeom>
          <a:noFill/>
        </p:spPr>
        <p:txBody>
          <a:bodyPr wrap="none" rtlCol="0">
            <a:spAutoFit/>
          </a:bodyPr>
          <a:lstStyle/>
          <a:p>
            <a:r>
              <a:rPr lang="en-US" b="1" dirty="0" smtClean="0">
                <a:solidFill>
                  <a:srgbClr val="FF0000"/>
                </a:solidFill>
              </a:rPr>
              <a:t>LSP</a:t>
            </a:r>
            <a:r>
              <a:rPr lang="en-US" b="1" dirty="0" smtClean="0">
                <a:solidFill>
                  <a:schemeClr val="accent4">
                    <a:lumMod val="60000"/>
                    <a:lumOff val="40000"/>
                  </a:schemeClr>
                </a:solidFill>
              </a:rPr>
              <a:t>: </a:t>
            </a:r>
            <a:r>
              <a:rPr lang="en-US" b="1" dirty="0" smtClean="0"/>
              <a:t>label </a:t>
            </a:r>
            <a:r>
              <a:rPr lang="en-US" b="1" dirty="0">
                <a:solidFill>
                  <a:srgbClr val="FF0000"/>
                </a:solidFill>
              </a:rPr>
              <a:t>4</a:t>
            </a:r>
            <a:r>
              <a:rPr lang="en-US" b="1" dirty="0" smtClean="0">
                <a:solidFill>
                  <a:srgbClr val="FF0000"/>
                </a:solidFill>
              </a:rPr>
              <a:t>00</a:t>
            </a:r>
            <a:endParaRPr lang="en-US" b="1" dirty="0">
              <a:solidFill>
                <a:srgbClr val="FF0000"/>
              </a:solidFill>
            </a:endParaRPr>
          </a:p>
        </p:txBody>
      </p:sp>
      <p:sp>
        <p:nvSpPr>
          <p:cNvPr id="26" name="TextBox 25"/>
          <p:cNvSpPr txBox="1"/>
          <p:nvPr/>
        </p:nvSpPr>
        <p:spPr>
          <a:xfrm>
            <a:off x="6216984" y="1885680"/>
            <a:ext cx="1500732" cy="369332"/>
          </a:xfrm>
          <a:prstGeom prst="rect">
            <a:avLst/>
          </a:prstGeom>
          <a:noFill/>
        </p:spPr>
        <p:txBody>
          <a:bodyPr wrap="none" rtlCol="0">
            <a:spAutoFit/>
          </a:bodyPr>
          <a:lstStyle/>
          <a:p>
            <a:r>
              <a:rPr lang="en-US" b="1" dirty="0" smtClean="0">
                <a:solidFill>
                  <a:srgbClr val="FF0000"/>
                </a:solidFill>
              </a:rPr>
              <a:t>LSP</a:t>
            </a:r>
            <a:r>
              <a:rPr lang="en-US" b="1" dirty="0" smtClean="0">
                <a:solidFill>
                  <a:schemeClr val="accent4">
                    <a:lumMod val="60000"/>
                    <a:lumOff val="40000"/>
                  </a:schemeClr>
                </a:solidFill>
              </a:rPr>
              <a:t>: </a:t>
            </a:r>
            <a:r>
              <a:rPr lang="en-US" b="1" dirty="0" smtClean="0"/>
              <a:t>label </a:t>
            </a:r>
            <a:r>
              <a:rPr lang="en-US" b="1" dirty="0" smtClean="0">
                <a:solidFill>
                  <a:srgbClr val="FF0000"/>
                </a:solidFill>
              </a:rPr>
              <a:t>300</a:t>
            </a:r>
            <a:endParaRPr lang="en-US" b="1" dirty="0">
              <a:solidFill>
                <a:srgbClr val="FF0000"/>
              </a:solidFill>
            </a:endParaRPr>
          </a:p>
        </p:txBody>
      </p:sp>
      <p:sp>
        <p:nvSpPr>
          <p:cNvPr id="27" name="TextBox 26"/>
          <p:cNvSpPr txBox="1"/>
          <p:nvPr/>
        </p:nvSpPr>
        <p:spPr>
          <a:xfrm>
            <a:off x="3099924" y="2568176"/>
            <a:ext cx="524503" cy="369332"/>
          </a:xfrm>
          <a:prstGeom prst="rect">
            <a:avLst/>
          </a:prstGeom>
          <a:noFill/>
        </p:spPr>
        <p:txBody>
          <a:bodyPr wrap="none" rtlCol="0">
            <a:spAutoFit/>
          </a:bodyPr>
          <a:lstStyle/>
          <a:p>
            <a:r>
              <a:rPr lang="en-US" b="1" dirty="0" smtClean="0">
                <a:solidFill>
                  <a:srgbClr val="00FDFF"/>
                </a:solidFill>
              </a:rPr>
              <a:t>LER</a:t>
            </a:r>
            <a:endParaRPr lang="en-US" b="1" dirty="0">
              <a:solidFill>
                <a:srgbClr val="00FDFF"/>
              </a:solidFill>
            </a:endParaRPr>
          </a:p>
        </p:txBody>
      </p:sp>
      <p:sp>
        <p:nvSpPr>
          <p:cNvPr id="28" name="TextBox 27"/>
          <p:cNvSpPr txBox="1"/>
          <p:nvPr/>
        </p:nvSpPr>
        <p:spPr>
          <a:xfrm>
            <a:off x="8300135" y="2937508"/>
            <a:ext cx="524503" cy="369332"/>
          </a:xfrm>
          <a:prstGeom prst="rect">
            <a:avLst/>
          </a:prstGeom>
          <a:noFill/>
        </p:spPr>
        <p:txBody>
          <a:bodyPr wrap="none" rtlCol="0">
            <a:spAutoFit/>
          </a:bodyPr>
          <a:lstStyle/>
          <a:p>
            <a:r>
              <a:rPr lang="en-US" b="1" dirty="0" smtClean="0">
                <a:solidFill>
                  <a:srgbClr val="00FDFF"/>
                </a:solidFill>
              </a:rPr>
              <a:t>LER</a:t>
            </a:r>
            <a:endParaRPr lang="en-US" b="1" dirty="0">
              <a:solidFill>
                <a:srgbClr val="00FDFF"/>
              </a:solidFill>
            </a:endParaRPr>
          </a:p>
        </p:txBody>
      </p:sp>
      <p:sp>
        <p:nvSpPr>
          <p:cNvPr id="29" name="TextBox 28"/>
          <p:cNvSpPr txBox="1"/>
          <p:nvPr/>
        </p:nvSpPr>
        <p:spPr>
          <a:xfrm>
            <a:off x="3782907" y="4644949"/>
            <a:ext cx="447558" cy="369332"/>
          </a:xfrm>
          <a:prstGeom prst="rect">
            <a:avLst/>
          </a:prstGeom>
          <a:noFill/>
        </p:spPr>
        <p:txBody>
          <a:bodyPr wrap="none" rtlCol="0">
            <a:spAutoFit/>
          </a:bodyPr>
          <a:lstStyle/>
          <a:p>
            <a:r>
              <a:rPr lang="en-US" b="1" dirty="0" smtClean="0"/>
              <a:t>H4</a:t>
            </a:r>
            <a:endParaRPr lang="en-US" b="1" dirty="0"/>
          </a:p>
        </p:txBody>
      </p:sp>
      <p:sp>
        <p:nvSpPr>
          <p:cNvPr id="30" name="TextBox 29"/>
          <p:cNvSpPr txBox="1"/>
          <p:nvPr/>
        </p:nvSpPr>
        <p:spPr>
          <a:xfrm>
            <a:off x="8392006" y="4777264"/>
            <a:ext cx="447558" cy="369332"/>
          </a:xfrm>
          <a:prstGeom prst="rect">
            <a:avLst/>
          </a:prstGeom>
          <a:noFill/>
        </p:spPr>
        <p:txBody>
          <a:bodyPr wrap="none" rtlCol="0">
            <a:spAutoFit/>
          </a:bodyPr>
          <a:lstStyle/>
          <a:p>
            <a:r>
              <a:rPr lang="en-US" b="1" dirty="0" smtClean="0"/>
              <a:t>H5</a:t>
            </a:r>
            <a:endParaRPr lang="en-US" b="1" dirty="0"/>
          </a:p>
        </p:txBody>
      </p:sp>
      <p:sp>
        <p:nvSpPr>
          <p:cNvPr id="31" name="TextBox 30"/>
          <p:cNvSpPr txBox="1"/>
          <p:nvPr/>
        </p:nvSpPr>
        <p:spPr>
          <a:xfrm>
            <a:off x="3411971" y="3896141"/>
            <a:ext cx="1636987" cy="369332"/>
          </a:xfrm>
          <a:prstGeom prst="rect">
            <a:avLst/>
          </a:prstGeom>
          <a:noFill/>
        </p:spPr>
        <p:txBody>
          <a:bodyPr wrap="none" rtlCol="0">
            <a:spAutoFit/>
          </a:bodyPr>
          <a:lstStyle/>
          <a:p>
            <a:r>
              <a:rPr lang="en-US" b="1" dirty="0" smtClean="0">
                <a:solidFill>
                  <a:schemeClr val="accent4">
                    <a:lumMod val="60000"/>
                    <a:lumOff val="40000"/>
                  </a:schemeClr>
                </a:solidFill>
              </a:rPr>
              <a:t>192.168.1.0/24</a:t>
            </a:r>
            <a:endParaRPr lang="en-US" b="1" dirty="0">
              <a:solidFill>
                <a:schemeClr val="accent4">
                  <a:lumMod val="60000"/>
                  <a:lumOff val="40000"/>
                </a:schemeClr>
              </a:solidFill>
            </a:endParaRPr>
          </a:p>
        </p:txBody>
      </p:sp>
      <p:sp>
        <p:nvSpPr>
          <p:cNvPr id="32" name="TextBox 31"/>
          <p:cNvSpPr txBox="1"/>
          <p:nvPr/>
        </p:nvSpPr>
        <p:spPr>
          <a:xfrm>
            <a:off x="3032541" y="4371511"/>
            <a:ext cx="417102" cy="369332"/>
          </a:xfrm>
          <a:prstGeom prst="rect">
            <a:avLst/>
          </a:prstGeom>
          <a:noFill/>
        </p:spPr>
        <p:txBody>
          <a:bodyPr wrap="none" rtlCol="0">
            <a:spAutoFit/>
          </a:bodyPr>
          <a:lstStyle/>
          <a:p>
            <a:r>
              <a:rPr lang="en-US" b="1" dirty="0" smtClean="0">
                <a:solidFill>
                  <a:schemeClr val="accent4">
                    <a:lumMod val="60000"/>
                    <a:lumOff val="40000"/>
                  </a:schemeClr>
                </a:solidFill>
              </a:rPr>
              <a:t>e0</a:t>
            </a:r>
            <a:endParaRPr lang="en-US" b="1" dirty="0">
              <a:solidFill>
                <a:schemeClr val="accent4">
                  <a:lumMod val="60000"/>
                  <a:lumOff val="40000"/>
                </a:schemeClr>
              </a:solidFill>
            </a:endParaRPr>
          </a:p>
        </p:txBody>
      </p:sp>
      <p:sp>
        <p:nvSpPr>
          <p:cNvPr id="33" name="TextBox 32"/>
          <p:cNvSpPr txBox="1"/>
          <p:nvPr/>
        </p:nvSpPr>
        <p:spPr>
          <a:xfrm>
            <a:off x="3559285" y="4267293"/>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34" name="TextBox 33"/>
          <p:cNvSpPr txBox="1"/>
          <p:nvPr/>
        </p:nvSpPr>
        <p:spPr>
          <a:xfrm>
            <a:off x="7628905" y="4371511"/>
            <a:ext cx="417102" cy="369332"/>
          </a:xfrm>
          <a:prstGeom prst="rect">
            <a:avLst/>
          </a:prstGeom>
          <a:noFill/>
        </p:spPr>
        <p:txBody>
          <a:bodyPr wrap="none" rtlCol="0">
            <a:spAutoFit/>
          </a:bodyPr>
          <a:lstStyle/>
          <a:p>
            <a:r>
              <a:rPr lang="en-US" b="1" dirty="0" smtClean="0">
                <a:solidFill>
                  <a:schemeClr val="accent4">
                    <a:lumMod val="60000"/>
                    <a:lumOff val="40000"/>
                  </a:schemeClr>
                </a:solidFill>
              </a:rPr>
              <a:t>e0</a:t>
            </a:r>
            <a:endParaRPr lang="en-US" b="1" dirty="0">
              <a:solidFill>
                <a:schemeClr val="accent4">
                  <a:lumMod val="60000"/>
                  <a:lumOff val="40000"/>
                </a:schemeClr>
              </a:solidFill>
            </a:endParaRPr>
          </a:p>
        </p:txBody>
      </p:sp>
      <p:sp>
        <p:nvSpPr>
          <p:cNvPr id="35" name="TextBox 34"/>
          <p:cNvSpPr txBox="1"/>
          <p:nvPr/>
        </p:nvSpPr>
        <p:spPr>
          <a:xfrm>
            <a:off x="8031336" y="3462844"/>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36" name="TextBox 35"/>
          <p:cNvSpPr txBox="1"/>
          <p:nvPr/>
        </p:nvSpPr>
        <p:spPr>
          <a:xfrm>
            <a:off x="6433500" y="3872316"/>
            <a:ext cx="1636987" cy="369332"/>
          </a:xfrm>
          <a:prstGeom prst="rect">
            <a:avLst/>
          </a:prstGeom>
          <a:noFill/>
        </p:spPr>
        <p:txBody>
          <a:bodyPr wrap="none" rtlCol="0">
            <a:spAutoFit/>
          </a:bodyPr>
          <a:lstStyle/>
          <a:p>
            <a:r>
              <a:rPr lang="en-US" b="1" dirty="0" smtClean="0">
                <a:solidFill>
                  <a:schemeClr val="accent4">
                    <a:lumMod val="60000"/>
                    <a:lumOff val="40000"/>
                  </a:schemeClr>
                </a:solidFill>
              </a:rPr>
              <a:t>192.168.2.0/24</a:t>
            </a:r>
            <a:endParaRPr lang="en-US" b="1" dirty="0">
              <a:solidFill>
                <a:schemeClr val="accent4">
                  <a:lumMod val="60000"/>
                  <a:lumOff val="40000"/>
                </a:schemeClr>
              </a:solidFill>
            </a:endParaRPr>
          </a:p>
        </p:txBody>
      </p:sp>
      <p:sp>
        <p:nvSpPr>
          <p:cNvPr id="37" name="TextBox 36"/>
          <p:cNvSpPr txBox="1"/>
          <p:nvPr/>
        </p:nvSpPr>
        <p:spPr>
          <a:xfrm>
            <a:off x="5568895" y="1156240"/>
            <a:ext cx="521297" cy="369332"/>
          </a:xfrm>
          <a:prstGeom prst="rect">
            <a:avLst/>
          </a:prstGeom>
          <a:noFill/>
        </p:spPr>
        <p:txBody>
          <a:bodyPr wrap="none" rtlCol="0">
            <a:spAutoFit/>
          </a:bodyPr>
          <a:lstStyle/>
          <a:p>
            <a:r>
              <a:rPr lang="en-US" b="1" dirty="0" smtClean="0">
                <a:solidFill>
                  <a:srgbClr val="00FDFF"/>
                </a:solidFill>
              </a:rPr>
              <a:t>LSR</a:t>
            </a:r>
            <a:endParaRPr lang="en-US" b="1" dirty="0">
              <a:solidFill>
                <a:srgbClr val="00FDFF"/>
              </a:solidFill>
            </a:endParaRPr>
          </a:p>
        </p:txBody>
      </p:sp>
      <p:sp>
        <p:nvSpPr>
          <p:cNvPr id="38" name="TextBox 37"/>
          <p:cNvSpPr txBox="1"/>
          <p:nvPr/>
        </p:nvSpPr>
        <p:spPr>
          <a:xfrm>
            <a:off x="3040331" y="3403045"/>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39" name="TextBox 38"/>
          <p:cNvSpPr txBox="1"/>
          <p:nvPr/>
        </p:nvSpPr>
        <p:spPr>
          <a:xfrm>
            <a:off x="8092386" y="4364519"/>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0" name="TextBox 39"/>
          <p:cNvSpPr txBox="1"/>
          <p:nvPr/>
        </p:nvSpPr>
        <p:spPr>
          <a:xfrm>
            <a:off x="4427431" y="2566356"/>
            <a:ext cx="1285929" cy="369332"/>
          </a:xfrm>
          <a:prstGeom prst="rect">
            <a:avLst/>
          </a:prstGeom>
          <a:noFill/>
        </p:spPr>
        <p:txBody>
          <a:bodyPr wrap="none" rtlCol="0">
            <a:spAutoFit/>
          </a:bodyPr>
          <a:lstStyle/>
          <a:p>
            <a:r>
              <a:rPr lang="en-US" b="1" dirty="0" smtClean="0">
                <a:solidFill>
                  <a:schemeClr val="accent4">
                    <a:lumMod val="60000"/>
                    <a:lumOff val="40000"/>
                  </a:schemeClr>
                </a:solidFill>
              </a:rPr>
              <a:t>10.0.0.0/30</a:t>
            </a:r>
            <a:endParaRPr lang="en-US" b="1" dirty="0">
              <a:solidFill>
                <a:schemeClr val="accent4">
                  <a:lumMod val="60000"/>
                  <a:lumOff val="40000"/>
                </a:schemeClr>
              </a:solidFill>
            </a:endParaRPr>
          </a:p>
        </p:txBody>
      </p:sp>
      <p:sp>
        <p:nvSpPr>
          <p:cNvPr id="41" name="TextBox 40"/>
          <p:cNvSpPr txBox="1"/>
          <p:nvPr/>
        </p:nvSpPr>
        <p:spPr>
          <a:xfrm>
            <a:off x="7005680" y="2366782"/>
            <a:ext cx="1285929" cy="369332"/>
          </a:xfrm>
          <a:prstGeom prst="rect">
            <a:avLst/>
          </a:prstGeom>
          <a:noFill/>
        </p:spPr>
        <p:txBody>
          <a:bodyPr wrap="none" rtlCol="0">
            <a:spAutoFit/>
          </a:bodyPr>
          <a:lstStyle/>
          <a:p>
            <a:r>
              <a:rPr lang="en-US" b="1" dirty="0" smtClean="0">
                <a:solidFill>
                  <a:schemeClr val="accent4">
                    <a:lumMod val="60000"/>
                    <a:lumOff val="40000"/>
                  </a:schemeClr>
                </a:solidFill>
              </a:rPr>
              <a:t>10.0.1.0/30</a:t>
            </a:r>
            <a:endParaRPr lang="en-US" b="1" dirty="0">
              <a:solidFill>
                <a:schemeClr val="accent4">
                  <a:lumMod val="60000"/>
                  <a:lumOff val="40000"/>
                </a:schemeClr>
              </a:solidFill>
            </a:endParaRPr>
          </a:p>
        </p:txBody>
      </p:sp>
      <p:sp>
        <p:nvSpPr>
          <p:cNvPr id="42" name="TextBox 41"/>
          <p:cNvSpPr txBox="1"/>
          <p:nvPr/>
        </p:nvSpPr>
        <p:spPr>
          <a:xfrm>
            <a:off x="3679390" y="2537844"/>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
        <p:nvSpPr>
          <p:cNvPr id="43" name="TextBox 42"/>
          <p:cNvSpPr txBox="1"/>
          <p:nvPr/>
        </p:nvSpPr>
        <p:spPr>
          <a:xfrm>
            <a:off x="5198267" y="2145856"/>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4" name="TextBox 43"/>
          <p:cNvSpPr txBox="1"/>
          <p:nvPr/>
        </p:nvSpPr>
        <p:spPr>
          <a:xfrm>
            <a:off x="6161645" y="2014962"/>
            <a:ext cx="415498" cy="369332"/>
          </a:xfrm>
          <a:prstGeom prst="rect">
            <a:avLst/>
          </a:prstGeom>
          <a:noFill/>
        </p:spPr>
        <p:txBody>
          <a:bodyPr wrap="none" rtlCol="0">
            <a:spAutoFit/>
          </a:bodyPr>
          <a:lstStyle/>
          <a:p>
            <a:r>
              <a:rPr lang="en-US" b="1" dirty="0" smtClean="0">
                <a:solidFill>
                  <a:schemeClr val="accent4">
                    <a:lumMod val="60000"/>
                    <a:lumOff val="40000"/>
                  </a:schemeClr>
                </a:solidFill>
              </a:rPr>
              <a:t>. 2</a:t>
            </a:r>
            <a:endParaRPr lang="en-US" b="1" dirty="0">
              <a:solidFill>
                <a:schemeClr val="accent4">
                  <a:lumMod val="60000"/>
                  <a:lumOff val="40000"/>
                </a:schemeClr>
              </a:solidFill>
            </a:endParaRPr>
          </a:p>
        </p:txBody>
      </p:sp>
      <p:sp>
        <p:nvSpPr>
          <p:cNvPr id="45" name="TextBox 44"/>
          <p:cNvSpPr txBox="1"/>
          <p:nvPr/>
        </p:nvSpPr>
        <p:spPr>
          <a:xfrm>
            <a:off x="7615838" y="2684040"/>
            <a:ext cx="415498" cy="369332"/>
          </a:xfrm>
          <a:prstGeom prst="rect">
            <a:avLst/>
          </a:prstGeom>
          <a:noFill/>
        </p:spPr>
        <p:txBody>
          <a:bodyPr wrap="none" rtlCol="0">
            <a:spAutoFit/>
          </a:bodyPr>
          <a:lstStyle/>
          <a:p>
            <a:r>
              <a:rPr lang="en-US" b="1" dirty="0" smtClean="0">
                <a:solidFill>
                  <a:schemeClr val="accent4">
                    <a:lumMod val="60000"/>
                    <a:lumOff val="40000"/>
                  </a:schemeClr>
                </a:solidFill>
              </a:rPr>
              <a:t>. 1</a:t>
            </a:r>
            <a:endParaRPr lang="en-US" b="1" dirty="0">
              <a:solidFill>
                <a:schemeClr val="accent4">
                  <a:lumMod val="60000"/>
                  <a:lumOff val="40000"/>
                </a:schemeClr>
              </a:solidFill>
            </a:endParaRPr>
          </a:p>
        </p:txBody>
      </p:sp>
    </p:spTree>
    <p:extLst>
      <p:ext uri="{BB962C8B-B14F-4D97-AF65-F5344CB8AC3E}">
        <p14:creationId xmlns:p14="http://schemas.microsoft.com/office/powerpoint/2010/main" val="33132119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706681" y="3807089"/>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smtClean="0">
                <a:solidFill>
                  <a:schemeClr val="bg1">
                    <a:lumMod val="75000"/>
                  </a:schemeClr>
                </a:solidFill>
              </a:rPr>
              <a:t>BGP Message</a:t>
            </a:r>
            <a:endParaRPr lang="en-US" b="1" dirty="0">
              <a:solidFill>
                <a:schemeClr val="bg1">
                  <a:lumMod val="75000"/>
                </a:schemeClr>
              </a:solidFill>
            </a:endParaRPr>
          </a:p>
        </p:txBody>
      </p:sp>
      <p:sp>
        <p:nvSpPr>
          <p:cNvPr id="5" name="Title 1"/>
          <p:cNvSpPr txBox="1">
            <a:spLocks/>
          </p:cNvSpPr>
          <p:nvPr/>
        </p:nvSpPr>
        <p:spPr>
          <a:xfrm>
            <a:off x="1748245" y="4130260"/>
            <a:ext cx="4493125" cy="49083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1600" b="1" dirty="0">
                <a:solidFill>
                  <a:schemeClr val="bg1">
                    <a:lumMod val="75000"/>
                  </a:schemeClr>
                </a:solidFill>
              </a:rPr>
              <a:t>Border Gateway protocol (BGP</a:t>
            </a:r>
          </a:p>
        </p:txBody>
      </p:sp>
      <p:sp>
        <p:nvSpPr>
          <p:cNvPr id="2" name="Rectangle 1"/>
          <p:cNvSpPr/>
          <p:nvPr/>
        </p:nvSpPr>
        <p:spPr>
          <a:xfrm>
            <a:off x="7302144" y="4159426"/>
            <a:ext cx="4414575" cy="923330"/>
          </a:xfrm>
          <a:prstGeom prst="rect">
            <a:avLst/>
          </a:prstGeom>
        </p:spPr>
        <p:txBody>
          <a:bodyPr wrap="square">
            <a:spAutoFit/>
          </a:bodyPr>
          <a:lstStyle/>
          <a:p>
            <a:r>
              <a:rPr lang="en-US" dirty="0">
                <a:solidFill>
                  <a:schemeClr val="bg1">
                    <a:lumMod val="75000"/>
                  </a:schemeClr>
                </a:solidFill>
              </a:rPr>
              <a:t>BGP MPLS Layer 3 VPNs GNS3 </a:t>
            </a:r>
            <a:r>
              <a:rPr lang="en-US" dirty="0" smtClean="0">
                <a:solidFill>
                  <a:schemeClr val="bg1">
                    <a:lumMod val="75000"/>
                  </a:schemeClr>
                </a:solidFill>
              </a:rPr>
              <a:t>Lab </a:t>
            </a:r>
          </a:p>
          <a:p>
            <a:r>
              <a:rPr lang="en-US" dirty="0" smtClean="0">
                <a:solidFill>
                  <a:schemeClr val="bg1">
                    <a:lumMod val="75000"/>
                  </a:schemeClr>
                </a:solidFill>
              </a:rPr>
              <a:t>MPLS </a:t>
            </a:r>
            <a:r>
              <a:rPr lang="en-US" dirty="0">
                <a:solidFill>
                  <a:schemeClr val="bg1">
                    <a:lumMod val="75000"/>
                  </a:schemeClr>
                </a:solidFill>
              </a:rPr>
              <a:t>L3 VPN </a:t>
            </a:r>
            <a:endParaRPr lang="en-US" dirty="0" smtClean="0">
              <a:solidFill>
                <a:schemeClr val="bg1">
                  <a:lumMod val="75000"/>
                </a:schemeClr>
              </a:solidFill>
            </a:endParaRPr>
          </a:p>
          <a:p>
            <a:r>
              <a:rPr lang="en-US" dirty="0" smtClean="0">
                <a:solidFill>
                  <a:schemeClr val="bg1">
                    <a:lumMod val="75000"/>
                  </a:schemeClr>
                </a:solidFill>
              </a:rPr>
              <a:t>Cisco </a:t>
            </a:r>
            <a:r>
              <a:rPr lang="en-US" dirty="0">
                <a:solidFill>
                  <a:schemeClr val="bg1">
                    <a:lumMod val="75000"/>
                  </a:schemeClr>
                </a:solidFill>
              </a:rPr>
              <a:t>MPLS VPN Configuration Guide </a:t>
            </a:r>
          </a:p>
        </p:txBody>
      </p:sp>
    </p:spTree>
    <p:extLst>
      <p:ext uri="{BB962C8B-B14F-4D97-AF65-F5344CB8AC3E}">
        <p14:creationId xmlns:p14="http://schemas.microsoft.com/office/powerpoint/2010/main" val="13715330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1923333" y="715418"/>
            <a:ext cx="8212471" cy="4541284"/>
          </a:xfrm>
          <a:prstGeom prst="rect">
            <a:avLst/>
          </a:prstGeom>
          <a:ln>
            <a:solidFill>
              <a:schemeClr val="bg1"/>
            </a:solidFill>
          </a:ln>
        </p:spPr>
      </p:pic>
      <p:sp>
        <p:nvSpPr>
          <p:cNvPr id="6" name="TextBox 5"/>
          <p:cNvSpPr txBox="1"/>
          <p:nvPr/>
        </p:nvSpPr>
        <p:spPr>
          <a:xfrm>
            <a:off x="8813074" y="1375954"/>
            <a:ext cx="795411" cy="1366528"/>
          </a:xfrm>
          <a:prstGeom prst="rect">
            <a:avLst/>
          </a:prstGeom>
          <a:noFill/>
        </p:spPr>
        <p:txBody>
          <a:bodyPr wrap="none" rtlCol="0">
            <a:spAutoFit/>
          </a:bodyPr>
          <a:lstStyle/>
          <a:p>
            <a:r>
              <a:rPr lang="en-US" sz="920" dirty="0"/>
              <a:t>SGB-600</a:t>
            </a:r>
          </a:p>
          <a:p>
            <a:r>
              <a:rPr lang="en-US" sz="920" dirty="0"/>
              <a:t>BLG-700</a:t>
            </a:r>
          </a:p>
          <a:p>
            <a:r>
              <a:rPr lang="en-US" sz="920" dirty="0"/>
              <a:t>AMA-AS200</a:t>
            </a:r>
          </a:p>
          <a:p>
            <a:r>
              <a:rPr lang="en-US" sz="920" dirty="0" smtClean="0"/>
              <a:t>13.13.0.0/16</a:t>
            </a:r>
          </a:p>
          <a:p>
            <a:r>
              <a:rPr lang="en-US" sz="920" dirty="0" smtClean="0"/>
              <a:t>14.14.0.0/16</a:t>
            </a:r>
          </a:p>
          <a:p>
            <a:r>
              <a:rPr lang="en-US" sz="920" dirty="0" smtClean="0"/>
              <a:t>Cisco.net</a:t>
            </a:r>
          </a:p>
          <a:p>
            <a:r>
              <a:rPr lang="en-US" sz="920" dirty="0" smtClean="0"/>
              <a:t>L3-AS_100</a:t>
            </a:r>
          </a:p>
          <a:p>
            <a:r>
              <a:rPr lang="en-US" sz="920" dirty="0" smtClean="0"/>
              <a:t>ISP-901</a:t>
            </a:r>
          </a:p>
          <a:p>
            <a:endParaRPr lang="en-US" sz="920" dirty="0"/>
          </a:p>
        </p:txBody>
      </p:sp>
      <p:sp>
        <p:nvSpPr>
          <p:cNvPr id="8" name="TextBox 7"/>
          <p:cNvSpPr txBox="1"/>
          <p:nvPr/>
        </p:nvSpPr>
        <p:spPr>
          <a:xfrm>
            <a:off x="1979395" y="1454472"/>
            <a:ext cx="862224" cy="523220"/>
          </a:xfrm>
          <a:prstGeom prst="rect">
            <a:avLst/>
          </a:prstGeom>
          <a:noFill/>
        </p:spPr>
        <p:txBody>
          <a:bodyPr wrap="none" rtlCol="0">
            <a:spAutoFit/>
          </a:bodyPr>
          <a:lstStyle/>
          <a:p>
            <a:r>
              <a:rPr lang="en-US" sz="1400" b="1" dirty="0" smtClean="0"/>
              <a:t>Cisco.net</a:t>
            </a:r>
          </a:p>
          <a:p>
            <a:endParaRPr lang="en-US" sz="1400" b="1" dirty="0"/>
          </a:p>
        </p:txBody>
      </p:sp>
      <p:sp>
        <p:nvSpPr>
          <p:cNvPr id="9" name="TextBox 8"/>
          <p:cNvSpPr txBox="1"/>
          <p:nvPr/>
        </p:nvSpPr>
        <p:spPr>
          <a:xfrm>
            <a:off x="2506714" y="1742208"/>
            <a:ext cx="963725" cy="523220"/>
          </a:xfrm>
          <a:prstGeom prst="rect">
            <a:avLst/>
          </a:prstGeom>
          <a:noFill/>
        </p:spPr>
        <p:txBody>
          <a:bodyPr wrap="none" rtlCol="0">
            <a:spAutoFit/>
          </a:bodyPr>
          <a:lstStyle/>
          <a:p>
            <a:r>
              <a:rPr lang="en-US" sz="1400" b="1" dirty="0" smtClean="0"/>
              <a:t>L3-AS_100</a:t>
            </a:r>
          </a:p>
          <a:p>
            <a:endParaRPr lang="en-US" sz="1400" b="1" dirty="0"/>
          </a:p>
        </p:txBody>
      </p:sp>
      <p:sp>
        <p:nvSpPr>
          <p:cNvPr id="10" name="TextBox 9"/>
          <p:cNvSpPr txBox="1"/>
          <p:nvPr/>
        </p:nvSpPr>
        <p:spPr>
          <a:xfrm>
            <a:off x="2156909" y="3154021"/>
            <a:ext cx="813043" cy="523220"/>
          </a:xfrm>
          <a:prstGeom prst="rect">
            <a:avLst/>
          </a:prstGeom>
          <a:noFill/>
        </p:spPr>
        <p:txBody>
          <a:bodyPr wrap="none" rtlCol="0">
            <a:spAutoFit/>
          </a:bodyPr>
          <a:lstStyle/>
          <a:p>
            <a:r>
              <a:rPr lang="en-US" sz="1400" b="1" dirty="0" smtClean="0"/>
              <a:t>SBG-600</a:t>
            </a:r>
          </a:p>
          <a:p>
            <a:endParaRPr lang="en-US" sz="1400" b="1" dirty="0"/>
          </a:p>
        </p:txBody>
      </p:sp>
      <p:sp>
        <p:nvSpPr>
          <p:cNvPr id="11" name="TextBox 10"/>
          <p:cNvSpPr txBox="1"/>
          <p:nvPr/>
        </p:nvSpPr>
        <p:spPr>
          <a:xfrm>
            <a:off x="3985710" y="4213785"/>
            <a:ext cx="742511" cy="307777"/>
          </a:xfrm>
          <a:prstGeom prst="rect">
            <a:avLst/>
          </a:prstGeom>
          <a:noFill/>
        </p:spPr>
        <p:txBody>
          <a:bodyPr wrap="none" rtlCol="0">
            <a:spAutoFit/>
          </a:bodyPr>
          <a:lstStyle/>
          <a:p>
            <a:r>
              <a:rPr lang="en-US" sz="1400" b="1" dirty="0" smtClean="0"/>
              <a:t>ISP-901</a:t>
            </a:r>
            <a:endParaRPr lang="en-US" sz="1400" b="1" dirty="0"/>
          </a:p>
        </p:txBody>
      </p:sp>
      <p:sp>
        <p:nvSpPr>
          <p:cNvPr id="14" name="TextBox 13"/>
          <p:cNvSpPr txBox="1"/>
          <p:nvPr/>
        </p:nvSpPr>
        <p:spPr>
          <a:xfrm>
            <a:off x="2262454" y="4159194"/>
            <a:ext cx="1158330" cy="307777"/>
          </a:xfrm>
          <a:prstGeom prst="rect">
            <a:avLst/>
          </a:prstGeom>
          <a:noFill/>
        </p:spPr>
        <p:txBody>
          <a:bodyPr wrap="none" rtlCol="0">
            <a:spAutoFit/>
          </a:bodyPr>
          <a:lstStyle/>
          <a:p>
            <a:r>
              <a:rPr lang="en-US" sz="1400" b="1" dirty="0" smtClean="0"/>
              <a:t>myVPCS.com</a:t>
            </a:r>
            <a:endParaRPr lang="en-US" sz="1400" b="1" dirty="0"/>
          </a:p>
        </p:txBody>
      </p:sp>
      <p:sp>
        <p:nvSpPr>
          <p:cNvPr id="15" name="TextBox 14"/>
          <p:cNvSpPr txBox="1"/>
          <p:nvPr/>
        </p:nvSpPr>
        <p:spPr>
          <a:xfrm>
            <a:off x="4621560" y="3072256"/>
            <a:ext cx="799899" cy="523220"/>
          </a:xfrm>
          <a:prstGeom prst="rect">
            <a:avLst/>
          </a:prstGeom>
          <a:noFill/>
        </p:spPr>
        <p:txBody>
          <a:bodyPr wrap="none" rtlCol="0">
            <a:spAutoFit/>
          </a:bodyPr>
          <a:lstStyle/>
          <a:p>
            <a:r>
              <a:rPr lang="en-US" sz="1400" b="1" dirty="0" smtClean="0"/>
              <a:t>BLG-700</a:t>
            </a:r>
          </a:p>
          <a:p>
            <a:endParaRPr lang="en-US" sz="1400" b="1" dirty="0"/>
          </a:p>
        </p:txBody>
      </p:sp>
      <p:sp>
        <p:nvSpPr>
          <p:cNvPr id="16" name="TextBox 15"/>
          <p:cNvSpPr txBox="1"/>
          <p:nvPr/>
        </p:nvSpPr>
        <p:spPr>
          <a:xfrm>
            <a:off x="3815791" y="1913804"/>
            <a:ext cx="1082348" cy="523220"/>
          </a:xfrm>
          <a:prstGeom prst="rect">
            <a:avLst/>
          </a:prstGeom>
          <a:noFill/>
        </p:spPr>
        <p:txBody>
          <a:bodyPr wrap="none" rtlCol="0">
            <a:spAutoFit/>
          </a:bodyPr>
          <a:lstStyle/>
          <a:p>
            <a:r>
              <a:rPr lang="en-US" sz="1400" b="1" dirty="0" smtClean="0"/>
              <a:t>AMA-AS200</a:t>
            </a:r>
          </a:p>
          <a:p>
            <a:endParaRPr lang="en-US" sz="1400" b="1" dirty="0"/>
          </a:p>
        </p:txBody>
      </p:sp>
    </p:spTree>
    <p:extLst>
      <p:ext uri="{BB962C8B-B14F-4D97-AF65-F5344CB8AC3E}">
        <p14:creationId xmlns:p14="http://schemas.microsoft.com/office/powerpoint/2010/main" val="34366071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220788"/>
          </a:xfrm>
        </p:spPr>
        <p:txBody>
          <a:bodyPr>
            <a:normAutofit/>
          </a:bodyPr>
          <a:lstStyle/>
          <a:p>
            <a:r>
              <a:rPr lang="en-US" dirty="0" smtClean="0">
                <a:solidFill>
                  <a:schemeClr val="bg1">
                    <a:lumMod val="65000"/>
                  </a:schemeClr>
                </a:solidFill>
              </a:rPr>
              <a:t>MPLS</a:t>
            </a:r>
            <a:endParaRPr lang="en-US" dirty="0">
              <a:solidFill>
                <a:schemeClr val="bg1">
                  <a:lumMod val="65000"/>
                </a:schemeClr>
              </a:solidFill>
            </a:endParaRPr>
          </a:p>
        </p:txBody>
      </p:sp>
      <p:sp>
        <p:nvSpPr>
          <p:cNvPr id="4" name="Rectangle 3"/>
          <p:cNvSpPr/>
          <p:nvPr/>
        </p:nvSpPr>
        <p:spPr>
          <a:xfrm>
            <a:off x="0" y="6488668"/>
            <a:ext cx="3830857" cy="276999"/>
          </a:xfrm>
          <a:prstGeom prst="rect">
            <a:avLst/>
          </a:prstGeom>
        </p:spPr>
        <p:txBody>
          <a:bodyPr wrap="none">
            <a:spAutoFit/>
          </a:bodyPr>
          <a:lstStyle/>
          <a:p>
            <a:r>
              <a:rPr lang="en-US" sz="1200" dirty="0">
                <a:solidFill>
                  <a:schemeClr val="bg1">
                    <a:lumMod val="85000"/>
                  </a:schemeClr>
                </a:solidFill>
              </a:rPr>
              <a:t>http://wpage.unina.it/rcanonic/didattica/gns3-labs/lab16/</a:t>
            </a:r>
          </a:p>
        </p:txBody>
      </p:sp>
      <p:sp>
        <p:nvSpPr>
          <p:cNvPr id="5" name="Rectangle 4"/>
          <p:cNvSpPr/>
          <p:nvPr/>
        </p:nvSpPr>
        <p:spPr>
          <a:xfrm>
            <a:off x="838200" y="1104107"/>
            <a:ext cx="2305050" cy="276999"/>
          </a:xfrm>
          <a:prstGeom prst="rect">
            <a:avLst/>
          </a:prstGeom>
        </p:spPr>
        <p:txBody>
          <a:bodyPr wrap="square">
            <a:spAutoFit/>
          </a:bodyPr>
          <a:lstStyle/>
          <a:p>
            <a:r>
              <a:rPr lang="en-US" sz="1200" dirty="0" smtClean="0">
                <a:solidFill>
                  <a:schemeClr val="bg1">
                    <a:lumMod val="85000"/>
                  </a:schemeClr>
                </a:solidFill>
              </a:rPr>
              <a:t>(Multiprotocol </a:t>
            </a:r>
            <a:r>
              <a:rPr lang="en-US" sz="1200" dirty="0">
                <a:solidFill>
                  <a:schemeClr val="bg1">
                    <a:lumMod val="85000"/>
                  </a:schemeClr>
                </a:solidFill>
              </a:rPr>
              <a:t>Label </a:t>
            </a:r>
            <a:r>
              <a:rPr lang="en-US" sz="1200" dirty="0" smtClean="0">
                <a:solidFill>
                  <a:schemeClr val="bg1">
                    <a:lumMod val="85000"/>
                  </a:schemeClr>
                </a:solidFill>
              </a:rPr>
              <a:t>Switching)</a:t>
            </a:r>
            <a:endParaRPr lang="en-US" sz="1200" dirty="0">
              <a:solidFill>
                <a:schemeClr val="bg1">
                  <a:lumMod val="85000"/>
                </a:schemeClr>
              </a:solidFill>
            </a:endParaRPr>
          </a:p>
        </p:txBody>
      </p:sp>
      <p:sp>
        <p:nvSpPr>
          <p:cNvPr id="6" name="Rectangle 5"/>
          <p:cNvSpPr/>
          <p:nvPr/>
        </p:nvSpPr>
        <p:spPr>
          <a:xfrm>
            <a:off x="838200" y="1318986"/>
            <a:ext cx="4171270" cy="369332"/>
          </a:xfrm>
          <a:prstGeom prst="rect">
            <a:avLst/>
          </a:prstGeom>
        </p:spPr>
        <p:txBody>
          <a:bodyPr wrap="none">
            <a:spAutoFit/>
          </a:bodyPr>
          <a:lstStyle/>
          <a:p>
            <a:r>
              <a:rPr lang="en-US" dirty="0"/>
              <a:t>MPLS with static Label Switched Path (LSP)</a:t>
            </a:r>
          </a:p>
        </p:txBody>
      </p:sp>
    </p:spTree>
    <p:extLst>
      <p:ext uri="{BB962C8B-B14F-4D97-AF65-F5344CB8AC3E}">
        <p14:creationId xmlns:p14="http://schemas.microsoft.com/office/powerpoint/2010/main" val="293806773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Konfigurasi</a:t>
            </a:r>
            <a:r>
              <a:rPr lang="en-US" dirty="0" smtClean="0"/>
              <a:t> </a:t>
            </a:r>
            <a:r>
              <a:rPr lang="en-US" dirty="0"/>
              <a:t>autonomous system (AS), </a:t>
            </a:r>
            <a:r>
              <a:rPr lang="en-US" dirty="0" err="1"/>
              <a:t>pembentukan</a:t>
            </a:r>
            <a:r>
              <a:rPr lang="en-US" dirty="0"/>
              <a:t> neighbor (</a:t>
            </a:r>
            <a:r>
              <a:rPr lang="en-US" dirty="0" err="1"/>
              <a:t>tetangga</a:t>
            </a:r>
            <a:r>
              <a:rPr lang="en-US" dirty="0"/>
              <a:t>) EBGP/IBGP, </a:t>
            </a:r>
            <a:r>
              <a:rPr lang="en-US" dirty="0" err="1"/>
              <a:t>dan</a:t>
            </a:r>
            <a:r>
              <a:rPr lang="en-US" dirty="0"/>
              <a:t> advertising network</a:t>
            </a:r>
          </a:p>
        </p:txBody>
      </p:sp>
      <p:sp>
        <p:nvSpPr>
          <p:cNvPr id="3" name="Content Placeholder 2"/>
          <p:cNvSpPr>
            <a:spLocks noGrp="1"/>
          </p:cNvSpPr>
          <p:nvPr>
            <p:ph idx="1"/>
          </p:nvPr>
        </p:nvSpPr>
        <p:spPr/>
        <p:txBody>
          <a:bodyPr/>
          <a:lstStyle/>
          <a:p>
            <a:r>
              <a:rPr lang="en-US" dirty="0" err="1" smtClean="0"/>
              <a:t>Pertukaran</a:t>
            </a:r>
            <a:r>
              <a:rPr lang="en-US" dirty="0" smtClean="0"/>
              <a:t> </a:t>
            </a:r>
            <a:r>
              <a:rPr lang="en-US" dirty="0" err="1"/>
              <a:t>rute</a:t>
            </a:r>
            <a:r>
              <a:rPr lang="en-US" dirty="0"/>
              <a:t> </a:t>
            </a:r>
            <a:r>
              <a:rPr lang="en-US" dirty="0" err="1"/>
              <a:t>antar-jaringan</a:t>
            </a:r>
            <a:r>
              <a:rPr lang="en-US" dirty="0"/>
              <a:t> </a:t>
            </a:r>
            <a:r>
              <a:rPr lang="en-US" dirty="0" err="1"/>
              <a:t>berbeda</a:t>
            </a:r>
            <a:r>
              <a:rPr lang="en-US" dirty="0"/>
              <a:t>, </a:t>
            </a:r>
            <a:r>
              <a:rPr lang="en-US" dirty="0" err="1"/>
              <a:t>manipulasi</a:t>
            </a:r>
            <a:r>
              <a:rPr lang="en-US" dirty="0"/>
              <a:t> </a:t>
            </a:r>
            <a:r>
              <a:rPr lang="en-US" dirty="0" err="1"/>
              <a:t>jalur</a:t>
            </a:r>
            <a:r>
              <a:rPr lang="en-US" dirty="0"/>
              <a:t> </a:t>
            </a:r>
            <a:r>
              <a:rPr lang="en-US" dirty="0" err="1"/>
              <a:t>menggunakan</a:t>
            </a:r>
            <a:r>
              <a:rPr lang="en-US" dirty="0"/>
              <a:t> </a:t>
            </a:r>
            <a:r>
              <a:rPr lang="en-US" dirty="0" err="1"/>
              <a:t>atribut</a:t>
            </a:r>
            <a:r>
              <a:rPr lang="en-US" dirty="0"/>
              <a:t>, </a:t>
            </a:r>
            <a:r>
              <a:rPr lang="en-US" dirty="0" err="1"/>
              <a:t>dan</a:t>
            </a:r>
            <a:r>
              <a:rPr lang="en-US" dirty="0"/>
              <a:t> </a:t>
            </a:r>
            <a:r>
              <a:rPr lang="en-US" dirty="0" err="1"/>
              <a:t>verifikasi</a:t>
            </a:r>
            <a:r>
              <a:rPr lang="en-US" dirty="0"/>
              <a:t> </a:t>
            </a:r>
            <a:r>
              <a:rPr lang="en-US" dirty="0" err="1"/>
              <a:t>sesi</a:t>
            </a:r>
            <a:endParaRPr lang="en-US" dirty="0"/>
          </a:p>
        </p:txBody>
      </p:sp>
    </p:spTree>
    <p:extLst>
      <p:ext uri="{BB962C8B-B14F-4D97-AF65-F5344CB8AC3E}">
        <p14:creationId xmlns:p14="http://schemas.microsoft.com/office/powerpoint/2010/main" val="27458052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IP </a:t>
            </a:r>
            <a:r>
              <a:rPr lang="en-US" dirty="0" err="1" smtClean="0"/>
              <a:t>addres</a:t>
            </a:r>
            <a:r>
              <a:rPr lang="en-US" dirty="0" smtClean="0"/>
              <a:t> </a:t>
            </a:r>
            <a:r>
              <a:rPr lang="en-US" dirty="0" err="1" smtClean="0"/>
              <a:t>telah</a:t>
            </a:r>
            <a:r>
              <a:rPr lang="en-US" dirty="0" smtClean="0"/>
              <a:t> di configure BGP</a:t>
            </a:r>
            <a:endParaRPr lang="en-US" dirty="0"/>
          </a:p>
        </p:txBody>
      </p:sp>
      <p:pic>
        <p:nvPicPr>
          <p:cNvPr id="4" name="Content Placeholder 3"/>
          <p:cNvPicPr>
            <a:picLocks noGrp="1" noChangeAspect="1"/>
          </p:cNvPicPr>
          <p:nvPr>
            <p:ph idx="1"/>
          </p:nvPr>
        </p:nvPicPr>
        <p:blipFill>
          <a:blip r:embed="rId2"/>
          <a:stretch>
            <a:fillRect/>
          </a:stretch>
        </p:blipFill>
        <p:spPr>
          <a:xfrm>
            <a:off x="1004887" y="2282031"/>
            <a:ext cx="5724525" cy="2752725"/>
          </a:xfrm>
          <a:prstGeom prst="rect">
            <a:avLst/>
          </a:prstGeom>
        </p:spPr>
      </p:pic>
    </p:spTree>
    <p:extLst>
      <p:ext uri="{BB962C8B-B14F-4D97-AF65-F5344CB8AC3E}">
        <p14:creationId xmlns:p14="http://schemas.microsoft.com/office/powerpoint/2010/main" val="80281986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163" y="112710"/>
            <a:ext cx="10515600" cy="1325563"/>
          </a:xfrm>
        </p:spPr>
        <p:txBody>
          <a:bodyPr/>
          <a:lstStyle/>
          <a:p>
            <a:r>
              <a:rPr lang="en-US" dirty="0" smtClean="0"/>
              <a:t>Run </a:t>
            </a:r>
            <a:r>
              <a:rPr lang="en-US" dirty="0" err="1" smtClean="0"/>
              <a:t>Wiresark</a:t>
            </a:r>
            <a:endParaRPr lang="en-US" dirty="0"/>
          </a:p>
        </p:txBody>
      </p:sp>
      <p:sp>
        <p:nvSpPr>
          <p:cNvPr id="3" name="Content Placeholder 2"/>
          <p:cNvSpPr>
            <a:spLocks noGrp="1"/>
          </p:cNvSpPr>
          <p:nvPr>
            <p:ph idx="1"/>
          </p:nvPr>
        </p:nvSpPr>
        <p:spPr/>
        <p:txBody>
          <a:bodyPr/>
          <a:lstStyle/>
          <a:p>
            <a:r>
              <a:rPr lang="en-US" dirty="0" smtClean="0"/>
              <a:t>Start Capture</a:t>
            </a:r>
            <a:endParaRPr lang="en-US" dirty="0"/>
          </a:p>
        </p:txBody>
      </p:sp>
      <p:pic>
        <p:nvPicPr>
          <p:cNvPr id="4" name="Picture 3"/>
          <p:cNvPicPr>
            <a:picLocks noChangeAspect="1"/>
          </p:cNvPicPr>
          <p:nvPr/>
        </p:nvPicPr>
        <p:blipFill>
          <a:blip r:embed="rId2"/>
          <a:stretch>
            <a:fillRect/>
          </a:stretch>
        </p:blipFill>
        <p:spPr>
          <a:xfrm>
            <a:off x="1347787" y="2328862"/>
            <a:ext cx="3495675" cy="1800225"/>
          </a:xfrm>
          <a:prstGeom prst="rect">
            <a:avLst/>
          </a:prstGeom>
        </p:spPr>
      </p:pic>
      <p:sp>
        <p:nvSpPr>
          <p:cNvPr id="5" name="Content Placeholder 2"/>
          <p:cNvSpPr txBox="1">
            <a:spLocks/>
          </p:cNvSpPr>
          <p:nvPr/>
        </p:nvSpPr>
        <p:spPr>
          <a:xfrm>
            <a:off x="538163" y="1053305"/>
            <a:ext cx="10515600" cy="546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Kita </a:t>
            </a:r>
            <a:r>
              <a:rPr lang="en-US" dirty="0" err="1" smtClean="0"/>
              <a:t>adalah</a:t>
            </a:r>
            <a:r>
              <a:rPr lang="en-US" dirty="0" smtClean="0"/>
              <a:t> Admin </a:t>
            </a:r>
            <a:r>
              <a:rPr lang="en-US" dirty="0" err="1" smtClean="0"/>
              <a:t>dari</a:t>
            </a:r>
            <a:r>
              <a:rPr lang="en-US" dirty="0" smtClean="0"/>
              <a:t> My ISP</a:t>
            </a:r>
            <a:endParaRPr lang="en-US" dirty="0"/>
          </a:p>
        </p:txBody>
      </p:sp>
      <p:pic>
        <p:nvPicPr>
          <p:cNvPr id="6" name="Picture 5"/>
          <p:cNvPicPr>
            <a:picLocks noChangeAspect="1"/>
          </p:cNvPicPr>
          <p:nvPr/>
        </p:nvPicPr>
        <p:blipFill>
          <a:blip r:embed="rId3"/>
          <a:stretch>
            <a:fillRect/>
          </a:stretch>
        </p:blipFill>
        <p:spPr>
          <a:xfrm>
            <a:off x="5448298" y="1438273"/>
            <a:ext cx="6067425" cy="4286250"/>
          </a:xfrm>
          <a:prstGeom prst="rect">
            <a:avLst/>
          </a:prstGeom>
        </p:spPr>
      </p:pic>
      <p:sp>
        <p:nvSpPr>
          <p:cNvPr id="7" name="Content Placeholder 2"/>
          <p:cNvSpPr txBox="1">
            <a:spLocks/>
          </p:cNvSpPr>
          <p:nvPr/>
        </p:nvSpPr>
        <p:spPr>
          <a:xfrm>
            <a:off x="5448298" y="891378"/>
            <a:ext cx="10515600" cy="5468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smtClean="0"/>
              <a:t>Kita </a:t>
            </a:r>
            <a:r>
              <a:rPr lang="en-US" dirty="0" err="1" smtClean="0"/>
              <a:t>adalah</a:t>
            </a:r>
            <a:r>
              <a:rPr lang="en-US" dirty="0" smtClean="0"/>
              <a:t> Admin </a:t>
            </a:r>
            <a:r>
              <a:rPr lang="en-US" dirty="0" err="1" smtClean="0"/>
              <a:t>dari</a:t>
            </a:r>
            <a:r>
              <a:rPr lang="en-US" dirty="0" smtClean="0"/>
              <a:t> My ISP</a:t>
            </a:r>
            <a:endParaRPr lang="en-US" dirty="0"/>
          </a:p>
        </p:txBody>
      </p:sp>
    </p:spTree>
    <p:extLst>
      <p:ext uri="{BB962C8B-B14F-4D97-AF65-F5344CB8AC3E}">
        <p14:creationId xmlns:p14="http://schemas.microsoft.com/office/powerpoint/2010/main" val="427932709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075" y="19050"/>
            <a:ext cx="10515600" cy="1325563"/>
          </a:xfrm>
        </p:spPr>
        <p:txBody>
          <a:bodyPr/>
          <a:lstStyle/>
          <a:p>
            <a:r>
              <a:rPr lang="en-US" dirty="0" smtClean="0"/>
              <a:t>CDP</a:t>
            </a:r>
            <a:endParaRPr lang="en-US" dirty="0"/>
          </a:p>
        </p:txBody>
      </p:sp>
      <p:pic>
        <p:nvPicPr>
          <p:cNvPr id="4" name="Picture 3"/>
          <p:cNvPicPr>
            <a:picLocks noChangeAspect="1"/>
          </p:cNvPicPr>
          <p:nvPr/>
        </p:nvPicPr>
        <p:blipFill>
          <a:blip r:embed="rId2"/>
          <a:stretch>
            <a:fillRect/>
          </a:stretch>
        </p:blipFill>
        <p:spPr>
          <a:xfrm>
            <a:off x="219075" y="1100534"/>
            <a:ext cx="6067425" cy="4286250"/>
          </a:xfrm>
          <a:prstGeom prst="rect">
            <a:avLst/>
          </a:prstGeom>
        </p:spPr>
      </p:pic>
      <p:pic>
        <p:nvPicPr>
          <p:cNvPr id="5" name="Picture 4"/>
          <p:cNvPicPr>
            <a:picLocks noChangeAspect="1"/>
          </p:cNvPicPr>
          <p:nvPr/>
        </p:nvPicPr>
        <p:blipFill>
          <a:blip r:embed="rId3"/>
          <a:stretch>
            <a:fillRect/>
          </a:stretch>
        </p:blipFill>
        <p:spPr>
          <a:xfrm>
            <a:off x="5934075" y="0"/>
            <a:ext cx="6038850" cy="4305300"/>
          </a:xfrm>
          <a:prstGeom prst="rect">
            <a:avLst/>
          </a:prstGeom>
        </p:spPr>
      </p:pic>
      <p:pic>
        <p:nvPicPr>
          <p:cNvPr id="6" name="Picture 5"/>
          <p:cNvPicPr>
            <a:picLocks noChangeAspect="1"/>
          </p:cNvPicPr>
          <p:nvPr/>
        </p:nvPicPr>
        <p:blipFill>
          <a:blip r:embed="rId4"/>
          <a:stretch>
            <a:fillRect/>
          </a:stretch>
        </p:blipFill>
        <p:spPr>
          <a:xfrm>
            <a:off x="6005512" y="2741017"/>
            <a:ext cx="5895975" cy="4210050"/>
          </a:xfrm>
          <a:prstGeom prst="rect">
            <a:avLst/>
          </a:prstGeom>
        </p:spPr>
      </p:pic>
    </p:spTree>
    <p:extLst>
      <p:ext uri="{BB962C8B-B14F-4D97-AF65-F5344CB8AC3E}">
        <p14:creationId xmlns:p14="http://schemas.microsoft.com/office/powerpoint/2010/main" val="140177675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Int</a:t>
            </a:r>
            <a:r>
              <a:rPr lang="en-US" dirty="0" smtClean="0"/>
              <a:t> 0/0 no </a:t>
            </a:r>
            <a:r>
              <a:rPr lang="en-US" dirty="0" err="1" smtClean="0"/>
              <a:t>cdp</a:t>
            </a:r>
            <a:endParaRPr lang="en-US" dirty="0"/>
          </a:p>
        </p:txBody>
      </p:sp>
      <p:pic>
        <p:nvPicPr>
          <p:cNvPr id="4" name="Picture 3"/>
          <p:cNvPicPr>
            <a:picLocks noChangeAspect="1"/>
          </p:cNvPicPr>
          <p:nvPr/>
        </p:nvPicPr>
        <p:blipFill>
          <a:blip r:embed="rId2"/>
          <a:stretch>
            <a:fillRect/>
          </a:stretch>
        </p:blipFill>
        <p:spPr>
          <a:xfrm>
            <a:off x="304800" y="1457324"/>
            <a:ext cx="6038850" cy="4248150"/>
          </a:xfrm>
          <a:prstGeom prst="rect">
            <a:avLst/>
          </a:prstGeom>
        </p:spPr>
      </p:pic>
      <p:sp>
        <p:nvSpPr>
          <p:cNvPr id="5" name="Title 1"/>
          <p:cNvSpPr txBox="1">
            <a:spLocks/>
          </p:cNvSpPr>
          <p:nvPr/>
        </p:nvSpPr>
        <p:spPr>
          <a:xfrm>
            <a:off x="6566807" y="131761"/>
            <a:ext cx="670287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CDP </a:t>
            </a:r>
            <a:r>
              <a:rPr lang="en-US" dirty="0" err="1" smtClean="0"/>
              <a:t>ke</a:t>
            </a:r>
            <a:r>
              <a:rPr lang="en-US" dirty="0" smtClean="0"/>
              <a:t> </a:t>
            </a:r>
            <a:r>
              <a:rPr lang="en-US" dirty="0" err="1" smtClean="0"/>
              <a:t>cdp</a:t>
            </a:r>
            <a:r>
              <a:rPr lang="en-US" dirty="0" smtClean="0"/>
              <a:t> </a:t>
            </a:r>
            <a:r>
              <a:rPr lang="en-US" dirty="0" err="1" smtClean="0"/>
              <a:t>berikutnya</a:t>
            </a:r>
            <a:r>
              <a:rPr lang="en-US" dirty="0" smtClean="0"/>
              <a:t> : s3etiap 1 </a:t>
            </a:r>
            <a:r>
              <a:rPr lang="en-US" dirty="0" err="1" smtClean="0"/>
              <a:t>menit</a:t>
            </a:r>
            <a:endParaRPr lang="en-US" dirty="0"/>
          </a:p>
        </p:txBody>
      </p:sp>
      <p:pic>
        <p:nvPicPr>
          <p:cNvPr id="6" name="Picture 5"/>
          <p:cNvPicPr>
            <a:picLocks noChangeAspect="1"/>
          </p:cNvPicPr>
          <p:nvPr/>
        </p:nvPicPr>
        <p:blipFill>
          <a:blip r:embed="rId3"/>
          <a:stretch>
            <a:fillRect/>
          </a:stretch>
        </p:blipFill>
        <p:spPr>
          <a:xfrm>
            <a:off x="6566807" y="1538286"/>
            <a:ext cx="5320394" cy="4086225"/>
          </a:xfrm>
          <a:prstGeom prst="rect">
            <a:avLst/>
          </a:prstGeom>
        </p:spPr>
      </p:pic>
      <p:sp>
        <p:nvSpPr>
          <p:cNvPr id="7" name="Title 1"/>
          <p:cNvSpPr txBox="1">
            <a:spLocks/>
          </p:cNvSpPr>
          <p:nvPr/>
        </p:nvSpPr>
        <p:spPr>
          <a:xfrm>
            <a:off x="6172201" y="5624511"/>
            <a:ext cx="636610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Send mac address 7.7.7.1 </a:t>
            </a:r>
            <a:r>
              <a:rPr lang="en-US" dirty="0" err="1" smtClean="0"/>
              <a:t>tidak</a:t>
            </a:r>
            <a:r>
              <a:rPr lang="en-US" dirty="0" smtClean="0"/>
              <a:t> </a:t>
            </a:r>
            <a:r>
              <a:rPr lang="en-US" dirty="0" err="1" smtClean="0"/>
              <a:t>ketahuan</a:t>
            </a:r>
            <a:endParaRPr lang="en-US" dirty="0"/>
          </a:p>
        </p:txBody>
      </p:sp>
    </p:spTree>
    <p:extLst>
      <p:ext uri="{BB962C8B-B14F-4D97-AF65-F5344CB8AC3E}">
        <p14:creationId xmlns:p14="http://schemas.microsoft.com/office/powerpoint/2010/main" val="168057332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NAPY </a:t>
            </a:r>
            <a:r>
              <a:rPr lang="en-US" dirty="0" err="1" smtClean="0"/>
              <a:t>telah</a:t>
            </a:r>
            <a:r>
              <a:rPr lang="en-US" dirty="0" smtClean="0"/>
              <a:t> </a:t>
            </a:r>
            <a:r>
              <a:rPr lang="en-US" dirty="0" err="1" smtClean="0"/>
              <a:t>hidup</a:t>
            </a:r>
            <a:endParaRPr lang="en-US" dirty="0"/>
          </a:p>
        </p:txBody>
      </p:sp>
      <p:pic>
        <p:nvPicPr>
          <p:cNvPr id="4" name="Content Placeholder 3"/>
          <p:cNvPicPr>
            <a:picLocks noGrp="1" noChangeAspect="1"/>
          </p:cNvPicPr>
          <p:nvPr>
            <p:ph idx="1"/>
          </p:nvPr>
        </p:nvPicPr>
        <p:blipFill>
          <a:blip r:embed="rId2"/>
          <a:stretch>
            <a:fillRect/>
          </a:stretch>
        </p:blipFill>
        <p:spPr>
          <a:xfrm>
            <a:off x="838200" y="1505743"/>
            <a:ext cx="6000750" cy="4276725"/>
          </a:xfrm>
          <a:prstGeom prst="rect">
            <a:avLst/>
          </a:prstGeom>
        </p:spPr>
      </p:pic>
      <p:sp>
        <p:nvSpPr>
          <p:cNvPr id="5" name="Title 1"/>
          <p:cNvSpPr txBox="1">
            <a:spLocks/>
          </p:cNvSpPr>
          <p:nvPr/>
        </p:nvSpPr>
        <p:spPr>
          <a:xfrm>
            <a:off x="7038975" y="18018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mtClean="0"/>
              <a:t>NAPY telah hidup</a:t>
            </a:r>
            <a:endParaRPr lang="en-US" dirty="0"/>
          </a:p>
        </p:txBody>
      </p:sp>
    </p:spTree>
    <p:extLst>
      <p:ext uri="{BB962C8B-B14F-4D97-AF65-F5344CB8AC3E}">
        <p14:creationId xmlns:p14="http://schemas.microsoft.com/office/powerpoint/2010/main" val="172648036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CDP</a:t>
            </a:r>
            <a:endParaRPr lang="en-US" dirty="0"/>
          </a:p>
        </p:txBody>
      </p:sp>
      <p:sp>
        <p:nvSpPr>
          <p:cNvPr id="3" name="Content Placeholder 2"/>
          <p:cNvSpPr>
            <a:spLocks noGrp="1"/>
          </p:cNvSpPr>
          <p:nvPr>
            <p:ph idx="1"/>
          </p:nvPr>
        </p:nvSpPr>
        <p:spPr>
          <a:xfrm>
            <a:off x="838200" y="1394658"/>
            <a:ext cx="10515600" cy="4351338"/>
          </a:xfrm>
        </p:spPr>
        <p:txBody>
          <a:bodyPr/>
          <a:lstStyle/>
          <a:p>
            <a:r>
              <a:rPr lang="en-US" dirty="0" smtClean="0"/>
              <a:t>No CDP</a:t>
            </a:r>
          </a:p>
          <a:p>
            <a:r>
              <a:rPr lang="en-US" dirty="0" smtClean="0"/>
              <a:t>Yang </a:t>
            </a:r>
            <a:r>
              <a:rPr lang="en-US" dirty="0" err="1" smtClean="0"/>
              <a:t>Tampil</a:t>
            </a:r>
            <a:r>
              <a:rPr lang="en-US" dirty="0" smtClean="0"/>
              <a:t> Packet ARP</a:t>
            </a:r>
            <a:endParaRPr lang="en-US" dirty="0"/>
          </a:p>
        </p:txBody>
      </p:sp>
      <p:pic>
        <p:nvPicPr>
          <p:cNvPr id="4" name="Picture 3"/>
          <p:cNvPicPr>
            <a:picLocks noChangeAspect="1"/>
          </p:cNvPicPr>
          <p:nvPr/>
        </p:nvPicPr>
        <p:blipFill>
          <a:blip r:embed="rId2"/>
          <a:stretch>
            <a:fillRect/>
          </a:stretch>
        </p:blipFill>
        <p:spPr>
          <a:xfrm>
            <a:off x="993829" y="2410529"/>
            <a:ext cx="5592951" cy="4040334"/>
          </a:xfrm>
          <a:prstGeom prst="rect">
            <a:avLst/>
          </a:prstGeom>
        </p:spPr>
      </p:pic>
    </p:spTree>
    <p:extLst>
      <p:ext uri="{BB962C8B-B14F-4D97-AF65-F5344CB8AC3E}">
        <p14:creationId xmlns:p14="http://schemas.microsoft.com/office/powerpoint/2010/main" val="295192313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7801" y="365398"/>
            <a:ext cx="10515600" cy="1325563"/>
          </a:xfrm>
        </p:spPr>
        <p:txBody>
          <a:bodyPr/>
          <a:lstStyle/>
          <a:p>
            <a:r>
              <a:rPr lang="en-US" dirty="0" err="1" smtClean="0"/>
              <a:t>Aktifkan</a:t>
            </a:r>
            <a:r>
              <a:rPr lang="en-US" dirty="0" smtClean="0"/>
              <a:t> Router MKPY</a:t>
            </a:r>
            <a:endParaRPr lang="en-US" dirty="0"/>
          </a:p>
        </p:txBody>
      </p:sp>
      <p:pic>
        <p:nvPicPr>
          <p:cNvPr id="4" name="Content Placeholder 3"/>
          <p:cNvPicPr>
            <a:picLocks noGrp="1" noChangeAspect="1"/>
          </p:cNvPicPr>
          <p:nvPr>
            <p:ph idx="1"/>
          </p:nvPr>
        </p:nvPicPr>
        <p:blipFill>
          <a:blip r:embed="rId2"/>
          <a:stretch>
            <a:fillRect/>
          </a:stretch>
        </p:blipFill>
        <p:spPr>
          <a:xfrm>
            <a:off x="803820" y="1434059"/>
            <a:ext cx="4991781" cy="3564431"/>
          </a:xfrm>
          <a:prstGeom prst="rect">
            <a:avLst/>
          </a:prstGeom>
        </p:spPr>
      </p:pic>
      <p:sp>
        <p:nvSpPr>
          <p:cNvPr id="5" name="Title 1"/>
          <p:cNvSpPr txBox="1">
            <a:spLocks/>
          </p:cNvSpPr>
          <p:nvPr/>
        </p:nvSpPr>
        <p:spPr>
          <a:xfrm>
            <a:off x="6373585" y="23694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t>771 send to 772</a:t>
            </a:r>
            <a:endParaRPr lang="en-US" dirty="0"/>
          </a:p>
        </p:txBody>
      </p:sp>
      <p:pic>
        <p:nvPicPr>
          <p:cNvPr id="6" name="Picture 5"/>
          <p:cNvPicPr>
            <a:picLocks noChangeAspect="1"/>
          </p:cNvPicPr>
          <p:nvPr/>
        </p:nvPicPr>
        <p:blipFill>
          <a:blip r:embed="rId3"/>
          <a:stretch>
            <a:fillRect/>
          </a:stretch>
        </p:blipFill>
        <p:spPr>
          <a:xfrm>
            <a:off x="6496048" y="1434058"/>
            <a:ext cx="5461263" cy="3823741"/>
          </a:xfrm>
          <a:prstGeom prst="rect">
            <a:avLst/>
          </a:prstGeom>
        </p:spPr>
      </p:pic>
    </p:spTree>
    <p:extLst>
      <p:ext uri="{BB962C8B-B14F-4D97-AF65-F5344CB8AC3E}">
        <p14:creationId xmlns:p14="http://schemas.microsoft.com/office/powerpoint/2010/main" val="388584302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8" name="Rectangle 4"/>
          <p:cNvSpPr>
            <a:spLocks noChangeArrowheads="1"/>
          </p:cNvSpPr>
          <p:nvPr/>
        </p:nvSpPr>
        <p:spPr bwMode="auto">
          <a:xfrm>
            <a:off x="1828800" y="0"/>
            <a:ext cx="8610600" cy="762000"/>
          </a:xfrm>
          <a:prstGeom prst="rect">
            <a:avLst/>
          </a:prstGeom>
          <a:noFill/>
          <a:ln w="9525">
            <a:noFill/>
            <a:miter lim="800000"/>
            <a:headEnd/>
            <a:tailEnd/>
          </a:ln>
          <a:effectLst/>
        </p:spPr>
        <p:txBody>
          <a:bodyPr anchor="ctr"/>
          <a:lstStyle/>
          <a:p>
            <a:pPr algn="ctr"/>
            <a:r>
              <a:rPr lang="en-US" sz="2800" b="1" dirty="0">
                <a:solidFill>
                  <a:srgbClr val="FF0066"/>
                </a:solidFill>
                <a:effectLst>
                  <a:outerShdw blurRad="38100" dist="38100" dir="2700000" algn="tl">
                    <a:srgbClr val="000000"/>
                  </a:outerShdw>
                </a:effectLst>
                <a:latin typeface="Arial" pitchFamily="34" charset="0"/>
              </a:rPr>
              <a:t>Gateway</a:t>
            </a:r>
          </a:p>
        </p:txBody>
      </p:sp>
      <p:sp>
        <p:nvSpPr>
          <p:cNvPr id="472070" name="Oval 6"/>
          <p:cNvSpPr>
            <a:spLocks noChangeArrowheads="1"/>
          </p:cNvSpPr>
          <p:nvPr/>
        </p:nvSpPr>
        <p:spPr bwMode="auto">
          <a:xfrm>
            <a:off x="3196525" y="5295900"/>
            <a:ext cx="1219200" cy="685800"/>
          </a:xfrm>
          <a:prstGeom prst="ellipse">
            <a:avLst/>
          </a:prstGeom>
          <a:noFill/>
          <a:ln w="57150">
            <a:solidFill>
              <a:srgbClr val="FF5050"/>
            </a:solidFill>
            <a:round/>
            <a:headEnd/>
            <a:tailEnd/>
          </a:ln>
          <a:effectLst/>
        </p:spPr>
        <p:txBody>
          <a:bodyPr wrap="none" anchor="ctr"/>
          <a:lstStyle/>
          <a:p>
            <a:endParaRPr lang="en-SG"/>
          </a:p>
        </p:txBody>
      </p:sp>
      <p:sp>
        <p:nvSpPr>
          <p:cNvPr id="472071" name="Oval 7"/>
          <p:cNvSpPr>
            <a:spLocks noChangeArrowheads="1"/>
          </p:cNvSpPr>
          <p:nvPr/>
        </p:nvSpPr>
        <p:spPr bwMode="auto">
          <a:xfrm>
            <a:off x="7443707" y="5295900"/>
            <a:ext cx="1219200" cy="685800"/>
          </a:xfrm>
          <a:prstGeom prst="ellipse">
            <a:avLst/>
          </a:prstGeom>
          <a:noFill/>
          <a:ln w="57150">
            <a:solidFill>
              <a:srgbClr val="FF5050"/>
            </a:solidFill>
            <a:round/>
            <a:headEnd/>
            <a:tailEnd/>
          </a:ln>
          <a:effectLst/>
        </p:spPr>
        <p:txBody>
          <a:bodyPr wrap="none" anchor="ctr"/>
          <a:lstStyle/>
          <a:p>
            <a:endParaRPr lang="en-SG"/>
          </a:p>
        </p:txBody>
      </p:sp>
      <p:pic>
        <p:nvPicPr>
          <p:cNvPr id="1026" name="Picture 2" descr="adam-pw"/>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17017" y="2613402"/>
            <a:ext cx="3025398" cy="30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25217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4583</TotalTime>
  <Words>3649</Words>
  <Application>Microsoft Office PowerPoint</Application>
  <PresentationFormat>Widescreen</PresentationFormat>
  <Paragraphs>478</Paragraphs>
  <Slides>52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맑은 고딕</vt:lpstr>
      <vt:lpstr>Arial</vt:lpstr>
      <vt:lpstr>Calibri</vt:lpstr>
      <vt:lpstr>Calibri Light</vt:lpstr>
      <vt:lpstr>Mona Sans VF</vt:lpstr>
      <vt:lpstr>Wingdings</vt:lpstr>
      <vt:lpstr>Office Theme</vt:lpstr>
      <vt:lpstr>PowerPoint Presentation</vt:lpstr>
      <vt:lpstr>Wireshark on GNS3 Step-by-Step Setup: Wireshark + GNS3 Integration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MPLS</vt:lpstr>
      <vt:lpstr>Konfigurasi autonomous system (AS), pembentukan neighbor (tetangga) EBGP/IBGP, dan advertising network</vt:lpstr>
      <vt:lpstr>IP addres telah di configure BGP</vt:lpstr>
      <vt:lpstr>Run Wiresark</vt:lpstr>
      <vt:lpstr>CDP</vt:lpstr>
      <vt:lpstr>Int 0/0 no cdp</vt:lpstr>
      <vt:lpstr>NAPY telah hidup</vt:lpstr>
      <vt:lpstr>CDP</vt:lpstr>
      <vt:lpstr>Aktifkan Router MKPY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130</cp:revision>
  <dcterms:created xsi:type="dcterms:W3CDTF">2022-08-25T13:17:53Z</dcterms:created>
  <dcterms:modified xsi:type="dcterms:W3CDTF">2026-04-24T02:55:56Z</dcterms:modified>
</cp:coreProperties>
</file>