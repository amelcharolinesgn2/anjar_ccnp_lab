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89" r:id="rId1"/>
  </p:sldMasterIdLst>
  <p:notesMasterIdLst>
    <p:notesMasterId r:id="rId25"/>
  </p:notesMasterIdLst>
  <p:sldIdLst>
    <p:sldId id="348" r:id="rId2"/>
    <p:sldId id="426" r:id="rId3"/>
    <p:sldId id="425" r:id="rId4"/>
    <p:sldId id="423" r:id="rId5"/>
    <p:sldId id="422" r:id="rId6"/>
    <p:sldId id="424" r:id="rId7"/>
    <p:sldId id="428" r:id="rId8"/>
    <p:sldId id="427" r:id="rId9"/>
    <p:sldId id="429" r:id="rId10"/>
    <p:sldId id="430" r:id="rId11"/>
    <p:sldId id="444" r:id="rId12"/>
    <p:sldId id="431" r:id="rId13"/>
    <p:sldId id="443" r:id="rId14"/>
    <p:sldId id="432" r:id="rId15"/>
    <p:sldId id="433" r:id="rId16"/>
    <p:sldId id="434" r:id="rId17"/>
    <p:sldId id="435" r:id="rId18"/>
    <p:sldId id="436" r:id="rId19"/>
    <p:sldId id="437" r:id="rId20"/>
    <p:sldId id="438" r:id="rId21"/>
    <p:sldId id="439" r:id="rId22"/>
    <p:sldId id="350" r:id="rId23"/>
    <p:sldId id="421" r:id="rId24"/>
  </p:sldIdLst>
  <p:sldSz cx="9144000" cy="5143500" type="screen16x9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eal Mueller" initials="" lastIdx="9" clrIdx="0"/>
  <p:cmAuthor id="1" name="Chuck Erickson" initials="" lastIdx="6" clrIdx="1"/>
  <p:cmAuthor id="2" name="Adam Glick" initials="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57"/>
    <p:restoredTop sz="74309" autoAdjust="0"/>
  </p:normalViewPr>
  <p:slideViewPr>
    <p:cSldViewPr snapToGrid="0" snapToObjects="1">
      <p:cViewPr>
        <p:scale>
          <a:sx n="90" d="100"/>
          <a:sy n="90" d="100"/>
        </p:scale>
        <p:origin x="-8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970937" y="0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407181" y="696912"/>
            <a:ext cx="6195899" cy="34862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701039" y="4415789"/>
            <a:ext cx="5608319" cy="418337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970937" y="8829967"/>
            <a:ext cx="3037839" cy="46481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141182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https://github.com/mikeroyal/Google-Cloud-Guide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13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https://www.cisco.com/c/en/us/td/docs/routers/access/800/hardware/installation/guide/800HIG/connecting.html#:~:text=800%20Series%20Routers.-,Preparing%20to%20Connect%20the%20Router,Step%203</a:t>
            </a:r>
          </a:p>
          <a:p>
            <a:endParaRPr lang="en-US" dirty="0" smtClean="0"/>
          </a:p>
          <a:p>
            <a:r>
              <a:rPr lang="en-US" dirty="0" smtClean="0"/>
              <a:t>https://www.iktechcorp.com/media/pdf/New_VSAT_pro_rev3.pdf</a:t>
            </a:r>
          </a:p>
          <a:p>
            <a:r>
              <a:rPr lang="en-US" dirty="0" smtClean="0"/>
              <a:t>https://milexia.com/products/product/vsat-pro-system-4000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1880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VSAT</a:t>
            </a:r>
          </a:p>
          <a:p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Teknologi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telekomunikasi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berbasis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teknologi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nirkabel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Istilah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'VSAT'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merupakan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singkatan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'Very Small Aperture Terminal'.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Sebagai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definisi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menunjukka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karakter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jaringan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tersebut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teknologi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terdiri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sebuah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stasiun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bumi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yg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kecil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khas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diameter 1,8 meter.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Fungsi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utama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menerima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mengirim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kemudian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berfungsi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sebagai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penerus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sinyal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dikirimkan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titik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lainnya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atas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bumi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Ada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tiga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komponen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jaringan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VSAT.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pertama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disebut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Master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Stasiun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Bumi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(Master Earth Station )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merupakan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pusat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kontrol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jaringan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seluruh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jaringan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Konfigurasi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pengawasan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pengelolaan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jaringan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dilakukan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komponen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 Master Earth Station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juga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memiliki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sebesar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enam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meter,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elektronik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sepenuhnya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berlebihan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mandiri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tenaga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cadangan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pengkondisian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udara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diatur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 Master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Stasiun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Bumi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berawak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24 x 7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sepanjang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tahun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Komponen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kedua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 remote earth station.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perangkat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keras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terpasang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lokasi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pelanggan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meliputi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unit outdoor (ODU), indoor unit (IDU)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danInter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Facility Link (IFL). (ODU) VSAT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terdiri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1,8 meter offset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standar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sebuah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amplifier solid state (SSPA),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sebuah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Amplifier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Peredam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Kebisingan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(LNA),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Feedhorn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 (IDU)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satuan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ukuran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VCR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elektronik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komunikasi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meliputi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peralatan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antarmuka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pelanggan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seperti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komputer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telepon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dapat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juga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sebagai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sebuah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alat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dipanggil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Return Channel Satellite Terminal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menyambungkan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unit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luar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IFL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kabel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berukuran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panjang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lebih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50 meter. IFL (Inter Facility Link)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Merupakan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media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penghubung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antara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ODU &amp; IDU.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Fisiknya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biasanya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berupa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kabel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jenis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koaksial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biasanya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konektor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jenis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BNC (Bayonet Neill-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Concelman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Lihat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Gambar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Dibawah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Komponen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ketiga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sebuah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jaringan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itu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sendiri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Semua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sinyal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dikirim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antara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stasiun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bumi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dipancarkan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melalui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geostasioner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mengorbit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pada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36.000 km di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atas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tanah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Jenis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Layanan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 Di Indonesia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VSAT Link</a:t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merupakan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layanan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komunikasi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media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akses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teknologi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SCPC (Single Channel Per Carrier).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Jenis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hubungan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 Link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dapat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berupa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hubungan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point-to-point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maupun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hubungan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point-to-multipoint. VSAT Link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memberikan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bandwidth dedicated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bagi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memerlukan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komunikasi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bit rate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jumlah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besar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terus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menerus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lokasi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tercakup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oleh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layanan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kabel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Layanan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dapat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komunikasi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suara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gambar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video.</a:t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VSAT IP</a:t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layanan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komunikasi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media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akses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teknologi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Time Division Multiplex (TDM)/ Time Division Multiple Access (TDMA)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berbasis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pada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standar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Internet Protocol (IP).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Komposisi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 IP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terdiri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topologi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star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Hub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sejumlah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remote. Hub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berkomunikasi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remote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kanal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TDM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sedangkan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remote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mengirimkan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hub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kanal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TDMA.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Layanan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banyak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oleh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Bank di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indonesia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termasuk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ATM (Automatic Teller Machine),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Aplikasi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transaksional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lainnya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Keunggulan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kekurangan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Keunggulan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VSAT:</a:t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Memiliki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tingkat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security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tinggi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karena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merupakan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jaringan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private</a:t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Pemasangannya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cepat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Jangkauan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terjauh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dapat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mencapai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setengah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permukaan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bumi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Kekurangan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VSAT:</a:t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Koneksinya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rentan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terhadap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gangguan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cuaca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terhadap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molekul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air).</a:t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Memakan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tempat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terutama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piringannya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* Latency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lebih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tinggi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bandingkan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kabel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instalasi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modem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gilat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sky edge IP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                                          </a:t>
            </a:r>
            <a:r>
              <a:rPr lang="en-US" sz="1200" b="0" i="0" u="sng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0" i="0" u="sng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Pengetahuan</a:t>
            </a:r>
            <a:r>
              <a:rPr lang="en-US" sz="1200" b="0" i="0" u="sng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sng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Dasar</a:t>
            </a:r>
            <a:r>
              <a:rPr lang="en-US" sz="1200" b="0" i="0" u="sng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VSAT (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bahasa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Inggris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merupakan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singkatan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Very Small Aperture Terminal)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stasiun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penerima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sinyal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penerima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berbentuk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piringan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diameter  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bermacam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macam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Fungsi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utama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menerima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mengirim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berfungsi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sebagai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penerus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sinyal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dikirimkan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titik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lainnya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atas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bumi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Sebenarnya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piringan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tersebut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menghadap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sebuah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geostasioner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geostasioner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merupakan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selalu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berada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tempat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sama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sejalan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perputaran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bumi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pada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sumbunya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dimungkinkan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karena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mengorbit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pada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titik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sama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atas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permukaan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bumi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mengikuti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perputaran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bumi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pada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sumbunya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sng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0" i="0" u="sng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Perangkat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Terminal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Sangat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Kecil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alat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stasiun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bumi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mengirim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serta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menerima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pancaran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frekuensi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daripada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berukuran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lebih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kurang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hingga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10 kaki (0.55-2.75 m)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dipasang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atap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,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dinding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atas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tanah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pemilihan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besar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kecilnya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sangat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tergantung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pada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jenis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frekuensi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misalnya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C band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Ku band)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sng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Komponen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Komponen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terdiri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Unit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Luar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(Outdoor Unit (ODU):</a:t>
            </a:r>
          </a:p>
          <a:p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/dish/parabola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ukuran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hingga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4 kaki (0.55-2.4 m),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dipasang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pada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atap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dinding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tanah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BUC (Block Up Converter),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menghantarkan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sinyal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informasi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satelit.Juga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sering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disebut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sebagai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Transmitter (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Tx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LNB (Low Noise Block Up),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menerima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sinyal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informasi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Juga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sering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disebut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sebagai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Receiver (Rx).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Unit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(Indoor Unit (IDU)):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Modem (Modulator / Demodulator),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sebuah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alat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dipanggil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Return Channel Satellite Terminal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menyambungkan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unit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luar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IFL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kabel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berukuran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panjang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lebih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50 meter.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IFL (Inter Facility Link).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Merupakan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media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penghubung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antara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ODU &amp; IDU.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Fisiknya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biasanya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berupa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kabel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jenis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koaksial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biasanya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konektor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jenis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BNC (Bayonet Neill-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Concelman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Merupakan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alat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orbit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bumi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khusus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menerima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/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menghantar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maklumat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secara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nirkabel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berkomunikasi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melalui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frekuensi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radio.</a:t>
            </a:r>
          </a:p>
          <a:p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Telkom 2 (Indonesia)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Depdagri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teknologi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C band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lebih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tahan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cuaca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Indonesia (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berhubungan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masalah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curah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hujan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cukup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tinggi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Indonesia).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Komunikasi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arah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menerima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menghantar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isyarat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 Daerah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dipasang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dikenali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sebagai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remote terminal,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dikawal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oleh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hub station.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Semua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isyarat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dikirim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hub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terlebih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dahulu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sebelum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dikirim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kembali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terminal remote lain,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yaitu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Propinsi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Kabupaten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Kapasitas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muat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turun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(download)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1 Mbps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tetapi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boleh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dinaiktaraf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sehingga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mencapai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45 Mbps**</a:t>
            </a:r>
          </a:p>
          <a:p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Kapasitas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muat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naik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(upload) pula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128 Kbps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tetapi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boleh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dinaiktaraf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sehingga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mencapai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1.1 Mbps**</a:t>
            </a:r>
          </a:p>
          <a:p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Kontrak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perjanjian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SchoolNet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hanya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1 Mbps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muatturun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128 Kbps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muatnaik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sng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Keunggulan</a:t>
            </a:r>
            <a:r>
              <a:rPr lang="en-US" sz="1200" b="0" i="0" u="sng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sng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sng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sng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kekurangan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Keunggulan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VSAT: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Pemasangannya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cepat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Jangkauan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terjauh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dapat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mencapai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setengah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permukaan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bumi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Kekurangan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VSAT: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Koneksinya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rentan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terhadap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gangguan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cuaca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terhadap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molekul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air).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Memakan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tempat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terutama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piringannya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-Latency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lebih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tinggi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bandingkan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kabel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1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1200" b="1" i="1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Persiapan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1.Alat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kerja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tools,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kompas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inclino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multi tester,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kabel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pointing,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gps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bila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perlu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2.Laptop+LAN Card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3.Kabel Straight/cross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4.Modem /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Vsat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Idu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Gilat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5.Feed horn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6.LNB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Gilat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7.BUC/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Odu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c-band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Gilat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8.Antena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jangan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lupa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1" u="sng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Merakit</a:t>
            </a:r>
            <a:r>
              <a:rPr lang="en-US" sz="1200" b="1" i="1" u="sng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1" u="sng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Antena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Langkah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pertama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harus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lakukan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memeriksa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kelengkapan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pendukung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reflektor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/dish    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seperti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Pedestal,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baut-baut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feedhorn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LNB.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Apabila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lokasi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tersebut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berupa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tanah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maka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buatlah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pondasi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sesuai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ukuran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pedestal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ditetapkan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ukuran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standart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2m x 2m).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Penggabungan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segmen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pedestal,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reflektor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feed horn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serta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LNB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harus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benar-benar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terpasang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baik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kencang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usahakan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baut-baut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kendor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terpasang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Perakitan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Pedestal / boom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harus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tegak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lurus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( 90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derajat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)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garis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horizontal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bumi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water pass / angle meter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levelingnya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tujuannya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agar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pada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pointing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diperoleh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kemiringan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reflektor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optimal.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Setelah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terakit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benar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persiapkan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kabel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RF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pendek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hubungkan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antara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LNB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perangkat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spectrum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analizer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satellite finder.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Tentukan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arah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polarisasi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pada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feedhorn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sesuai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transponder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transponder 4H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polarisasi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horizontal.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6.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Tentukan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frekuensi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transponder di Satellite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Satellite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Palapa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C2 transponder 4H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center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frekuensinya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FWD RF=3,840Ghz /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Lband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=1298Mhz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simbol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rate 8.7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Msps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TAHAP-TAHAP INSTALASI VSAT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1.       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Instal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1,8m,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pastikan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semua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sudah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tepat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posisinya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mounting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usahakan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baut-bautnya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sudah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dikencangkan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dipasang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ballast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dinabolt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sebelum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memasang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dishnya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2.       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Arahkan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dish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sudut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elevasi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 78°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Azimuth  97°,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sesuai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arah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Apstar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V/T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elstar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18.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3.       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Tahapan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pointing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crosspol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         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Hubungkan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LNB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RF IN Modem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kabel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coaxial,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kemudian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hidupkan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modem (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lebih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mudah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kabel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pendek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kurang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lebih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5 m F male to F male).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         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Sambungkan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Laptop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kabel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Ethernet (straight/cross)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port 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Modem.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          Setting IP Laptop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menjadi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: 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192.168.1.2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         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web browser (IE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Mozilla),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ketik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address bar “192.168.1.1”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sehingga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muncul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seperti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bawah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: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         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Klik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pada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Telemetry 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: </a:t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         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Perhatikan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pada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Rx signal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EsNO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apabila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nilainya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-10dB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artinya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pointing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masih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sinyal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belum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receive),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azimuth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elevasi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hingga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diperoleh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nilai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0" i="1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kurang</a:t>
            </a:r>
            <a:r>
              <a:rPr lang="en-US" sz="1200" b="0" i="1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1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lebih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 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12dB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arahkan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hingga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hasilnya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maksimal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saja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         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Setelah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peroleh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nilai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Rx signal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EsNO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yang 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maksimal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kencangkan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posisi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agar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berubah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kemudian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matikan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modem.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          Tarik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kabel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coaxial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sesuai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jalur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modem.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         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Hubungkan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BUC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RF OUT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Modem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LNB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RF IN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Modem </a:t>
            </a:r>
            <a:r>
              <a:rPr lang="en-US" sz="1200" b="0" i="1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200" b="0" i="1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perhatikan</a:t>
            </a:r>
            <a:r>
              <a:rPr lang="en-US" sz="1200" b="0" i="1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1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jangan</a:t>
            </a:r>
            <a:r>
              <a:rPr lang="en-US" sz="1200" b="0" i="1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1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sampai</a:t>
            </a:r>
            <a:r>
              <a:rPr lang="en-US" sz="1200" b="0" i="1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1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terbalik</a:t>
            </a:r>
            <a:r>
              <a:rPr lang="en-US" sz="1200" b="0" i="1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).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         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Hidupkan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kembali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Modem,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kemudian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hubungi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telpon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NOC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: 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memaksimalkan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sinyal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transmit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crosspol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0" i="1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(Note : </a:t>
            </a:r>
            <a:r>
              <a:rPr lang="en-US" sz="1200" b="0" i="1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minta</a:t>
            </a:r>
            <a:r>
              <a:rPr lang="en-US" sz="1200" b="0" i="1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1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personel</a:t>
            </a:r>
            <a:r>
              <a:rPr lang="en-US" sz="1200" b="0" i="1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1" i="1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NOC</a:t>
            </a:r>
            <a:r>
              <a:rPr lang="en-US" sz="1200" b="0" i="1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0" i="1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1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1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menelpon</a:t>
            </a:r>
            <a:r>
              <a:rPr lang="en-US" sz="1200" b="0" i="1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1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balik</a:t>
            </a:r>
            <a:r>
              <a:rPr lang="en-US" sz="1200" b="0" i="1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).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         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Ikuti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instruksi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NOC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sehingga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selesailah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proses pointing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crosspol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kemudian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testing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aplikasinya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*******************************SELESAI********************************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Note :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          Modem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dikirim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biasanya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sudah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dikonfigur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         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Apabila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modem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belum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dikonfigur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dikonfigur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sendiri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melalui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skymanage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lihat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langkah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no.3),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klik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installer (username : ****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password : 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******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),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hubungi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NOC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panduannya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-         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Apabila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modem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beroperasi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normal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maka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4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lampu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menyala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stabil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(PWR, RX, SYNC,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ON-LINE)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sedangkan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lampu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TX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menyala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kedip-kedip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1" u="sng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Pointing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Sebelum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melakukan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pointing,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harus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diketahui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terlebih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dahulu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posisi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sudut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azimut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sudut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elevasi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 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diterima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pada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suatu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daerah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dimana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stasiun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bumi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/ VSAT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didirikan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1-Langkah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pertama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melakukan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pointing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menentukan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sudut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azimut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reflektor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secara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kasar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kompas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Arah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0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derajat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dimulai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arah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utara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kemudian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arah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timur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positif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bila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arah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barat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negatif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2-Selanjutnya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melakukan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pointing receive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transmit.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melakukan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pointing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halus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dibutuhkan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peralatan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sebagai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berikut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: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3-(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Spektrum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analyzer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Satellite Finder, DC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blok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catu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LNB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BUC,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Kabel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pointing, Terminal Nera/modem)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4-Keluaran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LNB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dihubungkan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melalui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kabel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pointing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DC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blok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DC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blok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dihubungkan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Spektrum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analyzer.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5- ”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Perhatikan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;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konektor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F type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tegangan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V= + 18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Vdc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arah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LNB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konektor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N type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tanpa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tegangan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V=0 volt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arah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Spektrum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analyzer.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Apabila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satellite finder,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hubungkan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keluaran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LNB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Satellite finder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konektor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F type ( satellite finder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sudah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mensuplai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tegangan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dc 13/18V”.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6-Kemudian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lakukan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pointing receive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mengarahkan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antena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caranya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memutar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azimut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elevasi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secara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perlahan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hingga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diperoleh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sinyal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satelit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dicari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langkah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tepat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putar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sudut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elevasi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setelah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mendapat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sinyal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hingga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maximum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kencangkan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elevasi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kemudian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putar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sudut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azimut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setelah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mendapat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sinyal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maksimum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kencangkan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azimut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kemudian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putar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polarisasi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feedhorn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hingga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mendapat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sinyal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maksimum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langkah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tadi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dilakukan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secara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berulang-ulang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hingga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diperoleh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sinyal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receive yang paling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maksimum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1" u="sng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Crosspole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Lakukan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crosspole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Pure carrier / CW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sesuai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frekuensi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petunjuk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 NOC </a:t>
            </a:r>
          </a:p>
          <a:p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Kendorkan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elevasi,azimuth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feedhorn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ikuti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instruksi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Enggineer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NOC</a:t>
            </a:r>
          </a:p>
          <a:p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Bila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selesai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crosspole.Kencangkan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baut-baut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azimut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elevasi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feedhorn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setelah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diperoleh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crosspole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hasil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sesuai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rekomendasi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NOC  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mintalah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printout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hasil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crosspole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tersebut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NOC 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Berupa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C/N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CPI</a:t>
            </a:r>
          </a:p>
          <a:p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Gunakan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 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ruber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tape,sealant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/ 3m tape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membungkus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konektor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f type di BUC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LNB agar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kemasukan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air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pada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saat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0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hujan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3049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Cisco 1841 :</a:t>
            </a:r>
          </a:p>
          <a:p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Serial Port Capabilities 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Module Slots: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The 1841 features two integrated WAN Interface Card (WIC/HWIC) slots that support a variety of serial modules.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Supported Modules: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Commonly used modules for serial connectivity include:</a:t>
            </a:r>
          </a:p>
          <a:p>
            <a:pPr lvl="1"/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WIC-1T: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1-Port Serial WAN Interface Card.</a:t>
            </a:r>
          </a:p>
          <a:p>
            <a:pPr lvl="1"/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WIC-2T: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2-Port Serial WAN Interface Card.</a:t>
            </a:r>
          </a:p>
          <a:p>
            <a:pPr lvl="1"/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WIC-2A/S: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2-Port Asynchronous/Synchronous Serial Module.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Connector Type: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Supports standard DB60 or Smart Serial connectors depending on the installed WIC.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Speed: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Supports synchronous serial speeds up to 2.048 Mbps per port</a:t>
            </a:r>
          </a:p>
          <a:p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Built-in Ports (Non-Serial)</a:t>
            </a:r>
          </a:p>
          <a:p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standard Cisco 1841 chassis includes: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Two Fast Ethernet Ports (10/100 Mbps):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For LAN/WAN connectivity.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One Console Port: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RJ-45 for management.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One Auxiliary Port: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RJ-45 for modem or direct connection.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One USB 1.1 Port: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For flash memory. 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https://www.arcelect.com/Cisco_2500-Router_info_page.htm</a:t>
            </a:r>
          </a:p>
          <a:p>
            <a:endParaRPr lang="en-US" dirty="0" smtClean="0"/>
          </a:p>
          <a:p>
            <a:r>
              <a:rPr lang="en-US" dirty="0" smtClean="0"/>
              <a:t>https://www.cisco.com/web/ANZ/cpp/refguide/hview/router/2600.html</a:t>
            </a:r>
          </a:p>
          <a:p>
            <a:r>
              <a:rPr lang="en-US" dirty="0" smtClean="0"/>
              <a:t>https://davidpapkin.net/interface-and-line-numbers-in-cisco-routers/</a:t>
            </a:r>
          </a:p>
          <a:p>
            <a:r>
              <a:rPr lang="en-US" dirty="0" smtClean="0"/>
              <a:t>https://indonesian.opticaltransceiver-module.com/sale-8162473-cisco1841-k9-gigabit-network-industrial-network-router-cisco-1800-series-routers-cisco1841-k9.html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380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https://demyank-tistory-com.translate.goog/597?_x_tr_sl=en&amp;_x_tr_tl=id&amp;_x_tr_hl=id&amp;_x_tr_pto=imgs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https://networkstatic.net/wp-content/uploads/2012/04/openvswitch.openflow.gre_.tutorial1.pdf</a:t>
            </a:r>
          </a:p>
          <a:p>
            <a:r>
              <a:rPr lang="en-US" dirty="0" smtClean="0"/>
              <a:t>https://serverfault.com/questions/575435/how-to-make-my-linux-vm-attach-to-an-openvswitch-bridge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VMWare Networking Concept [Bridged, NAT, Host Only, LAN Segment]</a:t>
            </a:r>
          </a:p>
          <a:p>
            <a:r>
              <a:rPr lang="en-US" dirty="0" smtClean="0"/>
              <a:t>https://diarmuidmccarthy.wordpress.com/2011/02/15/hello-world/</a:t>
            </a:r>
          </a:p>
          <a:p>
            <a:r>
              <a:rPr lang="en-US" dirty="0" smtClean="0"/>
              <a:t>https://agussas.wordpress.com/2015/10/28/vmware-networking-concept-bridged-nat-host-only-lan-segment/</a:t>
            </a:r>
          </a:p>
          <a:p>
            <a:endParaRPr lang="en-US" dirty="0" smtClean="0"/>
          </a:p>
          <a:p>
            <a:r>
              <a:rPr lang="en-US" dirty="0" smtClean="0"/>
              <a:t>https://agussas.wordpress.com/2015/10/28/vmware-networking-concept-bridged-nat-host-only-lan-segment/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3898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https://demyank-tistory-com.translate.goog/597?_x_tr_sl=en&amp;_x_tr_tl=id&amp;_x_tr_hl=id&amp;_x_tr_pto=imgs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9301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1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Topologi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a) Server A &lt;---&gt; NIC1:192.168.10.1 fa0/1&lt;-------&gt;Router1:IP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addres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200.200.20. 4 serial 0/0/0 &lt;--------&gt; Router2:IP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addres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200.200.20.10 serial 0/0/1&lt;------&gt;Switch1&lt;------&gt;PC client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b)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Konfigurasi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OSPF Router1:IP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addres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200.200.20. 4 serial 0/0/0 &lt;--------&gt; Router2:IP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addres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200.200.20.5 serial 0/0/0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c) Server A: DHCP, DNS:192.168.10.10, Web server: 192.168.10.15(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domain:verdy.co.id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), mail server: 192.168.10.21 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d) install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konfigurasi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DHCP di Server A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e) PC client 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mau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akses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192.168.10.15(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domain:verdy.co.id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)  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f)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Bagaimana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setting DHCP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Server A. Agar PC client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dapat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akses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192.168.10.15(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domain:verdy.co.id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) </a:t>
            </a:r>
          </a:p>
          <a:p>
            <a:endParaRPr lang="en-US" sz="1200" b="1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1. OS Ubuntu server (SERVER A)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menjalankan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DHCP, DNS:192.168.10.10, Web server: 192.168.10.15, mail server: 192.168.10.21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setting DHCP server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ubuntu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server routing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ip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addres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192.168.10.1 fa0/1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Router 1 (router cisco 2900).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2. IP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addres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200.200.20. 4 serial 0/0/0 Router 1 (router cisco 2900)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IP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addres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200.200.20. 10 serial 0/0/1 Router 2 (router cisco 2500)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3. Setting DHCP server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ubuntu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server routing fa0/1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Router 1 (router cisco 2900)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dan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Router 2 (router cisco 2500)</a:t>
            </a:r>
          </a:p>
          <a:p>
            <a:endParaRPr lang="en-US" sz="1200" b="1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Konfigurasi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DHCP Ubuntu di Server A:</a:t>
            </a:r>
          </a:p>
          <a:p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Topologi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a) Server A &lt;---&gt; NIC1:192.168.10.1 fa0/1&lt;-------&gt;Router1:IP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addres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200.200.20. 4 serial 0/0/0 &lt;--------&gt; Router2:IP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addres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200.200.20.10 serial 0/0/0&lt;------&gt;Switch1&lt;------&gt;PC client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b) Server A: DHCP, DNS:192.168.10.10, Web server: 192.168.10.15(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domain:verdy.co.id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), mail server: 192.168</a:t>
            </a:r>
          </a:p>
          <a:p>
            <a:endParaRPr lang="en-US" sz="1200" b="1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endParaRPr lang="en-US" sz="1200" b="1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endParaRPr lang="en-US" sz="1200" b="1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network: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ethernets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ens33: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addresses: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- 192.168.10.10/24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routes: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- to: default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  via: 192.168.10.1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1200" b="1" i="0" u="none" strike="noStrike" kern="1200" cap="none" dirty="0" err="1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nameservers</a:t>
            </a:r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addresses: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  serial 0/0/0: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addresses: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       - 200.200.20.4/24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  version: 2</a:t>
            </a:r>
          </a:p>
          <a:p>
            <a:endParaRPr lang="en-US" sz="1200" b="1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endParaRPr lang="en-US" sz="1200" b="1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endParaRPr lang="en-US" sz="1200" b="1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endParaRPr lang="en-US" sz="1200" b="1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Configuring Bridged Networking</a:t>
            </a:r>
            <a:endParaRPr lang="en-US" sz="1200" b="0" i="0" u="none" strike="noStrike" kern="1200" cap="none" dirty="0" smtClean="0">
              <a:solidFill>
                <a:schemeClr val="dk1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Open Virtual Network Editor: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Navigate to Edit -&gt; Virtual Network Editor in VMware Workstation.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Select Bridge: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Choose the VMnet0 adapter (default for bridging).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Specify Adapter: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Do not use "Automatic" if you have multiple adapters. Manually bridge to your specific, active network adapter (e.g., Ethernet or Wi-Fi).</a:t>
            </a:r>
          </a:p>
          <a:p>
            <a:r>
              <a:rPr lang="en-US" sz="1200" b="1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Settings:</a:t>
            </a:r>
            <a:r>
              <a:rPr lang="en-US" sz="1200" b="0" i="0" u="none" strike="noStrike" kern="1200" cap="none" dirty="0" smtClean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 In the VM settings, choose Network Adapter -&gt; Bridged. 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https://websistent.com/vmware-bridged-networking/</a:t>
            </a:r>
          </a:p>
          <a:p>
            <a:r>
              <a:rPr lang="en-US" dirty="0" smtClean="0"/>
              <a:t>https://tech.tristantyson.com/win11workstation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6347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6013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2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lang="en-US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2047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5498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963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5239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8396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0674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4211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7320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132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0823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4920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2337E-4703-49AB-8D81-EA2F8A6577F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3086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2337E-4703-49AB-8D81-EA2F8A6577FC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63887-955A-4111-8FF6-299906ED7E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646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1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gif"/><Relationship Id="rId3" Type="http://schemas.openxmlformats.org/officeDocument/2006/relationships/image" Target="../media/image43.jpeg"/><Relationship Id="rId7" Type="http://schemas.openxmlformats.org/officeDocument/2006/relationships/image" Target="../media/image4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gif"/><Relationship Id="rId5" Type="http://schemas.openxmlformats.org/officeDocument/2006/relationships/image" Target="../media/image45.png"/><Relationship Id="rId10" Type="http://schemas.openxmlformats.org/officeDocument/2006/relationships/image" Target="../media/image50.gif"/><Relationship Id="rId4" Type="http://schemas.openxmlformats.org/officeDocument/2006/relationships/image" Target="../media/image44.jpeg"/><Relationship Id="rId9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6" name="Subtitle 2"/>
          <p:cNvSpPr txBox="1">
            <a:spLocks/>
          </p:cNvSpPr>
          <p:nvPr/>
        </p:nvSpPr>
        <p:spPr>
          <a:xfrm>
            <a:off x="1928066" y="2722292"/>
            <a:ext cx="6768461" cy="39080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 err="1"/>
              <a:t>LAB_VMware_Ubuntu</a:t>
            </a:r>
            <a:r>
              <a:rPr lang="en-US" sz="3200" dirty="0"/>
              <a:t> </a:t>
            </a:r>
            <a:r>
              <a:rPr lang="en-US" sz="3200" dirty="0" smtClean="0"/>
              <a:t>Server-DHCP-DNS-MailServer-Bin9</a:t>
            </a:r>
            <a:endParaRPr lang="en-US" sz="3200" dirty="0"/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1928067" y="3546558"/>
            <a:ext cx="6425543" cy="503071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300" dirty="0">
                <a:solidFill>
                  <a:srgbClr val="0070C0"/>
                </a:solidFill>
              </a:rPr>
              <a:t>.</a:t>
            </a:r>
            <a:endParaRPr lang="en-US" sz="3300" b="1" dirty="0"/>
          </a:p>
        </p:txBody>
      </p:sp>
      <p:sp>
        <p:nvSpPr>
          <p:cNvPr id="39" name="Rectangle 38"/>
          <p:cNvSpPr/>
          <p:nvPr/>
        </p:nvSpPr>
        <p:spPr>
          <a:xfrm>
            <a:off x="6530239" y="382990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</a:t>
            </a:r>
            <a:r>
              <a:rPr lang="en-US" sz="900" dirty="0" smtClean="0"/>
              <a:t>AmelOline/</a:t>
            </a:r>
            <a:endParaRPr lang="en-US" sz="900" dirty="0"/>
          </a:p>
        </p:txBody>
      </p:sp>
      <p:sp>
        <p:nvSpPr>
          <p:cNvPr id="40" name="Rectangle 39"/>
          <p:cNvSpPr/>
          <p:nvPr/>
        </p:nvSpPr>
        <p:spPr>
          <a:xfrm>
            <a:off x="7121843" y="3725296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04820" y="3940647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00827" y="4044357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80011" y="4143395"/>
            <a:ext cx="366527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78880" y="4236349"/>
            <a:ext cx="447144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https://github.com/amelcharolinesgn2/Gyroscope-Sensor-Data-Accelerometer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52347" y="4362522"/>
            <a:ext cx="299294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</a:t>
            </a:r>
            <a:r>
              <a:rPr lang="en-US" sz="900" dirty="0"/>
              <a:t>github.com/amelcharolinesgn2/ANJAR_CCNP_Lab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6422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358" y="66979"/>
            <a:ext cx="3064305" cy="15247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28191" y="-21270"/>
            <a:ext cx="988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Router 1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064402" y="827642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Modem</a:t>
            </a:r>
            <a:endParaRPr lang="en-US" dirty="0"/>
          </a:p>
        </p:txBody>
      </p:sp>
      <p:pic>
        <p:nvPicPr>
          <p:cNvPr id="2060" name="Picture 12" descr="Satellite dish Special Flat icon | Freepi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6731" y="893067"/>
            <a:ext cx="1122949" cy="1392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7628339" y="-22199"/>
            <a:ext cx="1342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WAN </a:t>
            </a:r>
            <a:r>
              <a:rPr lang="en-US" dirty="0" err="1" smtClean="0"/>
              <a:t>Porsea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387702" y="4582597"/>
            <a:ext cx="1550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WAN </a:t>
            </a:r>
            <a:r>
              <a:rPr lang="en-US" dirty="0" err="1" smtClean="0"/>
              <a:t>Tarutung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/>
          <a:srcRect l="3621" t="4673" r="3747" b="4561"/>
          <a:stretch/>
        </p:blipFill>
        <p:spPr>
          <a:xfrm>
            <a:off x="0" y="347133"/>
            <a:ext cx="5470358" cy="28875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21317" y="2927630"/>
            <a:ext cx="925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Modem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6279287" y="3163829"/>
            <a:ext cx="2698103" cy="1227283"/>
          </a:xfrm>
          <a:prstGeom prst="rect">
            <a:avLst/>
          </a:prstGeom>
        </p:spPr>
      </p:pic>
      <p:pic>
        <p:nvPicPr>
          <p:cNvPr id="2058" name="Picture 10" descr="Satellite dish Iconixar Flat icon | Freepik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694557" y="2584427"/>
            <a:ext cx="1526785" cy="1243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1890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912" y="-166907"/>
            <a:ext cx="1828800" cy="1828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639" y="80052"/>
            <a:ext cx="7886700" cy="994172"/>
          </a:xfrm>
        </p:spPr>
        <p:txBody>
          <a:bodyPr/>
          <a:lstStyle/>
          <a:p>
            <a:r>
              <a:rPr lang="en-US" dirty="0" smtClean="0"/>
              <a:t>Modem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03" y="1268016"/>
            <a:ext cx="4048125" cy="3238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75389" y="1124572"/>
            <a:ext cx="23616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Modem / </a:t>
            </a:r>
            <a:r>
              <a:rPr lang="en-US" dirty="0" err="1"/>
              <a:t>Vsat</a:t>
            </a:r>
            <a:r>
              <a:rPr lang="en-US" dirty="0"/>
              <a:t> </a:t>
            </a:r>
            <a:r>
              <a:rPr lang="en-US" dirty="0" err="1"/>
              <a:t>Idu</a:t>
            </a:r>
            <a:r>
              <a:rPr lang="en-US" dirty="0"/>
              <a:t> </a:t>
            </a:r>
            <a:r>
              <a:rPr lang="en-US" dirty="0" err="1"/>
              <a:t>Gilat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663712" y="4776549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 err="1">
                <a:solidFill>
                  <a:srgbClr val="333E48"/>
                </a:solidFill>
                <a:latin typeface="Open Sans"/>
              </a:rPr>
              <a:t>Gilat</a:t>
            </a:r>
            <a:r>
              <a:rPr lang="en-US" sz="1000" dirty="0">
                <a:solidFill>
                  <a:srgbClr val="333E48"/>
                </a:solidFill>
                <a:latin typeface="Open Sans"/>
              </a:rPr>
              <a:t> IDU </a:t>
            </a:r>
            <a:r>
              <a:rPr lang="en-US" sz="1000" dirty="0" err="1">
                <a:solidFill>
                  <a:srgbClr val="333E48"/>
                </a:solidFill>
                <a:latin typeface="Open Sans"/>
              </a:rPr>
              <a:t>Skyedge</a:t>
            </a:r>
            <a:r>
              <a:rPr lang="en-US" sz="1000" dirty="0">
                <a:solidFill>
                  <a:srgbClr val="333E48"/>
                </a:solidFill>
                <a:latin typeface="Open Sans"/>
              </a:rPr>
              <a:t> Pro 541310 VSAT 2.4 BR </a:t>
            </a:r>
            <a:r>
              <a:rPr lang="en-US" sz="1000" dirty="0" err="1">
                <a:solidFill>
                  <a:srgbClr val="333E48"/>
                </a:solidFill>
                <a:latin typeface="Open Sans"/>
              </a:rPr>
              <a:t>Petrobras</a:t>
            </a:r>
            <a:endParaRPr lang="en-US" sz="1000" b="0" i="0" dirty="0">
              <a:solidFill>
                <a:srgbClr val="333E48"/>
              </a:solidFill>
              <a:effectLst/>
              <a:latin typeface="Open San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1228" y="1564016"/>
            <a:ext cx="1763488" cy="131820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4279" y="2487219"/>
            <a:ext cx="3107853" cy="2125232"/>
          </a:xfrm>
          <a:prstGeom prst="rect">
            <a:avLst/>
          </a:prstGeom>
        </p:spPr>
      </p:pic>
      <p:pic>
        <p:nvPicPr>
          <p:cNvPr id="1026" name="Picture 2" descr="Router nirkabel Ikon Komputer Jaringan komputer Sistem Cisco, simbol router, Jaringan komputer, daun png | PNGEg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461" y="2551298"/>
            <a:ext cx="389739" cy="389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9810" y="3229487"/>
            <a:ext cx="4292765" cy="321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89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Cable Serial Router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42" y="1106905"/>
            <a:ext cx="1652642" cy="87755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7114" y="1801433"/>
            <a:ext cx="181676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CABSSX21FC - 10ft </a:t>
            </a:r>
            <a:r>
              <a:rPr lang="en-US" sz="1000" dirty="0" err="1"/>
              <a:t>SmartSerial</a:t>
            </a:r>
            <a:r>
              <a:rPr lang="en-US" sz="1000" dirty="0"/>
              <a:t> to DCE X.21 Serial Cisco Router Cable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flipV="1">
            <a:off x="421106" y="2101077"/>
            <a:ext cx="1718510" cy="121255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47114" y="3387816"/>
            <a:ext cx="203292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/>
              <a:t>10ft Cisco Smart Serial Cable 26-pin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566" y="617651"/>
            <a:ext cx="3172662" cy="34755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868" y="2291699"/>
            <a:ext cx="2324100" cy="85808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8730" y="3010858"/>
            <a:ext cx="1557898" cy="87534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8730" y="798551"/>
            <a:ext cx="1403952" cy="114920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094" y="2062204"/>
            <a:ext cx="1545223" cy="82051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7889" y="4165573"/>
            <a:ext cx="1634793" cy="91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39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85" y="518321"/>
            <a:ext cx="3752850" cy="96757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6245" y="20370"/>
            <a:ext cx="1189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Cisco 1800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t="39474"/>
          <a:stretch/>
        </p:blipFill>
        <p:spPr>
          <a:xfrm>
            <a:off x="186151" y="594738"/>
            <a:ext cx="3230817" cy="142721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036" y="533612"/>
            <a:ext cx="4019550" cy="12287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6" y="69180"/>
            <a:ext cx="2933700" cy="155257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05036"/>
            <a:ext cx="3751346" cy="12808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7866" y="845467"/>
            <a:ext cx="1530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CISCO3611XM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287078" y="69180"/>
            <a:ext cx="36231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Cisco CISCO2514 2500 Series Router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3036" y="449831"/>
            <a:ext cx="3685070" cy="131250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0"/>
            <a:ext cx="3751346" cy="238708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95470" y="1306023"/>
            <a:ext cx="4026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CISCO1841-SPS/K9 Cisco Network Router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9"/>
          <a:srcRect l="7447" t="22733" r="6471" b="21723"/>
          <a:stretch/>
        </p:blipFill>
        <p:spPr>
          <a:xfrm>
            <a:off x="519980" y="1671105"/>
            <a:ext cx="3777917" cy="120315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3468" y="1395524"/>
            <a:ext cx="3714750" cy="1228725"/>
          </a:xfrm>
          <a:prstGeom prst="rect">
            <a:avLst/>
          </a:prstGeom>
        </p:spPr>
      </p:pic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46885" y="273844"/>
            <a:ext cx="7886700" cy="994172"/>
          </a:xfrm>
        </p:spPr>
        <p:txBody>
          <a:bodyPr/>
          <a:lstStyle/>
          <a:p>
            <a:r>
              <a:rPr lang="en-US" dirty="0" smtClean="0"/>
              <a:t>Cable Serial Router</a:t>
            </a:r>
            <a:endParaRPr lang="en-US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270" y="2631561"/>
            <a:ext cx="3685070" cy="131250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6911" y="2652269"/>
            <a:ext cx="3685070" cy="1312506"/>
          </a:xfrm>
          <a:prstGeom prst="rect">
            <a:avLst/>
          </a:prstGeom>
        </p:spPr>
      </p:pic>
      <p:sp>
        <p:nvSpPr>
          <p:cNvPr id="25" name="Up Arrow 24"/>
          <p:cNvSpPr/>
          <p:nvPr/>
        </p:nvSpPr>
        <p:spPr>
          <a:xfrm>
            <a:off x="1624263" y="3152274"/>
            <a:ext cx="45719" cy="944027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Up Arrow 25"/>
          <p:cNvSpPr/>
          <p:nvPr/>
        </p:nvSpPr>
        <p:spPr>
          <a:xfrm>
            <a:off x="6718008" y="3061586"/>
            <a:ext cx="68578" cy="1034716"/>
          </a:xfrm>
          <a:prstGeom prst="up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2092395" y="3889710"/>
            <a:ext cx="1431160" cy="101056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12"/>
          <a:srcRect b="26708"/>
          <a:stretch/>
        </p:blipFill>
        <p:spPr>
          <a:xfrm flipH="1" flipV="1">
            <a:off x="4194199" y="3867053"/>
            <a:ext cx="1536151" cy="888712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1647122" y="4096301"/>
            <a:ext cx="511660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51190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46942" y="217847"/>
            <a:ext cx="32735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/>
              <a:t>PC and VM ware</a:t>
            </a:r>
            <a:endParaRPr lang="en-US" sz="3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6" y="864178"/>
            <a:ext cx="3680159" cy="2079290"/>
          </a:xfrm>
          <a:prstGeom prst="rect">
            <a:avLst/>
          </a:prstGeom>
        </p:spPr>
      </p:pic>
      <p:pic>
        <p:nvPicPr>
          <p:cNvPr id="3076" name="Picture 4" descr="Why I Don't Use Bridged Mode in VMware (And You Shouldn't Either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42" y="2943468"/>
            <a:ext cx="3273588" cy="190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296" y="130789"/>
            <a:ext cx="2368682" cy="210954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3815" y="217847"/>
            <a:ext cx="2778058" cy="16051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7101" y="2770690"/>
            <a:ext cx="4350124" cy="188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20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775" y="0"/>
            <a:ext cx="3171825" cy="14342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3525" y="1225990"/>
            <a:ext cx="2957512" cy="18387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0212" y="2989999"/>
            <a:ext cx="2447925" cy="166772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949" y="0"/>
            <a:ext cx="2738437" cy="18478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3949" y="1847850"/>
            <a:ext cx="2781300" cy="16859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9706" y="3095369"/>
            <a:ext cx="2376487" cy="15623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33949" y="3109913"/>
            <a:ext cx="24536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Dedicated Physical NICs for VM</a:t>
            </a:r>
            <a:endParaRPr 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4933949" y="1693961"/>
            <a:ext cx="749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Bridged</a:t>
            </a:r>
            <a:endParaRPr 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4823073" y="8036"/>
            <a:ext cx="478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NAT</a:t>
            </a:r>
            <a:endParaRPr lang="en-US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1441588" y="3064723"/>
            <a:ext cx="897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Host Only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18714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4" name="Picture 18" descr="VMware Workstation Pro Downlo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146" y="3197418"/>
            <a:ext cx="802278" cy="802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LeWiz Communications - The Wizard of Internet Communications - Press  Releas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76918" y="3732942"/>
            <a:ext cx="823292" cy="82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2" descr="Server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92" y="776751"/>
            <a:ext cx="1828800" cy="2670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Ethernet PNG, Vector, PSD, and Clipart With Transparent Background ..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983756" y="152434"/>
            <a:ext cx="1506538" cy="150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Kabel Ethernet Khusus Terdiri Dari Konektor Dan Kawat Panjang Ilustrasi Stok - Unduh Gambar Sekarang - iStock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V="1">
            <a:off x="5543550" y="-219075"/>
            <a:ext cx="1828800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Tenda WiFi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556000" y="-216686"/>
            <a:ext cx="15430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Network devices and terms – BuddingGeographers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459242" flipH="1" flipV="1">
            <a:off x="1204936" y="915678"/>
            <a:ext cx="1782763" cy="564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" name="Picture 20" descr="createVirtualMachine.gif"/>
          <p:cNvPicPr>
            <a:picLocks noChangeAspect="1" noChangeArrowheads="1" noCrop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900" y="2812997"/>
            <a:ext cx="1921424" cy="1465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Elbow Connector 6"/>
          <p:cNvCxnSpPr/>
          <p:nvPr/>
        </p:nvCxnSpPr>
        <p:spPr>
          <a:xfrm rot="16200000" flipH="1">
            <a:off x="1593768" y="3315790"/>
            <a:ext cx="383599" cy="459697"/>
          </a:xfrm>
          <a:prstGeom prst="bentConnector2">
            <a:avLst/>
          </a:prstGeom>
          <a:ln w="317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624398" y="3735545"/>
            <a:ext cx="5261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5058324" y="3537857"/>
            <a:ext cx="5261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120" name="Picture 24" descr="GitHub - Akkadius/glass-isc-dhcp: Glass - ISC DHCP Server ..."/>
          <p:cNvPicPr>
            <a:picLocks noChangeAspect="1" noChangeArrowheads="1" noCrop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450" y="2812997"/>
            <a:ext cx="2408513" cy="1465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452987" y="650907"/>
            <a:ext cx="1171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Ethernet 1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057327" y="2416669"/>
            <a:ext cx="20009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VM ware + Ubuntu </a:t>
            </a:r>
            <a:r>
              <a:rPr lang="en-US" sz="1200" dirty="0" err="1" smtClean="0"/>
              <a:t>Server.iso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5814176" y="2513016"/>
            <a:ext cx="19490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Edit DHCP on Ubuntu Server</a:t>
            </a:r>
            <a:endParaRPr 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1199861" y="3774759"/>
            <a:ext cx="1669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vHost</a:t>
            </a:r>
            <a:r>
              <a:rPr lang="en-US" dirty="0" smtClean="0"/>
              <a:t> Only/NAT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205048" y="4037733"/>
            <a:ext cx="89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vBridge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96087" y="3630124"/>
            <a:ext cx="12127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/>
              <a:t>Virtual Ethernet 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81378" y="1651960"/>
            <a:ext cx="537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DHCP</a:t>
            </a:r>
          </a:p>
          <a:p>
            <a:r>
              <a:rPr lang="en-US" sz="1200" dirty="0" smtClean="0"/>
              <a:t>DNS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1301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17887"/>
            <a:ext cx="7886700" cy="272066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ServerA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28650" y="800491"/>
            <a:ext cx="1623231" cy="185609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43052" y="1685497"/>
            <a:ext cx="708829" cy="42308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Bridge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543052" y="2151618"/>
            <a:ext cx="708829" cy="42308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NAT</a:t>
            </a:r>
            <a:endParaRPr lang="en-US" dirty="0"/>
          </a:p>
        </p:txBody>
      </p:sp>
      <p:cxnSp>
        <p:nvCxnSpPr>
          <p:cNvPr id="9" name="Elbow Connector 8"/>
          <p:cNvCxnSpPr>
            <a:stCxn id="7" idx="3"/>
          </p:cNvCxnSpPr>
          <p:nvPr/>
        </p:nvCxnSpPr>
        <p:spPr>
          <a:xfrm flipH="1">
            <a:off x="1692322" y="2363159"/>
            <a:ext cx="559559" cy="707587"/>
          </a:xfrm>
          <a:prstGeom prst="bentConnector4">
            <a:avLst>
              <a:gd name="adj1" fmla="val -40854"/>
              <a:gd name="adj2" fmla="val 6494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337907" y="3031899"/>
            <a:ext cx="913974" cy="4230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Switch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313892" y="1850318"/>
            <a:ext cx="5412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Fa0/1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13698" y="1670875"/>
            <a:ext cx="4707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00B050"/>
                </a:solidFill>
              </a:rPr>
              <a:t>eth0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81923" y="1160141"/>
            <a:ext cx="11801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Router1:IP </a:t>
            </a:r>
            <a:r>
              <a:rPr lang="en-US" sz="1000" dirty="0" err="1">
                <a:solidFill>
                  <a:srgbClr val="0070C0"/>
                </a:solidFill>
              </a:rPr>
              <a:t>addres</a:t>
            </a:r>
            <a:r>
              <a:rPr lang="en-US" sz="1000" dirty="0">
                <a:solidFill>
                  <a:srgbClr val="0070C0"/>
                </a:solidFill>
              </a:rPr>
              <a:t> 200.200.20. 4 serial </a:t>
            </a:r>
            <a:r>
              <a:rPr lang="en-US" sz="1000" dirty="0" smtClean="0">
                <a:solidFill>
                  <a:srgbClr val="0070C0"/>
                </a:solidFill>
              </a:rPr>
              <a:t>0/0/0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2209" y="862928"/>
            <a:ext cx="1485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192.168.10.15(</a:t>
            </a:r>
            <a:r>
              <a:rPr lang="en-US" sz="1200" dirty="0" err="1">
                <a:solidFill>
                  <a:srgbClr val="0070C0"/>
                </a:solidFill>
              </a:rPr>
              <a:t>domain:verdy.co.id</a:t>
            </a:r>
            <a:r>
              <a:rPr lang="en-US" sz="120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69668" y="3966770"/>
            <a:ext cx="708829" cy="4230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PC1</a:t>
            </a:r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3862316" y="1685497"/>
            <a:ext cx="696036" cy="67766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R1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5850838" y="1670876"/>
            <a:ext cx="696036" cy="67766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R2</a:t>
            </a:r>
            <a:endParaRPr lang="en-US" dirty="0"/>
          </a:p>
        </p:txBody>
      </p:sp>
      <p:cxnSp>
        <p:nvCxnSpPr>
          <p:cNvPr id="24" name="Straight Connector 23"/>
          <p:cNvCxnSpPr>
            <a:stCxn id="19" idx="6"/>
          </p:cNvCxnSpPr>
          <p:nvPr/>
        </p:nvCxnSpPr>
        <p:spPr>
          <a:xfrm>
            <a:off x="4558352" y="2024328"/>
            <a:ext cx="4776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846981" y="2131699"/>
            <a:ext cx="10381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4846981" y="2024328"/>
            <a:ext cx="189043" cy="1073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568654" y="2324329"/>
            <a:ext cx="1636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Router1:IP </a:t>
            </a:r>
            <a:r>
              <a:rPr lang="en-US" sz="1000" dirty="0" err="1">
                <a:solidFill>
                  <a:srgbClr val="0070C0"/>
                </a:solidFill>
              </a:rPr>
              <a:t>addres</a:t>
            </a:r>
            <a:r>
              <a:rPr lang="en-US" sz="1000" dirty="0">
                <a:solidFill>
                  <a:srgbClr val="0070C0"/>
                </a:solidFill>
              </a:rPr>
              <a:t> 200.200.20. </a:t>
            </a:r>
            <a:r>
              <a:rPr lang="en-US" sz="1000" dirty="0" smtClean="0">
                <a:solidFill>
                  <a:srgbClr val="0070C0"/>
                </a:solidFill>
              </a:rPr>
              <a:t>10 </a:t>
            </a:r>
            <a:r>
              <a:rPr lang="en-US" sz="1000" dirty="0">
                <a:solidFill>
                  <a:srgbClr val="0070C0"/>
                </a:solidFill>
              </a:rPr>
              <a:t>serial </a:t>
            </a:r>
            <a:r>
              <a:rPr lang="en-US" sz="1000" dirty="0" smtClean="0">
                <a:solidFill>
                  <a:srgbClr val="0070C0"/>
                </a:solidFill>
              </a:rPr>
              <a:t>0/0/1</a:t>
            </a:r>
            <a:endParaRPr lang="en-US" sz="1000" dirty="0">
              <a:solidFill>
                <a:srgbClr val="0070C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403554" y="1966924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S0/0/0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72751" y="1877571"/>
            <a:ext cx="6094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S0/0/1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35" name="Straight Connector 34"/>
          <p:cNvCxnSpPr>
            <a:endCxn id="14" idx="3"/>
          </p:cNvCxnSpPr>
          <p:nvPr/>
        </p:nvCxnSpPr>
        <p:spPr>
          <a:xfrm flipV="1">
            <a:off x="2244695" y="1988818"/>
            <a:ext cx="1610435" cy="19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93315" y="4497447"/>
            <a:ext cx="1485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0070C0"/>
                </a:solidFill>
              </a:rPr>
              <a:t>192.168.10.10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60055" y="2290851"/>
            <a:ext cx="638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ens039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40" name="Elbow Connector 39"/>
          <p:cNvCxnSpPr>
            <a:endCxn id="18" idx="0"/>
          </p:cNvCxnSpPr>
          <p:nvPr/>
        </p:nvCxnSpPr>
        <p:spPr>
          <a:xfrm rot="5400000">
            <a:off x="1381777" y="3697286"/>
            <a:ext cx="511790" cy="2717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757344" y="2021035"/>
            <a:ext cx="1485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0070C0"/>
                </a:solidFill>
              </a:rPr>
              <a:t>192.168.10.1</a:t>
            </a:r>
            <a:endParaRPr lang="en-US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93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766" y="3575466"/>
            <a:ext cx="4472739" cy="272066"/>
          </a:xfrm>
        </p:spPr>
        <p:txBody>
          <a:bodyPr>
            <a:noAutofit/>
          </a:bodyPr>
          <a:lstStyle/>
          <a:p>
            <a:r>
              <a:rPr lang="en-US" sz="1400" b="1" dirty="0"/>
              <a:t> </a:t>
            </a:r>
            <a:r>
              <a:rPr lang="en-US" sz="1400" b="1" dirty="0" smtClean="0"/>
              <a:t>2. </a:t>
            </a:r>
            <a:r>
              <a:rPr lang="en-US" sz="1400" b="1" dirty="0" err="1" smtClean="0"/>
              <a:t>Konfigurasi</a:t>
            </a:r>
            <a:r>
              <a:rPr lang="en-US" sz="1400" b="1" dirty="0" smtClean="0"/>
              <a:t> DHCP</a:t>
            </a:r>
            <a:br>
              <a:rPr lang="en-US" sz="1400" b="1" dirty="0" smtClean="0"/>
            </a:br>
            <a:r>
              <a:rPr lang="en-US" sz="1400" b="1" dirty="0"/>
              <a:t>	</a:t>
            </a:r>
            <a:r>
              <a:rPr lang="en-US" sz="1400" dirty="0" err="1"/>
              <a:t>sudo</a:t>
            </a:r>
            <a:r>
              <a:rPr lang="en-US" sz="1400" dirty="0"/>
              <a:t> apt </a:t>
            </a:r>
            <a:r>
              <a:rPr lang="en-US" sz="1400" dirty="0" smtClean="0"/>
              <a:t>update</a:t>
            </a:r>
            <a:br>
              <a:rPr lang="en-US" sz="1400" dirty="0" smtClean="0"/>
            </a:br>
            <a:r>
              <a:rPr lang="en-US" sz="1400" dirty="0"/>
              <a:t>	</a:t>
            </a:r>
            <a:r>
              <a:rPr lang="en-US" sz="1400" dirty="0" err="1" smtClean="0"/>
              <a:t>sudo</a:t>
            </a:r>
            <a:r>
              <a:rPr lang="en-US" sz="1400" dirty="0" smtClean="0"/>
              <a:t> </a:t>
            </a:r>
            <a:r>
              <a:rPr lang="en-US" sz="1400" dirty="0"/>
              <a:t>apt install </a:t>
            </a:r>
            <a:r>
              <a:rPr lang="en-US" sz="1400" dirty="0" err="1" smtClean="0"/>
              <a:t>isc</a:t>
            </a:r>
            <a:r>
              <a:rPr lang="en-US" sz="1400" dirty="0" smtClean="0"/>
              <a:t>-</a:t>
            </a:r>
            <a:r>
              <a:rPr lang="en-US" sz="1400" dirty="0" err="1" smtClean="0"/>
              <a:t>dhcp</a:t>
            </a:r>
            <a:r>
              <a:rPr lang="en-US" sz="1400" dirty="0" smtClean="0"/>
              <a:t>-server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smtClean="0"/>
              <a:t>      /</a:t>
            </a:r>
            <a:r>
              <a:rPr lang="en-US" sz="1400" dirty="0" err="1" smtClean="0"/>
              <a:t>etc</a:t>
            </a:r>
            <a:r>
              <a:rPr lang="en-US" sz="1400" dirty="0" smtClean="0"/>
              <a:t>/</a:t>
            </a:r>
            <a:r>
              <a:rPr lang="en-US" sz="1400" dirty="0" err="1" smtClean="0"/>
              <a:t>dhcp</a:t>
            </a:r>
            <a:r>
              <a:rPr lang="en-US" sz="1400" dirty="0" smtClean="0"/>
              <a:t>/</a:t>
            </a:r>
            <a:r>
              <a:rPr lang="en-US" sz="1400" dirty="0" err="1" smtClean="0"/>
              <a:t>dhcpd.conf</a:t>
            </a:r>
            <a:r>
              <a:rPr lang="en-US" sz="1400" dirty="0" smtClean="0"/>
              <a:t>:</a:t>
            </a: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>
                <a:solidFill>
                  <a:srgbClr val="0070C0"/>
                </a:solidFill>
              </a:rPr>
              <a:t># </a:t>
            </a:r>
            <a:r>
              <a:rPr lang="en-US" sz="1000" dirty="0" err="1">
                <a:solidFill>
                  <a:srgbClr val="0070C0"/>
                </a:solidFill>
              </a:rPr>
              <a:t>Definisi</a:t>
            </a:r>
            <a:r>
              <a:rPr lang="en-US" sz="1000" dirty="0">
                <a:solidFill>
                  <a:srgbClr val="0070C0"/>
                </a:solidFill>
              </a:rPr>
              <a:t> Subnet </a:t>
            </a:r>
            <a:r>
              <a:rPr lang="en-US" sz="1000" dirty="0" err="1">
                <a:solidFill>
                  <a:srgbClr val="0070C0"/>
                </a:solidFill>
              </a:rPr>
              <a:t>untuk</a:t>
            </a:r>
            <a:r>
              <a:rPr lang="en-US" sz="1000" dirty="0">
                <a:solidFill>
                  <a:srgbClr val="0070C0"/>
                </a:solidFill>
              </a:rPr>
              <a:t> </a:t>
            </a:r>
            <a:r>
              <a:rPr lang="en-US" sz="1000" dirty="0" err="1">
                <a:solidFill>
                  <a:srgbClr val="0070C0"/>
                </a:solidFill>
              </a:rPr>
              <a:t>jaringan</a:t>
            </a:r>
            <a:r>
              <a:rPr lang="en-US" sz="1000" dirty="0">
                <a:solidFill>
                  <a:srgbClr val="0070C0"/>
                </a:solidFill>
              </a:rPr>
              <a:t> Server A</a:t>
            </a:r>
            <a:br>
              <a:rPr lang="en-US" sz="1000" dirty="0">
                <a:solidFill>
                  <a:srgbClr val="0070C0"/>
                </a:solidFill>
              </a:rPr>
            </a:br>
            <a:r>
              <a:rPr lang="en-US" sz="1000" dirty="0">
                <a:solidFill>
                  <a:srgbClr val="0070C0"/>
                </a:solidFill>
              </a:rPr>
              <a:t>subnet 192.168.10.0 </a:t>
            </a:r>
            <a:r>
              <a:rPr lang="en-US" sz="1000" dirty="0" err="1">
                <a:solidFill>
                  <a:srgbClr val="0070C0"/>
                </a:solidFill>
              </a:rPr>
              <a:t>netmask</a:t>
            </a:r>
            <a:r>
              <a:rPr lang="en-US" sz="1000" dirty="0">
                <a:solidFill>
                  <a:srgbClr val="0070C0"/>
                </a:solidFill>
              </a:rPr>
              <a:t> 255.255.255.0 {</a:t>
            </a:r>
            <a:br>
              <a:rPr lang="en-US" sz="1000" dirty="0">
                <a:solidFill>
                  <a:srgbClr val="0070C0"/>
                </a:solidFill>
              </a:rPr>
            </a:br>
            <a:r>
              <a:rPr lang="en-US" sz="1000" dirty="0">
                <a:solidFill>
                  <a:srgbClr val="0070C0"/>
                </a:solidFill>
              </a:rPr>
              <a:t>  range 192.168.10.50 192.168.10.100;      # Range IP </a:t>
            </a:r>
            <a:r>
              <a:rPr lang="en-US" sz="1000" dirty="0" err="1">
                <a:solidFill>
                  <a:srgbClr val="0070C0"/>
                </a:solidFill>
              </a:rPr>
              <a:t>untuk</a:t>
            </a:r>
            <a:r>
              <a:rPr lang="en-US" sz="1000" dirty="0">
                <a:solidFill>
                  <a:srgbClr val="0070C0"/>
                </a:solidFill>
              </a:rPr>
              <a:t> client </a:t>
            </a:r>
            <a:r>
              <a:rPr lang="en-US" sz="1000" dirty="0" err="1">
                <a:solidFill>
                  <a:srgbClr val="0070C0"/>
                </a:solidFill>
              </a:rPr>
              <a:t>jika</a:t>
            </a:r>
            <a:r>
              <a:rPr lang="en-US" sz="1000" dirty="0">
                <a:solidFill>
                  <a:srgbClr val="0070C0"/>
                </a:solidFill>
              </a:rPr>
              <a:t> </a:t>
            </a:r>
            <a:r>
              <a:rPr lang="en-US" sz="1000" dirty="0" err="1">
                <a:solidFill>
                  <a:srgbClr val="0070C0"/>
                </a:solidFill>
              </a:rPr>
              <a:t>ada</a:t>
            </a:r>
            <a:r>
              <a:rPr lang="en-US" sz="1000" dirty="0">
                <a:solidFill>
                  <a:srgbClr val="0070C0"/>
                </a:solidFill>
              </a:rPr>
              <a:t> di </a:t>
            </a:r>
            <a:r>
              <a:rPr lang="en-US" sz="1000" dirty="0" err="1">
                <a:solidFill>
                  <a:srgbClr val="0070C0"/>
                </a:solidFill>
              </a:rPr>
              <a:t>lokal</a:t>
            </a:r>
            <a:r>
              <a:rPr lang="en-US" sz="1000" dirty="0">
                <a:solidFill>
                  <a:srgbClr val="0070C0"/>
                </a:solidFill>
              </a:rPr>
              <a:t/>
            </a:r>
            <a:br>
              <a:rPr lang="en-US" sz="1000" dirty="0">
                <a:solidFill>
                  <a:srgbClr val="0070C0"/>
                </a:solidFill>
              </a:rPr>
            </a:br>
            <a:r>
              <a:rPr lang="en-US" sz="1000" dirty="0">
                <a:solidFill>
                  <a:srgbClr val="0070C0"/>
                </a:solidFill>
              </a:rPr>
              <a:t>  option routers 192.168.10.1;              # Gateway (IP fa0/1 Router 1)</a:t>
            </a:r>
            <a:br>
              <a:rPr lang="en-US" sz="1000" dirty="0">
                <a:solidFill>
                  <a:srgbClr val="0070C0"/>
                </a:solidFill>
              </a:rPr>
            </a:br>
            <a:r>
              <a:rPr lang="en-US" sz="1000" dirty="0">
                <a:solidFill>
                  <a:srgbClr val="0070C0"/>
                </a:solidFill>
              </a:rPr>
              <a:t>  option domain-name-servers 192.168.10.10; # IP DNS Server (Server A </a:t>
            </a:r>
            <a:r>
              <a:rPr lang="en-US" sz="1000" dirty="0" err="1">
                <a:solidFill>
                  <a:srgbClr val="0070C0"/>
                </a:solidFill>
              </a:rPr>
              <a:t>itu</a:t>
            </a:r>
            <a:r>
              <a:rPr lang="en-US" sz="1000" dirty="0">
                <a:solidFill>
                  <a:srgbClr val="0070C0"/>
                </a:solidFill>
              </a:rPr>
              <a:t> </a:t>
            </a:r>
            <a:r>
              <a:rPr lang="en-US" sz="1000" dirty="0" err="1">
                <a:solidFill>
                  <a:srgbClr val="0070C0"/>
                </a:solidFill>
              </a:rPr>
              <a:t>sendiri</a:t>
            </a:r>
            <a:r>
              <a:rPr lang="en-US" sz="1000" dirty="0">
                <a:solidFill>
                  <a:srgbClr val="0070C0"/>
                </a:solidFill>
              </a:rPr>
              <a:t>)</a:t>
            </a:r>
            <a:br>
              <a:rPr lang="en-US" sz="1000" dirty="0">
                <a:solidFill>
                  <a:srgbClr val="0070C0"/>
                </a:solidFill>
              </a:rPr>
            </a:br>
            <a:r>
              <a:rPr lang="en-US" sz="1000" dirty="0">
                <a:solidFill>
                  <a:srgbClr val="0070C0"/>
                </a:solidFill>
              </a:rPr>
              <a:t>  option domain-name "verdy.co.id";</a:t>
            </a:r>
            <a:br>
              <a:rPr lang="en-US" sz="1000" dirty="0">
                <a:solidFill>
                  <a:srgbClr val="0070C0"/>
                </a:solidFill>
              </a:rPr>
            </a:br>
            <a:r>
              <a:rPr lang="en-US" sz="1000" dirty="0">
                <a:solidFill>
                  <a:srgbClr val="0070C0"/>
                </a:solidFill>
              </a:rPr>
              <a:t>  default-lease-time 600;</a:t>
            </a:r>
            <a:br>
              <a:rPr lang="en-US" sz="1000" dirty="0">
                <a:solidFill>
                  <a:srgbClr val="0070C0"/>
                </a:solidFill>
              </a:rPr>
            </a:br>
            <a:r>
              <a:rPr lang="en-US" sz="1000" dirty="0">
                <a:solidFill>
                  <a:srgbClr val="0070C0"/>
                </a:solidFill>
              </a:rPr>
              <a:t>  max-lease-time 7200;</a:t>
            </a:r>
            <a:br>
              <a:rPr lang="en-US" sz="1000" dirty="0">
                <a:solidFill>
                  <a:srgbClr val="0070C0"/>
                </a:solidFill>
              </a:rPr>
            </a:br>
            <a:r>
              <a:rPr lang="en-US" sz="1000" dirty="0">
                <a:solidFill>
                  <a:srgbClr val="0070C0"/>
                </a:solidFill>
              </a:rPr>
              <a:t>}</a:t>
            </a:r>
            <a:br>
              <a:rPr lang="en-US" sz="1000" dirty="0">
                <a:solidFill>
                  <a:srgbClr val="0070C0"/>
                </a:solidFill>
              </a:rPr>
            </a:br>
            <a:r>
              <a:rPr lang="en-US" sz="1000" dirty="0" smtClean="0">
                <a:solidFill>
                  <a:srgbClr val="0070C0"/>
                </a:solidFill>
              </a:rPr>
              <a:t># </a:t>
            </a:r>
            <a:r>
              <a:rPr lang="en-US" sz="1000" dirty="0" err="1">
                <a:solidFill>
                  <a:srgbClr val="0070C0"/>
                </a:solidFill>
              </a:rPr>
              <a:t>Definisi</a:t>
            </a:r>
            <a:r>
              <a:rPr lang="en-US" sz="1000" dirty="0">
                <a:solidFill>
                  <a:srgbClr val="0070C0"/>
                </a:solidFill>
              </a:rPr>
              <a:t> Subnet </a:t>
            </a:r>
            <a:r>
              <a:rPr lang="en-US" sz="1000" dirty="0" err="1">
                <a:solidFill>
                  <a:srgbClr val="0070C0"/>
                </a:solidFill>
              </a:rPr>
              <a:t>untuk</a:t>
            </a:r>
            <a:r>
              <a:rPr lang="en-US" sz="1000" dirty="0">
                <a:solidFill>
                  <a:srgbClr val="0070C0"/>
                </a:solidFill>
              </a:rPr>
              <a:t> </a:t>
            </a:r>
            <a:r>
              <a:rPr lang="en-US" sz="1000" dirty="0" err="1">
                <a:solidFill>
                  <a:srgbClr val="0070C0"/>
                </a:solidFill>
              </a:rPr>
              <a:t>jaringan</a:t>
            </a:r>
            <a:r>
              <a:rPr lang="en-US" sz="1000" dirty="0">
                <a:solidFill>
                  <a:srgbClr val="0070C0"/>
                </a:solidFill>
              </a:rPr>
              <a:t> PC Client (</a:t>
            </a:r>
            <a:r>
              <a:rPr lang="en-US" sz="1000" dirty="0" err="1">
                <a:solidFill>
                  <a:srgbClr val="0070C0"/>
                </a:solidFill>
              </a:rPr>
              <a:t>Misal</a:t>
            </a:r>
            <a:r>
              <a:rPr lang="en-US" sz="1000" dirty="0">
                <a:solidFill>
                  <a:srgbClr val="0070C0"/>
                </a:solidFill>
              </a:rPr>
              <a:t>: 192.168.20.0/24)</a:t>
            </a:r>
            <a:br>
              <a:rPr lang="en-US" sz="1000" dirty="0">
                <a:solidFill>
                  <a:srgbClr val="0070C0"/>
                </a:solidFill>
              </a:rPr>
            </a:br>
            <a:r>
              <a:rPr lang="en-US" sz="1000" dirty="0">
                <a:solidFill>
                  <a:srgbClr val="0070C0"/>
                </a:solidFill>
              </a:rPr>
              <a:t># Ubuntu </a:t>
            </a:r>
            <a:r>
              <a:rPr lang="en-US" sz="1000" dirty="0" err="1">
                <a:solidFill>
                  <a:srgbClr val="0070C0"/>
                </a:solidFill>
              </a:rPr>
              <a:t>butuh</a:t>
            </a:r>
            <a:r>
              <a:rPr lang="en-US" sz="1000" dirty="0">
                <a:solidFill>
                  <a:srgbClr val="0070C0"/>
                </a:solidFill>
              </a:rPr>
              <a:t> </a:t>
            </a:r>
            <a:r>
              <a:rPr lang="en-US" sz="1000" dirty="0" err="1">
                <a:solidFill>
                  <a:srgbClr val="0070C0"/>
                </a:solidFill>
              </a:rPr>
              <a:t>deklarasi</a:t>
            </a:r>
            <a:r>
              <a:rPr lang="en-US" sz="1000" dirty="0">
                <a:solidFill>
                  <a:srgbClr val="0070C0"/>
                </a:solidFill>
              </a:rPr>
              <a:t> subnet </a:t>
            </a:r>
            <a:r>
              <a:rPr lang="en-US" sz="1000" dirty="0" err="1">
                <a:solidFill>
                  <a:srgbClr val="0070C0"/>
                </a:solidFill>
              </a:rPr>
              <a:t>ini</a:t>
            </a:r>
            <a:r>
              <a:rPr lang="en-US" sz="1000" dirty="0">
                <a:solidFill>
                  <a:srgbClr val="0070C0"/>
                </a:solidFill>
              </a:rPr>
              <a:t> agar </a:t>
            </a:r>
            <a:r>
              <a:rPr lang="en-US" sz="1000" dirty="0" err="1">
                <a:solidFill>
                  <a:srgbClr val="0070C0"/>
                </a:solidFill>
              </a:rPr>
              <a:t>mau</a:t>
            </a:r>
            <a:r>
              <a:rPr lang="en-US" sz="1000" dirty="0">
                <a:solidFill>
                  <a:srgbClr val="0070C0"/>
                </a:solidFill>
              </a:rPr>
              <a:t> </a:t>
            </a:r>
            <a:r>
              <a:rPr lang="en-US" sz="1000" dirty="0" err="1">
                <a:solidFill>
                  <a:srgbClr val="0070C0"/>
                </a:solidFill>
              </a:rPr>
              <a:t>memproses</a:t>
            </a:r>
            <a:r>
              <a:rPr lang="en-US" sz="1000" dirty="0">
                <a:solidFill>
                  <a:srgbClr val="0070C0"/>
                </a:solidFill>
              </a:rPr>
              <a:t> request </a:t>
            </a:r>
            <a:r>
              <a:rPr lang="en-US" sz="1000" dirty="0" err="1">
                <a:solidFill>
                  <a:srgbClr val="0070C0"/>
                </a:solidFill>
              </a:rPr>
              <a:t>dari</a:t>
            </a:r>
            <a:r>
              <a:rPr lang="en-US" sz="1000" dirty="0">
                <a:solidFill>
                  <a:srgbClr val="0070C0"/>
                </a:solidFill>
              </a:rPr>
              <a:t> DHCP Relay</a:t>
            </a:r>
            <a:br>
              <a:rPr lang="en-US" sz="1000" dirty="0">
                <a:solidFill>
                  <a:srgbClr val="0070C0"/>
                </a:solidFill>
              </a:rPr>
            </a:br>
            <a:r>
              <a:rPr lang="en-US" sz="1000" dirty="0">
                <a:solidFill>
                  <a:srgbClr val="0070C0"/>
                </a:solidFill>
              </a:rPr>
              <a:t>subnet 192.168.20.0 </a:t>
            </a:r>
            <a:r>
              <a:rPr lang="en-US" sz="1000" dirty="0" err="1">
                <a:solidFill>
                  <a:srgbClr val="0070C0"/>
                </a:solidFill>
              </a:rPr>
              <a:t>netmask</a:t>
            </a:r>
            <a:r>
              <a:rPr lang="en-US" sz="1000" dirty="0">
                <a:solidFill>
                  <a:srgbClr val="0070C0"/>
                </a:solidFill>
              </a:rPr>
              <a:t> 255.255.255.0 {</a:t>
            </a:r>
            <a:br>
              <a:rPr lang="en-US" sz="1000" dirty="0">
                <a:solidFill>
                  <a:srgbClr val="0070C0"/>
                </a:solidFill>
              </a:rPr>
            </a:br>
            <a:r>
              <a:rPr lang="en-US" sz="1000" dirty="0">
                <a:solidFill>
                  <a:srgbClr val="0070C0"/>
                </a:solidFill>
              </a:rPr>
              <a:t>  range 192.168.20.10 192.168.20.50;</a:t>
            </a:r>
            <a:br>
              <a:rPr lang="en-US" sz="1000" dirty="0">
                <a:solidFill>
                  <a:srgbClr val="0070C0"/>
                </a:solidFill>
              </a:rPr>
            </a:br>
            <a:r>
              <a:rPr lang="en-US" sz="1000" dirty="0">
                <a:solidFill>
                  <a:srgbClr val="0070C0"/>
                </a:solidFill>
              </a:rPr>
              <a:t>  option routers 192.168.20.1;              # Gateway PC Client (IP Router 2 </a:t>
            </a:r>
            <a:r>
              <a:rPr lang="en-US" sz="1000" dirty="0" err="1">
                <a:solidFill>
                  <a:srgbClr val="0070C0"/>
                </a:solidFill>
              </a:rPr>
              <a:t>arah</a:t>
            </a:r>
            <a:r>
              <a:rPr lang="en-US" sz="1000" dirty="0">
                <a:solidFill>
                  <a:srgbClr val="0070C0"/>
                </a:solidFill>
              </a:rPr>
              <a:t> PC)</a:t>
            </a:r>
            <a:br>
              <a:rPr lang="en-US" sz="1000" dirty="0">
                <a:solidFill>
                  <a:srgbClr val="0070C0"/>
                </a:solidFill>
              </a:rPr>
            </a:br>
            <a:r>
              <a:rPr lang="en-US" sz="1000" dirty="0">
                <a:solidFill>
                  <a:srgbClr val="0070C0"/>
                </a:solidFill>
              </a:rPr>
              <a:t>  option domain-name-servers 192.168.10.10; # </a:t>
            </a:r>
            <a:r>
              <a:rPr lang="en-US" sz="1000" dirty="0" err="1">
                <a:solidFill>
                  <a:srgbClr val="0070C0"/>
                </a:solidFill>
              </a:rPr>
              <a:t>Tetap</a:t>
            </a:r>
            <a:r>
              <a:rPr lang="en-US" sz="1000" dirty="0">
                <a:solidFill>
                  <a:srgbClr val="0070C0"/>
                </a:solidFill>
              </a:rPr>
              <a:t> </a:t>
            </a:r>
            <a:r>
              <a:rPr lang="en-US" sz="1000" dirty="0" err="1">
                <a:solidFill>
                  <a:srgbClr val="0070C0"/>
                </a:solidFill>
              </a:rPr>
              <a:t>arahkan</a:t>
            </a:r>
            <a:r>
              <a:rPr lang="en-US" sz="1000" dirty="0">
                <a:solidFill>
                  <a:srgbClr val="0070C0"/>
                </a:solidFill>
              </a:rPr>
              <a:t> </a:t>
            </a:r>
            <a:r>
              <a:rPr lang="en-US" sz="1000" dirty="0" err="1">
                <a:solidFill>
                  <a:srgbClr val="0070C0"/>
                </a:solidFill>
              </a:rPr>
              <a:t>ke</a:t>
            </a:r>
            <a:r>
              <a:rPr lang="en-US" sz="1000" dirty="0">
                <a:solidFill>
                  <a:srgbClr val="0070C0"/>
                </a:solidFill>
              </a:rPr>
              <a:t> IP DNS Server A</a:t>
            </a:r>
            <a:br>
              <a:rPr lang="en-US" sz="1000" dirty="0">
                <a:solidFill>
                  <a:srgbClr val="0070C0"/>
                </a:solidFill>
              </a:rPr>
            </a:br>
            <a:r>
              <a:rPr lang="en-US" sz="1000" dirty="0">
                <a:solidFill>
                  <a:srgbClr val="0070C0"/>
                </a:solidFill>
              </a:rP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91766" y="189763"/>
            <a:ext cx="428023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en-US" sz="1400" b="1" dirty="0" err="1" smtClean="0"/>
              <a:t>Konfigurasi</a:t>
            </a:r>
            <a:r>
              <a:rPr lang="en-US" sz="1400" b="1" dirty="0" smtClean="0"/>
              <a:t> </a:t>
            </a:r>
            <a:r>
              <a:rPr lang="en-US" sz="1400" b="1" dirty="0"/>
              <a:t>Interface </a:t>
            </a:r>
            <a:r>
              <a:rPr lang="en-US" sz="1400" b="1" dirty="0" err="1" smtClean="0"/>
              <a:t>ServerA</a:t>
            </a:r>
            <a:endParaRPr lang="en-US" sz="1400" b="1" dirty="0" smtClean="0"/>
          </a:p>
          <a:p>
            <a:pPr lvl="1" algn="just"/>
            <a:r>
              <a:rPr lang="en-US" sz="1400" dirty="0" smtClean="0"/>
              <a:t>Server </a:t>
            </a:r>
            <a:r>
              <a:rPr lang="en-US" sz="1400" dirty="0"/>
              <a:t>A </a:t>
            </a:r>
            <a:r>
              <a:rPr lang="en-US" sz="1400" dirty="0" err="1"/>
              <a:t>memiliki</a:t>
            </a:r>
            <a:r>
              <a:rPr lang="en-US" sz="1400" dirty="0"/>
              <a:t> IP </a:t>
            </a:r>
            <a:r>
              <a:rPr lang="en-US" sz="1400" dirty="0" err="1"/>
              <a:t>statis</a:t>
            </a:r>
            <a:r>
              <a:rPr lang="en-US" sz="1400" dirty="0"/>
              <a:t> </a:t>
            </a:r>
            <a:r>
              <a:rPr lang="en-US" sz="1400" dirty="0" err="1"/>
              <a:t>sebelum</a:t>
            </a:r>
            <a:r>
              <a:rPr lang="en-US" sz="1400" dirty="0"/>
              <a:t> </a:t>
            </a:r>
            <a:r>
              <a:rPr lang="en-US" sz="1400" dirty="0" err="1"/>
              <a:t>menjalankan</a:t>
            </a:r>
            <a:r>
              <a:rPr lang="en-US" sz="1400" dirty="0"/>
              <a:t> </a:t>
            </a:r>
            <a:r>
              <a:rPr lang="en-US" sz="1400" dirty="0" err="1"/>
              <a:t>layanan</a:t>
            </a:r>
            <a:r>
              <a:rPr lang="en-US" sz="1400" dirty="0"/>
              <a:t> DHCP.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sz="1400" dirty="0"/>
              <a:t>IP Address: 192.168.10.10 (</a:t>
            </a:r>
            <a:r>
              <a:rPr lang="en-US" sz="1400" dirty="0" err="1"/>
              <a:t>Sesuai</a:t>
            </a:r>
            <a:r>
              <a:rPr lang="en-US" sz="1400" dirty="0"/>
              <a:t> DNS) </a:t>
            </a:r>
            <a:r>
              <a:rPr lang="en-US" sz="1400" dirty="0" err="1"/>
              <a:t>atau</a:t>
            </a:r>
            <a:r>
              <a:rPr lang="en-US" sz="1400" dirty="0"/>
              <a:t> IP lain </a:t>
            </a:r>
            <a:r>
              <a:rPr lang="en-US" sz="1400" dirty="0" err="1"/>
              <a:t>dalam</a:t>
            </a:r>
            <a:r>
              <a:rPr lang="en-US" sz="1400" dirty="0"/>
              <a:t> subnet yang </a:t>
            </a:r>
            <a:r>
              <a:rPr lang="en-US" sz="1400" dirty="0" err="1"/>
              <a:t>sama</a:t>
            </a:r>
            <a:r>
              <a:rPr lang="en-US" sz="1400" dirty="0"/>
              <a:t>.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sz="1400" dirty="0"/>
              <a:t>Subnet Mask: 255.255.255.0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sz="1400" dirty="0"/>
              <a:t>Default Gateway: 192.168.10.1 (IP Router1 fa0/1)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sz="1400" dirty="0"/>
              <a:t>DNS Server: 192.168.10.10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89762"/>
            <a:ext cx="4572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smtClean="0"/>
              <a:t>3. </a:t>
            </a:r>
            <a:r>
              <a:rPr lang="en-US" sz="1400" b="1" dirty="0" err="1" smtClean="0"/>
              <a:t>Konfigurasi</a:t>
            </a:r>
            <a:r>
              <a:rPr lang="en-US" sz="1400" b="1" dirty="0" smtClean="0"/>
              <a:t> </a:t>
            </a:r>
            <a:r>
              <a:rPr lang="en-US" sz="1400" b="1" dirty="0"/>
              <a:t>"IP Helper Address" di Router</a:t>
            </a:r>
          </a:p>
          <a:p>
            <a:pPr lvl="1" algn="just"/>
            <a:r>
              <a:rPr lang="en-US" sz="1400" dirty="0"/>
              <a:t>Di Router 2 (Interface yang </a:t>
            </a:r>
            <a:r>
              <a:rPr lang="en-US" sz="1400" dirty="0" err="1"/>
              <a:t>mengarah</a:t>
            </a:r>
            <a:r>
              <a:rPr lang="en-US" sz="1400" dirty="0"/>
              <a:t> </a:t>
            </a:r>
            <a:r>
              <a:rPr lang="en-US" sz="1400" dirty="0" err="1"/>
              <a:t>ke</a:t>
            </a:r>
            <a:r>
              <a:rPr lang="en-US" sz="1400" dirty="0"/>
              <a:t> Switch1/PC):</a:t>
            </a:r>
          </a:p>
          <a:p>
            <a:pPr lvl="1" algn="just"/>
            <a:r>
              <a:rPr lang="en-US" sz="1400" dirty="0"/>
              <a:t>Agar request DHCP </a:t>
            </a:r>
            <a:r>
              <a:rPr lang="en-US" sz="1400" dirty="0" err="1"/>
              <a:t>dari</a:t>
            </a:r>
            <a:r>
              <a:rPr lang="en-US" sz="1400" dirty="0"/>
              <a:t> PC </a:t>
            </a:r>
            <a:r>
              <a:rPr lang="en-US" sz="1400" dirty="0" err="1"/>
              <a:t>sampai</a:t>
            </a:r>
            <a:r>
              <a:rPr lang="en-US" sz="1400" dirty="0"/>
              <a:t> </a:t>
            </a:r>
            <a:r>
              <a:rPr lang="en-US" sz="1400" dirty="0" err="1"/>
              <a:t>ke</a:t>
            </a:r>
            <a:r>
              <a:rPr lang="en-US" sz="1400" dirty="0"/>
              <a:t> Server A, </a:t>
            </a:r>
            <a:r>
              <a:rPr lang="en-US" sz="1400" dirty="0" err="1"/>
              <a:t>kamu</a:t>
            </a:r>
            <a:r>
              <a:rPr lang="en-US" sz="1400" dirty="0"/>
              <a:t> </a:t>
            </a:r>
            <a:r>
              <a:rPr lang="en-US" sz="1400" dirty="0" err="1"/>
              <a:t>harus</a:t>
            </a:r>
            <a:r>
              <a:rPr lang="en-US" sz="1400" dirty="0"/>
              <a:t> </a:t>
            </a:r>
            <a:r>
              <a:rPr lang="en-US" sz="1400" dirty="0" err="1"/>
              <a:t>mengarahkan</a:t>
            </a:r>
            <a:r>
              <a:rPr lang="en-US" sz="1400" dirty="0"/>
              <a:t> broadcast DHCP </a:t>
            </a:r>
            <a:r>
              <a:rPr lang="en-US" sz="1400" dirty="0" err="1"/>
              <a:t>ke</a:t>
            </a:r>
            <a:r>
              <a:rPr lang="en-US" sz="1400" dirty="0"/>
              <a:t> IP Server A</a:t>
            </a:r>
            <a:r>
              <a:rPr lang="en-US" sz="1400" dirty="0" smtClean="0"/>
              <a:t>.</a:t>
            </a:r>
          </a:p>
          <a:p>
            <a:pPr lvl="1" algn="just"/>
            <a:endParaRPr lang="en-US" sz="1000" dirty="0" smtClean="0"/>
          </a:p>
          <a:p>
            <a:pPr lvl="1"/>
            <a:r>
              <a:rPr lang="en-US" sz="1000" dirty="0" smtClean="0">
                <a:solidFill>
                  <a:srgbClr val="0070C0"/>
                </a:solidFill>
              </a:rPr>
              <a:t>Router2(</a:t>
            </a:r>
            <a:r>
              <a:rPr lang="en-US" sz="1000" dirty="0" err="1" smtClean="0">
                <a:solidFill>
                  <a:srgbClr val="0070C0"/>
                </a:solidFill>
              </a:rPr>
              <a:t>config</a:t>
            </a:r>
            <a:r>
              <a:rPr lang="en-US" sz="1000" dirty="0">
                <a:solidFill>
                  <a:srgbClr val="0070C0"/>
                </a:solidFill>
              </a:rPr>
              <a:t>)# interface [</a:t>
            </a:r>
            <a:r>
              <a:rPr lang="en-US" sz="1000" dirty="0" err="1">
                <a:solidFill>
                  <a:srgbClr val="0070C0"/>
                </a:solidFill>
              </a:rPr>
              <a:t>nama_interface_ke_switch</a:t>
            </a:r>
            <a:r>
              <a:rPr lang="en-US" sz="1000" dirty="0" smtClean="0">
                <a:solidFill>
                  <a:srgbClr val="0070C0"/>
                </a:solidFill>
              </a:rPr>
              <a:t>]</a:t>
            </a:r>
          </a:p>
          <a:p>
            <a:pPr lvl="1"/>
            <a:r>
              <a:rPr lang="en-US" sz="1000" dirty="0" smtClean="0">
                <a:solidFill>
                  <a:srgbClr val="0070C0"/>
                </a:solidFill>
              </a:rPr>
              <a:t>Router2(</a:t>
            </a:r>
            <a:r>
              <a:rPr lang="en-US" sz="1000" dirty="0" err="1" smtClean="0">
                <a:solidFill>
                  <a:srgbClr val="0070C0"/>
                </a:solidFill>
              </a:rPr>
              <a:t>config</a:t>
            </a:r>
            <a:r>
              <a:rPr lang="en-US" sz="1000" dirty="0" smtClean="0">
                <a:solidFill>
                  <a:srgbClr val="0070C0"/>
                </a:solidFill>
              </a:rPr>
              <a:t>-if</a:t>
            </a:r>
            <a:r>
              <a:rPr lang="en-US" sz="1000" dirty="0">
                <a:solidFill>
                  <a:srgbClr val="0070C0"/>
                </a:solidFill>
              </a:rPr>
              <a:t>)# </a:t>
            </a:r>
            <a:r>
              <a:rPr lang="en-US" sz="1000" dirty="0" err="1">
                <a:solidFill>
                  <a:srgbClr val="0070C0"/>
                </a:solidFill>
              </a:rPr>
              <a:t>ip</a:t>
            </a:r>
            <a:r>
              <a:rPr lang="en-US" sz="1000" dirty="0">
                <a:solidFill>
                  <a:srgbClr val="0070C0"/>
                </a:solidFill>
              </a:rPr>
              <a:t> helper-address </a:t>
            </a:r>
            <a:r>
              <a:rPr lang="en-US" sz="1000" dirty="0" smtClean="0">
                <a:solidFill>
                  <a:srgbClr val="0070C0"/>
                </a:solidFill>
              </a:rPr>
              <a:t>192.168.10.10</a:t>
            </a:r>
          </a:p>
          <a:p>
            <a:pPr lvl="1"/>
            <a:r>
              <a:rPr lang="en-US" sz="1000" dirty="0">
                <a:solidFill>
                  <a:srgbClr val="0070C0"/>
                </a:solidFill>
              </a:rPr>
              <a:t>Router2(</a:t>
            </a:r>
            <a:r>
              <a:rPr lang="en-US" sz="1000" dirty="0" err="1">
                <a:solidFill>
                  <a:srgbClr val="0070C0"/>
                </a:solidFill>
              </a:rPr>
              <a:t>config</a:t>
            </a:r>
            <a:r>
              <a:rPr lang="en-US" sz="1000" dirty="0">
                <a:solidFill>
                  <a:srgbClr val="0070C0"/>
                </a:solidFill>
              </a:rPr>
              <a:t>)# interface </a:t>
            </a:r>
            <a:r>
              <a:rPr lang="en-US" sz="1000" dirty="0" smtClean="0">
                <a:solidFill>
                  <a:srgbClr val="0070C0"/>
                </a:solidFill>
              </a:rPr>
              <a:t>fa0/1</a:t>
            </a:r>
          </a:p>
          <a:p>
            <a:pPr lvl="1"/>
            <a:r>
              <a:rPr lang="en-US" sz="1000" dirty="0" smtClean="0">
                <a:solidFill>
                  <a:srgbClr val="0070C0"/>
                </a:solidFill>
              </a:rPr>
              <a:t>Router2(</a:t>
            </a:r>
            <a:r>
              <a:rPr lang="en-US" sz="1000" dirty="0" err="1" smtClean="0">
                <a:solidFill>
                  <a:srgbClr val="0070C0"/>
                </a:solidFill>
              </a:rPr>
              <a:t>config</a:t>
            </a:r>
            <a:r>
              <a:rPr lang="en-US" sz="1000" dirty="0" smtClean="0">
                <a:solidFill>
                  <a:srgbClr val="0070C0"/>
                </a:solidFill>
              </a:rPr>
              <a:t>-if</a:t>
            </a:r>
            <a:r>
              <a:rPr lang="en-US" sz="1000" dirty="0">
                <a:solidFill>
                  <a:srgbClr val="0070C0"/>
                </a:solidFill>
              </a:rPr>
              <a:t>)# </a:t>
            </a:r>
            <a:r>
              <a:rPr lang="en-US" sz="1000" dirty="0" err="1">
                <a:solidFill>
                  <a:srgbClr val="0070C0"/>
                </a:solidFill>
              </a:rPr>
              <a:t>ip</a:t>
            </a:r>
            <a:r>
              <a:rPr lang="en-US" sz="1000" dirty="0">
                <a:solidFill>
                  <a:srgbClr val="0070C0"/>
                </a:solidFill>
              </a:rPr>
              <a:t> helper-address </a:t>
            </a:r>
            <a:r>
              <a:rPr lang="en-US" sz="1000" dirty="0" smtClean="0">
                <a:solidFill>
                  <a:srgbClr val="0070C0"/>
                </a:solidFill>
              </a:rPr>
              <a:t>192.168.10.10</a:t>
            </a:r>
          </a:p>
          <a:p>
            <a:pPr lvl="1"/>
            <a:r>
              <a:rPr lang="en-US" sz="1000" dirty="0">
                <a:solidFill>
                  <a:srgbClr val="0070C0"/>
                </a:solidFill>
              </a:rPr>
              <a:t># </a:t>
            </a:r>
            <a:r>
              <a:rPr lang="en-US" sz="1000" dirty="0" err="1">
                <a:solidFill>
                  <a:srgbClr val="0070C0"/>
                </a:solidFill>
              </a:rPr>
              <a:t>Tambahkan</a:t>
            </a:r>
            <a:r>
              <a:rPr lang="en-US" sz="1000" dirty="0">
                <a:solidFill>
                  <a:srgbClr val="0070C0"/>
                </a:solidFill>
              </a:rPr>
              <a:t> route </a:t>
            </a:r>
            <a:r>
              <a:rPr lang="en-US" sz="1000" dirty="0" err="1">
                <a:solidFill>
                  <a:srgbClr val="0070C0"/>
                </a:solidFill>
              </a:rPr>
              <a:t>statis</a:t>
            </a:r>
            <a:r>
              <a:rPr lang="en-US" sz="1000" dirty="0">
                <a:solidFill>
                  <a:srgbClr val="0070C0"/>
                </a:solidFill>
              </a:rPr>
              <a:t> di Ubuntu (</a:t>
            </a:r>
            <a:r>
              <a:rPr lang="en-US" sz="1000" dirty="0" err="1">
                <a:solidFill>
                  <a:srgbClr val="0070C0"/>
                </a:solidFill>
              </a:rPr>
              <a:t>ganti</a:t>
            </a:r>
            <a:r>
              <a:rPr lang="en-US" sz="1000" dirty="0">
                <a:solidFill>
                  <a:srgbClr val="0070C0"/>
                </a:solidFill>
              </a:rPr>
              <a:t> subnet client </a:t>
            </a:r>
            <a:r>
              <a:rPr lang="en-US" sz="1000" dirty="0" err="1">
                <a:solidFill>
                  <a:srgbClr val="0070C0"/>
                </a:solidFill>
              </a:rPr>
              <a:t>sesuai</a:t>
            </a:r>
            <a:r>
              <a:rPr lang="en-US" sz="1000" dirty="0">
                <a:solidFill>
                  <a:srgbClr val="0070C0"/>
                </a:solidFill>
              </a:rPr>
              <a:t> IP PC Client)</a:t>
            </a:r>
          </a:p>
          <a:p>
            <a:pPr lvl="1"/>
            <a:r>
              <a:rPr lang="en-US" sz="1000" dirty="0" err="1">
                <a:solidFill>
                  <a:srgbClr val="0070C0"/>
                </a:solidFill>
              </a:rPr>
              <a:t>sudo</a:t>
            </a:r>
            <a:r>
              <a:rPr lang="en-US" sz="1000" dirty="0">
                <a:solidFill>
                  <a:srgbClr val="0070C0"/>
                </a:solidFill>
              </a:rPr>
              <a:t> </a:t>
            </a:r>
            <a:r>
              <a:rPr lang="en-US" sz="1000" dirty="0" err="1">
                <a:solidFill>
                  <a:srgbClr val="0070C0"/>
                </a:solidFill>
              </a:rPr>
              <a:t>ip</a:t>
            </a:r>
            <a:r>
              <a:rPr lang="en-US" sz="1000" dirty="0">
                <a:solidFill>
                  <a:srgbClr val="0070C0"/>
                </a:solidFill>
              </a:rPr>
              <a:t> route add 192.168.20.0/24 via 192.168.10.1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651975"/>
            <a:ext cx="4280234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smtClean="0"/>
              <a:t>4. </a:t>
            </a:r>
            <a:r>
              <a:rPr lang="en-US" b="1" dirty="0" err="1"/>
              <a:t>Verifikasi</a:t>
            </a:r>
            <a:r>
              <a:rPr lang="en-US" b="1" dirty="0"/>
              <a:t> </a:t>
            </a:r>
            <a:r>
              <a:rPr lang="en-US" b="1" dirty="0" err="1"/>
              <a:t>pada</a:t>
            </a:r>
            <a:r>
              <a:rPr lang="en-US" b="1" dirty="0"/>
              <a:t> PC Client</a:t>
            </a:r>
            <a:endParaRPr lang="en-US" sz="1400" b="1" dirty="0"/>
          </a:p>
          <a:p>
            <a:pPr marL="800100" lvl="1" indent="-342900" algn="just">
              <a:buFont typeface="+mj-lt"/>
              <a:buAutoNum type="alphaLcParenR"/>
            </a:pPr>
            <a:r>
              <a:rPr lang="en-US" sz="1400" dirty="0" err="1"/>
              <a:t>Buka</a:t>
            </a:r>
            <a:r>
              <a:rPr lang="en-US" sz="1400" dirty="0"/>
              <a:t> PC Client, </a:t>
            </a:r>
            <a:r>
              <a:rPr lang="en-US" sz="1400" dirty="0" err="1"/>
              <a:t>masuk</a:t>
            </a:r>
            <a:r>
              <a:rPr lang="en-US" sz="1400" dirty="0"/>
              <a:t> </a:t>
            </a:r>
            <a:r>
              <a:rPr lang="en-US" sz="1400" dirty="0" err="1"/>
              <a:t>ke</a:t>
            </a:r>
            <a:r>
              <a:rPr lang="en-US" sz="1400" dirty="0"/>
              <a:t> </a:t>
            </a:r>
            <a:r>
              <a:rPr lang="en-US" sz="1400" dirty="0" err="1"/>
              <a:t>pengaturan</a:t>
            </a:r>
            <a:r>
              <a:rPr lang="en-US" sz="1400" dirty="0"/>
              <a:t> IP.</a:t>
            </a:r>
          </a:p>
          <a:p>
            <a:pPr marL="800100" lvl="1" indent="-342900" algn="just">
              <a:buFont typeface="+mj-lt"/>
              <a:buAutoNum type="alphaLcParenR"/>
            </a:pPr>
            <a:r>
              <a:rPr lang="en-US" sz="1400" dirty="0" err="1"/>
              <a:t>Pilih</a:t>
            </a:r>
            <a:r>
              <a:rPr lang="en-US" sz="1400" dirty="0"/>
              <a:t> mode DHCP.</a:t>
            </a:r>
          </a:p>
          <a:p>
            <a:pPr marL="800100" lvl="1" indent="-342900" algn="just">
              <a:buFont typeface="+mj-lt"/>
              <a:buAutoNum type="alphaLcParenR"/>
            </a:pPr>
            <a:r>
              <a:rPr lang="en-US" sz="1400" dirty="0" err="1"/>
              <a:t>Jika</a:t>
            </a:r>
            <a:r>
              <a:rPr lang="en-US" sz="1400" dirty="0"/>
              <a:t> </a:t>
            </a:r>
            <a:r>
              <a:rPr lang="en-US" sz="1400" dirty="0" err="1"/>
              <a:t>berhasil</a:t>
            </a:r>
            <a:r>
              <a:rPr lang="en-US" sz="1400" dirty="0"/>
              <a:t>, PC </a:t>
            </a:r>
            <a:r>
              <a:rPr lang="en-US" sz="1400" dirty="0" err="1"/>
              <a:t>akan</a:t>
            </a:r>
            <a:r>
              <a:rPr lang="en-US" sz="1400" dirty="0"/>
              <a:t> </a:t>
            </a:r>
            <a:r>
              <a:rPr lang="en-US" sz="1400" dirty="0" err="1"/>
              <a:t>mendapatkan</a:t>
            </a:r>
            <a:r>
              <a:rPr lang="en-US" sz="1400" dirty="0"/>
              <a:t> IP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rentang</a:t>
            </a:r>
            <a:r>
              <a:rPr lang="en-US" sz="1400" dirty="0"/>
              <a:t> 192.168.10.50 - 100, gateway 192.168.10.1, </a:t>
            </a:r>
            <a:r>
              <a:rPr lang="en-US" sz="1400" dirty="0" err="1"/>
              <a:t>dan</a:t>
            </a:r>
            <a:r>
              <a:rPr lang="en-US" sz="1400" dirty="0"/>
              <a:t> DNS 192.168.10.10.</a:t>
            </a:r>
          </a:p>
          <a:p>
            <a:pPr marL="800100" lvl="1" indent="-342900" algn="just">
              <a:buFont typeface="+mj-lt"/>
              <a:buAutoNum type="alphaLcParenR"/>
            </a:pPr>
            <a:r>
              <a:rPr lang="en-US" sz="1400" dirty="0" err="1"/>
              <a:t>Coba</a:t>
            </a:r>
            <a:r>
              <a:rPr lang="en-US" sz="1400" dirty="0"/>
              <a:t> </a:t>
            </a:r>
            <a:r>
              <a:rPr lang="en-US" sz="1400" dirty="0" err="1"/>
              <a:t>akses</a:t>
            </a:r>
            <a:r>
              <a:rPr lang="en-US" sz="1400" dirty="0"/>
              <a:t> verdy.co.id di browser PC Client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memastikan</a:t>
            </a:r>
            <a:r>
              <a:rPr lang="en-US" sz="1400" dirty="0"/>
              <a:t> routing </a:t>
            </a:r>
            <a:r>
              <a:rPr lang="en-US" sz="1400" dirty="0" err="1"/>
              <a:t>dan</a:t>
            </a:r>
            <a:r>
              <a:rPr lang="en-US" sz="1400" dirty="0"/>
              <a:t> DNS </a:t>
            </a:r>
            <a:r>
              <a:rPr lang="en-US" sz="1400" dirty="0" err="1"/>
              <a:t>berjalan</a:t>
            </a:r>
            <a:r>
              <a:rPr lang="en-US" sz="1400" dirty="0"/>
              <a:t> </a:t>
            </a:r>
            <a:r>
              <a:rPr lang="en-US" sz="1400" dirty="0" err="1"/>
              <a:t>lancar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3488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863766" y="2021555"/>
            <a:ext cx="428023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/>
              <a:t>Edit /</a:t>
            </a:r>
            <a:r>
              <a:rPr lang="en-US" sz="1400" b="1" dirty="0" err="1"/>
              <a:t>etc</a:t>
            </a:r>
            <a:r>
              <a:rPr lang="en-US" sz="1400" b="1" dirty="0"/>
              <a:t>/default/</a:t>
            </a:r>
            <a:r>
              <a:rPr lang="en-US" sz="1400" b="1" dirty="0" err="1"/>
              <a:t>isc</a:t>
            </a:r>
            <a:r>
              <a:rPr lang="en-US" sz="1400" b="1" dirty="0"/>
              <a:t>-</a:t>
            </a:r>
            <a:r>
              <a:rPr lang="en-US" sz="1400" b="1" dirty="0" err="1"/>
              <a:t>dhcp</a:t>
            </a:r>
            <a:r>
              <a:rPr lang="en-US" sz="1400" b="1" dirty="0"/>
              <a:t>-server:</a:t>
            </a:r>
          </a:p>
          <a:p>
            <a:pPr lvl="1" algn="just"/>
            <a:endParaRPr lang="en-US" sz="1400" dirty="0" smtClean="0"/>
          </a:p>
          <a:p>
            <a:pPr lvl="1"/>
            <a:r>
              <a:rPr lang="en-US" sz="1400" dirty="0">
                <a:solidFill>
                  <a:srgbClr val="0070C0"/>
                </a:solidFill>
              </a:rPr>
              <a:t>INTERFACESv4="ens039"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610003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err="1"/>
              <a:t>Konfigurasi</a:t>
            </a:r>
            <a:r>
              <a:rPr lang="en-US" sz="1400" b="1" dirty="0"/>
              <a:t> Routing di Router (Cisco)</a:t>
            </a:r>
          </a:p>
          <a:p>
            <a:pPr algn="just"/>
            <a:r>
              <a:rPr lang="en-US" sz="1400" dirty="0" err="1"/>
              <a:t>Karena</a:t>
            </a:r>
            <a:r>
              <a:rPr lang="en-US" sz="1400" dirty="0"/>
              <a:t> Server A </a:t>
            </a:r>
            <a:r>
              <a:rPr lang="en-US" sz="1400" dirty="0" err="1"/>
              <a:t>sekarang</a:t>
            </a:r>
            <a:r>
              <a:rPr lang="en-US" sz="1400" dirty="0"/>
              <a:t> </a:t>
            </a:r>
            <a:r>
              <a:rPr lang="en-US" sz="1400" dirty="0" err="1"/>
              <a:t>memiliki</a:t>
            </a:r>
            <a:r>
              <a:rPr lang="en-US" sz="1400" dirty="0"/>
              <a:t> </a:t>
            </a:r>
            <a:r>
              <a:rPr lang="en-US" sz="1400" dirty="0" err="1"/>
              <a:t>dua</a:t>
            </a:r>
            <a:r>
              <a:rPr lang="en-US" sz="1400" dirty="0"/>
              <a:t> kaki (Dual-NIC), Router 1 </a:t>
            </a:r>
            <a:r>
              <a:rPr lang="en-US" sz="1400" dirty="0" err="1"/>
              <a:t>dan</a:t>
            </a:r>
            <a:r>
              <a:rPr lang="en-US" sz="1400" dirty="0"/>
              <a:t> Router 2 </a:t>
            </a:r>
            <a:r>
              <a:rPr lang="en-US" sz="1400" dirty="0" err="1"/>
              <a:t>hanya</a:t>
            </a:r>
            <a:r>
              <a:rPr lang="en-US" sz="1400" dirty="0"/>
              <a:t> </a:t>
            </a:r>
            <a:r>
              <a:rPr lang="en-US" sz="1400" dirty="0" err="1"/>
              <a:t>perlu</a:t>
            </a:r>
            <a:r>
              <a:rPr lang="en-US" sz="1400" dirty="0"/>
              <a:t> </a:t>
            </a:r>
            <a:r>
              <a:rPr lang="en-US" sz="1400" dirty="0" err="1"/>
              <a:t>tahu</a:t>
            </a:r>
            <a:r>
              <a:rPr lang="en-US" sz="1400" dirty="0"/>
              <a:t> </a:t>
            </a:r>
            <a:r>
              <a:rPr lang="en-US" sz="1400" dirty="0" err="1"/>
              <a:t>rute</a:t>
            </a:r>
            <a:r>
              <a:rPr lang="en-US" sz="1400" dirty="0"/>
              <a:t> </a:t>
            </a:r>
            <a:r>
              <a:rPr lang="en-US" sz="1400" dirty="0" err="1"/>
              <a:t>menuju</a:t>
            </a:r>
            <a:r>
              <a:rPr lang="en-US" sz="1400" dirty="0"/>
              <a:t> IP </a:t>
            </a:r>
            <a:r>
              <a:rPr lang="en-US" sz="1400" dirty="0" err="1"/>
              <a:t>publik</a:t>
            </a:r>
            <a:r>
              <a:rPr lang="en-US" sz="1400" dirty="0"/>
              <a:t>/</a:t>
            </a:r>
            <a:r>
              <a:rPr lang="en-US" sz="1400" dirty="0" err="1"/>
              <a:t>layanan</a:t>
            </a:r>
            <a:r>
              <a:rPr lang="en-US" sz="1400" dirty="0"/>
              <a:t> di Server A.</a:t>
            </a:r>
          </a:p>
          <a:p>
            <a:pPr algn="just"/>
            <a:r>
              <a:rPr lang="en-US" sz="1400" b="1" dirty="0"/>
              <a:t>Di Router 1 (R1):</a:t>
            </a:r>
          </a:p>
          <a:p>
            <a:pPr lvl="1" algn="just"/>
            <a:r>
              <a:rPr lang="en-US" sz="1400" dirty="0"/>
              <a:t>Interface Fa0/1: 192.168.10.1 (</a:t>
            </a:r>
            <a:r>
              <a:rPr lang="en-US" sz="1400" dirty="0" err="1"/>
              <a:t>Sesuai</a:t>
            </a:r>
            <a:r>
              <a:rPr lang="en-US" sz="1400" dirty="0"/>
              <a:t> </a:t>
            </a:r>
            <a:r>
              <a:rPr lang="en-US" sz="1400" dirty="0" err="1"/>
              <a:t>gambar</a:t>
            </a:r>
            <a:r>
              <a:rPr lang="en-US" sz="1400" dirty="0"/>
              <a:t>)</a:t>
            </a:r>
          </a:p>
          <a:p>
            <a:pPr lvl="1" algn="just"/>
            <a:r>
              <a:rPr lang="en-US" sz="1400" dirty="0"/>
              <a:t>Interface S0/0/0: 200.200.20.4</a:t>
            </a:r>
          </a:p>
          <a:p>
            <a:pPr algn="just"/>
            <a:r>
              <a:rPr lang="en-US" sz="1400" b="1" dirty="0"/>
              <a:t>Di Router 2 (R2):</a:t>
            </a:r>
          </a:p>
          <a:p>
            <a:pPr lvl="1" algn="just"/>
            <a:r>
              <a:rPr lang="en-US" sz="1400" dirty="0"/>
              <a:t>Interface S0/0/1: 200.200.20.10</a:t>
            </a:r>
          </a:p>
          <a:p>
            <a:pPr lvl="1" algn="just"/>
            <a:r>
              <a:rPr lang="en-US" sz="1400" dirty="0"/>
              <a:t>Static Route </a:t>
            </a:r>
            <a:r>
              <a:rPr lang="en-US" sz="1400" dirty="0" err="1"/>
              <a:t>ke</a:t>
            </a:r>
            <a:r>
              <a:rPr lang="en-US" sz="1400" dirty="0"/>
              <a:t> Server A:</a:t>
            </a:r>
          </a:p>
          <a:p>
            <a:pPr algn="just"/>
            <a:r>
              <a:rPr lang="en-US" sz="1400" dirty="0" smtClean="0">
                <a:solidFill>
                  <a:srgbClr val="0070C0"/>
                </a:solidFill>
              </a:rPr>
              <a:t>Router2(</a:t>
            </a:r>
            <a:r>
              <a:rPr lang="en-US" sz="1400" dirty="0" err="1" smtClean="0">
                <a:solidFill>
                  <a:srgbClr val="0070C0"/>
                </a:solidFill>
              </a:rPr>
              <a:t>config</a:t>
            </a:r>
            <a:r>
              <a:rPr lang="en-US" sz="1400" dirty="0">
                <a:solidFill>
                  <a:srgbClr val="0070C0"/>
                </a:solidFill>
              </a:rPr>
              <a:t>)# </a:t>
            </a:r>
            <a:r>
              <a:rPr lang="en-US" sz="1400" dirty="0" err="1">
                <a:solidFill>
                  <a:srgbClr val="0070C0"/>
                </a:solidFill>
              </a:rPr>
              <a:t>ip</a:t>
            </a:r>
            <a:r>
              <a:rPr lang="en-US" sz="1400" dirty="0">
                <a:solidFill>
                  <a:srgbClr val="0070C0"/>
                </a:solidFill>
              </a:rPr>
              <a:t> route 192.168.10.0 255.255.255.0 200.200.20.4</a:t>
            </a:r>
          </a:p>
        </p:txBody>
      </p:sp>
      <p:sp>
        <p:nvSpPr>
          <p:cNvPr id="8" name="Rectangle 7"/>
          <p:cNvSpPr/>
          <p:nvPr/>
        </p:nvSpPr>
        <p:spPr>
          <a:xfrm>
            <a:off x="131345" y="113341"/>
            <a:ext cx="42802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400" b="1" dirty="0"/>
              <a:t>Konfigurasi Netplan Terbaru (Server A</a:t>
            </a:r>
            <a:r>
              <a:rPr lang="pt-BR" sz="1400" b="1" dirty="0" smtClean="0"/>
              <a:t>)</a:t>
            </a:r>
          </a:p>
          <a:p>
            <a:pPr algn="just"/>
            <a:endParaRPr lang="en-US" sz="1400" dirty="0" smtClean="0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310818" y="5619"/>
            <a:ext cx="439252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yaml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network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 smtClean="0">
                <a:solidFill>
                  <a:srgbClr val="0A0A0A"/>
                </a:solidFill>
                <a:latin typeface="Arial Unicode MS"/>
              </a:rPr>
              <a:t>       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version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: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2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0A0A0A"/>
                </a:solidFill>
                <a:latin typeface="Arial Unicode MS"/>
              </a:rPr>
              <a:t> </a:t>
            </a:r>
            <a:r>
              <a:rPr lang="en-US" altLang="en-US" sz="1200" dirty="0" smtClean="0">
                <a:solidFill>
                  <a:srgbClr val="0A0A0A"/>
                </a:solidFill>
                <a:latin typeface="Arial Unicode MS"/>
              </a:rPr>
              <a:t>      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ethernets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0A0A0A"/>
                </a:solidFill>
                <a:latin typeface="Arial Unicode MS"/>
              </a:rPr>
              <a:t> </a:t>
            </a:r>
            <a:r>
              <a:rPr lang="en-US" altLang="en-US" sz="1200" dirty="0" smtClean="0">
                <a:solidFill>
                  <a:srgbClr val="0A0A0A"/>
                </a:solidFill>
                <a:latin typeface="Arial Unicode MS"/>
              </a:rPr>
              <a:t>          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ens33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0A0A0A"/>
                </a:solidFill>
                <a:latin typeface="Arial Unicode MS"/>
              </a:rPr>
              <a:t> </a:t>
            </a:r>
            <a:r>
              <a:rPr lang="en-US" altLang="en-US" sz="1200" dirty="0" smtClean="0">
                <a:solidFill>
                  <a:srgbClr val="0A0A0A"/>
                </a:solidFill>
                <a:latin typeface="Arial Unicode MS"/>
              </a:rPr>
              <a:t>              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addresses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	-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192.168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.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10.10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/24 </a:t>
            </a:r>
            <a:r>
              <a:rPr kumimoji="0" lang="en-US" altLang="en-US" sz="1200" b="0" i="1" u="none" strike="noStrike" cap="none" normalizeH="0" baseline="0" dirty="0" smtClean="0">
                <a:ln>
                  <a:noFill/>
                </a:ln>
                <a:solidFill>
                  <a:srgbClr val="80868B"/>
                </a:solidFill>
                <a:effectLst/>
                <a:latin typeface="Arial Unicode MS"/>
              </a:rPr>
              <a:t># IP DNS Server 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0A0A0A"/>
                </a:solidFill>
                <a:latin typeface="Arial Unicode MS"/>
              </a:rPr>
              <a:t>	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-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192.168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.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10.15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/24 </a:t>
            </a:r>
            <a:r>
              <a:rPr kumimoji="0" lang="en-US" altLang="en-US" sz="1200" b="0" i="1" u="none" strike="noStrike" cap="none" normalizeH="0" baseline="0" dirty="0" smtClean="0">
                <a:ln>
                  <a:noFill/>
                </a:ln>
                <a:solidFill>
                  <a:srgbClr val="80868B"/>
                </a:solidFill>
                <a:effectLst/>
                <a:latin typeface="Arial Unicode MS"/>
              </a:rPr>
              <a:t># IP Web Server (Virtual IP)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i="1" dirty="0">
                <a:solidFill>
                  <a:srgbClr val="80868B"/>
                </a:solidFill>
                <a:latin typeface="Arial Unicode MS"/>
              </a:rPr>
              <a:t>	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-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192.168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.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10.21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/24 </a:t>
            </a:r>
            <a:r>
              <a:rPr kumimoji="0" lang="en-US" altLang="en-US" sz="1200" b="0" i="1" u="none" strike="noStrike" cap="none" normalizeH="0" baseline="0" dirty="0" smtClean="0">
                <a:ln>
                  <a:noFill/>
                </a:ln>
                <a:solidFill>
                  <a:srgbClr val="80868B"/>
                </a:solidFill>
                <a:effectLst/>
                <a:latin typeface="Arial Unicode MS"/>
              </a:rPr>
              <a:t># IP Mail Server (Virtual IP)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0A0A0A"/>
                </a:solidFill>
                <a:latin typeface="Arial Unicode MS"/>
              </a:rPr>
              <a:t> </a:t>
            </a:r>
            <a:r>
              <a:rPr lang="en-US" altLang="en-US" sz="1200" dirty="0" smtClean="0">
                <a:solidFill>
                  <a:srgbClr val="0A0A0A"/>
                </a:solidFill>
                <a:latin typeface="Arial Unicode MS"/>
              </a:rPr>
              <a:t>               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routes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0A0A0A"/>
                </a:solidFill>
                <a:latin typeface="Arial Unicode MS"/>
              </a:rPr>
              <a:t> </a:t>
            </a:r>
            <a:r>
              <a:rPr lang="en-US" altLang="en-US" sz="1200" dirty="0" smtClean="0">
                <a:solidFill>
                  <a:srgbClr val="0A0A0A"/>
                </a:solidFill>
                <a:latin typeface="Arial Unicode MS"/>
              </a:rPr>
              <a:t>                    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-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to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: default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0A0A0A"/>
                </a:solidFill>
                <a:latin typeface="Arial Unicode MS"/>
              </a:rPr>
              <a:t> </a:t>
            </a:r>
            <a:r>
              <a:rPr lang="en-US" altLang="en-US" sz="1200" dirty="0" smtClean="0">
                <a:solidFill>
                  <a:srgbClr val="0A0A0A"/>
                </a:solidFill>
                <a:latin typeface="Arial Unicode MS"/>
              </a:rPr>
              <a:t>                    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via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: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192.168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.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10.1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</a:t>
            </a:r>
            <a:r>
              <a:rPr kumimoji="0" lang="en-US" altLang="en-US" sz="1200" b="0" i="1" u="none" strike="noStrike" cap="none" normalizeH="0" baseline="0" dirty="0" smtClean="0">
                <a:ln>
                  <a:noFill/>
                </a:ln>
                <a:solidFill>
                  <a:srgbClr val="80868B"/>
                </a:solidFill>
                <a:effectLst/>
                <a:latin typeface="Arial Unicode MS"/>
              </a:rPr>
              <a:t># IP Router 1 (fa0/1)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i="1" dirty="0">
                <a:solidFill>
                  <a:srgbClr val="80868B"/>
                </a:solidFill>
                <a:latin typeface="Arial Unicode MS"/>
              </a:rPr>
              <a:t> </a:t>
            </a:r>
            <a:r>
              <a:rPr lang="en-US" altLang="en-US" sz="1200" i="1" dirty="0" smtClean="0">
                <a:solidFill>
                  <a:srgbClr val="80868B"/>
                </a:solidFill>
                <a:latin typeface="Arial Unicode MS"/>
              </a:rPr>
              <a:t>              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nameservers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0A0A0A"/>
                </a:solidFill>
                <a:latin typeface="Arial Unicode MS"/>
              </a:rPr>
              <a:t> </a:t>
            </a:r>
            <a:r>
              <a:rPr lang="en-US" altLang="en-US" sz="1200" dirty="0" smtClean="0">
                <a:solidFill>
                  <a:srgbClr val="0A0A0A"/>
                </a:solidFill>
                <a:latin typeface="Arial Unicode MS"/>
              </a:rPr>
              <a:t>                     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addresses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0A0A0A"/>
                </a:solidFill>
                <a:latin typeface="Arial Unicode MS"/>
              </a:rPr>
              <a:t> </a:t>
            </a:r>
            <a:r>
              <a:rPr lang="en-US" altLang="en-US" sz="1200" dirty="0" smtClean="0">
                <a:solidFill>
                  <a:srgbClr val="0A0A0A"/>
                </a:solidFill>
                <a:latin typeface="Arial Unicode MS"/>
              </a:rPr>
              <a:t>                           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- 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192.168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.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10.10</a:t>
            </a:r>
            <a:endParaRPr kumimoji="0" lang="en-US" alt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31240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91766" y="189763"/>
            <a:ext cx="4280234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smtClean="0"/>
              <a:t>5. </a:t>
            </a:r>
            <a:r>
              <a:rPr lang="en-US" sz="1400" b="1" dirty="0" err="1" smtClean="0"/>
              <a:t>Konfigurasi</a:t>
            </a:r>
            <a:r>
              <a:rPr lang="en-US" sz="1400" b="1" dirty="0" smtClean="0"/>
              <a:t> Routing </a:t>
            </a:r>
            <a:r>
              <a:rPr lang="en-US" sz="1400" b="1" dirty="0" err="1" smtClean="0"/>
              <a:t>Statis</a:t>
            </a:r>
            <a:r>
              <a:rPr lang="en-US" sz="1400" b="1" dirty="0" smtClean="0"/>
              <a:t> </a:t>
            </a:r>
          </a:p>
          <a:p>
            <a:pPr lvl="1" algn="just"/>
            <a:r>
              <a:rPr lang="en-US" sz="1400" dirty="0"/>
              <a:t>Agar Server A </a:t>
            </a:r>
            <a:r>
              <a:rPr lang="en-US" sz="1400" dirty="0" err="1"/>
              <a:t>dan</a:t>
            </a:r>
            <a:r>
              <a:rPr lang="en-US" sz="1400" dirty="0"/>
              <a:t> PC Client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saling</a:t>
            </a:r>
            <a:r>
              <a:rPr lang="en-US" sz="1400" dirty="0"/>
              <a:t> </a:t>
            </a:r>
            <a:r>
              <a:rPr lang="en-US" sz="1400" dirty="0" err="1"/>
              <a:t>berkomunikasi</a:t>
            </a:r>
            <a:r>
              <a:rPr lang="en-US" sz="1400" dirty="0"/>
              <a:t> </a:t>
            </a:r>
            <a:r>
              <a:rPr lang="en-US" sz="1400" dirty="0" err="1"/>
              <a:t>melewati</a:t>
            </a:r>
            <a:r>
              <a:rPr lang="en-US" sz="1400" dirty="0"/>
              <a:t> </a:t>
            </a:r>
            <a:r>
              <a:rPr lang="en-US" sz="1400" dirty="0" err="1"/>
              <a:t>dua</a:t>
            </a:r>
            <a:r>
              <a:rPr lang="en-US" sz="1400" dirty="0"/>
              <a:t> router, </a:t>
            </a:r>
            <a:r>
              <a:rPr lang="en-US" sz="1400" dirty="0" err="1"/>
              <a:t>kamu</a:t>
            </a:r>
            <a:r>
              <a:rPr lang="en-US" sz="1400" dirty="0"/>
              <a:t> </a:t>
            </a:r>
            <a:r>
              <a:rPr lang="en-US" sz="1400" dirty="0" err="1"/>
              <a:t>harus</a:t>
            </a:r>
            <a:r>
              <a:rPr lang="en-US" sz="1400" dirty="0"/>
              <a:t> </a:t>
            </a:r>
            <a:r>
              <a:rPr lang="en-US" sz="1400" dirty="0" err="1"/>
              <a:t>menambahkan</a:t>
            </a:r>
            <a:r>
              <a:rPr lang="en-US" sz="1400" dirty="0"/>
              <a:t> </a:t>
            </a:r>
            <a:r>
              <a:rPr lang="en-US" sz="1400" dirty="0" err="1"/>
              <a:t>rute</a:t>
            </a:r>
            <a:r>
              <a:rPr lang="en-US" sz="1400" dirty="0"/>
              <a:t> manual di </a:t>
            </a:r>
            <a:r>
              <a:rPr lang="en-US" sz="1400" dirty="0" err="1"/>
              <a:t>masing-masing</a:t>
            </a:r>
            <a:r>
              <a:rPr lang="en-US" sz="1400" dirty="0"/>
              <a:t> router. </a:t>
            </a:r>
          </a:p>
          <a:p>
            <a:pPr lvl="1" algn="just"/>
            <a:r>
              <a:rPr lang="en-US" sz="1400" dirty="0"/>
              <a:t>Di Router1 (</a:t>
            </a:r>
            <a:r>
              <a:rPr lang="en-US" sz="1400" dirty="0" err="1"/>
              <a:t>Menuju</a:t>
            </a:r>
            <a:r>
              <a:rPr lang="en-US" sz="1400" dirty="0"/>
              <a:t> PC Client):</a:t>
            </a:r>
          </a:p>
          <a:p>
            <a:pPr lvl="1" algn="just"/>
            <a:r>
              <a:rPr lang="en-US" sz="1400" dirty="0"/>
              <a:t>Router1 </a:t>
            </a:r>
            <a:r>
              <a:rPr lang="en-US" sz="1400" dirty="0" err="1"/>
              <a:t>perlu</a:t>
            </a:r>
            <a:r>
              <a:rPr lang="en-US" sz="1400" dirty="0"/>
              <a:t> </a:t>
            </a:r>
            <a:r>
              <a:rPr lang="en-US" sz="1400" dirty="0" err="1"/>
              <a:t>tahu</a:t>
            </a:r>
            <a:r>
              <a:rPr lang="en-US" sz="1400" dirty="0"/>
              <a:t> </a:t>
            </a:r>
            <a:r>
              <a:rPr lang="en-US" sz="1400" dirty="0" err="1"/>
              <a:t>jalur</a:t>
            </a:r>
            <a:r>
              <a:rPr lang="en-US" sz="1400" dirty="0"/>
              <a:t> </a:t>
            </a:r>
            <a:r>
              <a:rPr lang="en-US" sz="1400" dirty="0" err="1"/>
              <a:t>menuju</a:t>
            </a:r>
            <a:r>
              <a:rPr lang="en-US" sz="1400" dirty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 PC Client yang </a:t>
            </a:r>
            <a:r>
              <a:rPr lang="en-US" sz="1400" dirty="0" err="1"/>
              <a:t>berada</a:t>
            </a:r>
            <a:r>
              <a:rPr lang="en-US" sz="1400" dirty="0"/>
              <a:t> di </a:t>
            </a:r>
            <a:r>
              <a:rPr lang="en-US" sz="1400" dirty="0" err="1"/>
              <a:t>belakang</a:t>
            </a:r>
            <a:r>
              <a:rPr lang="en-US" sz="1400" dirty="0"/>
              <a:t> Router2</a:t>
            </a:r>
            <a:r>
              <a:rPr lang="en-US" sz="1400" dirty="0" smtClean="0"/>
              <a:t>.</a:t>
            </a:r>
          </a:p>
          <a:p>
            <a:pPr lvl="1" algn="just"/>
            <a:r>
              <a:rPr lang="en-US" sz="1400" dirty="0">
                <a:solidFill>
                  <a:srgbClr val="0070C0"/>
                </a:solidFill>
              </a:rPr>
              <a:t>Router1(</a:t>
            </a:r>
            <a:r>
              <a:rPr lang="en-US" sz="1400" dirty="0" err="1">
                <a:solidFill>
                  <a:srgbClr val="0070C0"/>
                </a:solidFill>
              </a:rPr>
              <a:t>config</a:t>
            </a:r>
            <a:r>
              <a:rPr lang="en-US" sz="1400" dirty="0">
                <a:solidFill>
                  <a:srgbClr val="0070C0"/>
                </a:solidFill>
              </a:rPr>
              <a:t>)# </a:t>
            </a:r>
            <a:r>
              <a:rPr lang="en-US" sz="1400" dirty="0" err="1">
                <a:solidFill>
                  <a:srgbClr val="0070C0"/>
                </a:solidFill>
              </a:rPr>
              <a:t>ip</a:t>
            </a:r>
            <a:r>
              <a:rPr lang="en-US" sz="1400" dirty="0">
                <a:solidFill>
                  <a:srgbClr val="0070C0"/>
                </a:solidFill>
              </a:rPr>
              <a:t> route [</a:t>
            </a:r>
            <a:r>
              <a:rPr lang="en-US" sz="1400" dirty="0" err="1">
                <a:solidFill>
                  <a:srgbClr val="0070C0"/>
                </a:solidFill>
              </a:rPr>
              <a:t>Network_PC_Client</a:t>
            </a:r>
            <a:r>
              <a:rPr lang="en-US" sz="1400" dirty="0">
                <a:solidFill>
                  <a:srgbClr val="0070C0"/>
                </a:solidFill>
              </a:rPr>
              <a:t>] [</a:t>
            </a:r>
            <a:r>
              <a:rPr lang="en-US" sz="1400" dirty="0" err="1">
                <a:solidFill>
                  <a:srgbClr val="0070C0"/>
                </a:solidFill>
              </a:rPr>
              <a:t>Netmask</a:t>
            </a:r>
            <a:r>
              <a:rPr lang="en-US" sz="1400" dirty="0">
                <a:solidFill>
                  <a:srgbClr val="0070C0"/>
                </a:solidFill>
              </a:rPr>
              <a:t>] </a:t>
            </a:r>
            <a:r>
              <a:rPr lang="en-US" sz="1400" dirty="0" smtClean="0">
                <a:solidFill>
                  <a:srgbClr val="0070C0"/>
                </a:solidFill>
              </a:rPr>
              <a:t>200.200.20.10</a:t>
            </a:r>
          </a:p>
          <a:p>
            <a:pPr lvl="1" algn="just"/>
            <a:endParaRPr lang="en-US" sz="1400" dirty="0">
              <a:solidFill>
                <a:srgbClr val="0070C0"/>
              </a:solidFill>
            </a:endParaRPr>
          </a:p>
          <a:p>
            <a:pPr lvl="1" algn="just"/>
            <a:r>
              <a:rPr lang="en-US" sz="1400" dirty="0" err="1" smtClean="0"/>
              <a:t>Jika</a:t>
            </a:r>
            <a:r>
              <a:rPr lang="en-US" sz="1400" dirty="0" smtClean="0"/>
              <a:t> </a:t>
            </a:r>
            <a:r>
              <a:rPr lang="en-US" sz="1400" dirty="0"/>
              <a:t>PC Client </a:t>
            </a:r>
            <a:r>
              <a:rPr lang="en-US" sz="1400" dirty="0" err="1"/>
              <a:t>menggunakan</a:t>
            </a:r>
            <a:r>
              <a:rPr lang="en-US" sz="1400" dirty="0"/>
              <a:t> network 192.168.20.0/24, </a:t>
            </a:r>
            <a:r>
              <a:rPr lang="en-US" sz="1400" dirty="0" err="1"/>
              <a:t>maka</a:t>
            </a:r>
            <a:r>
              <a:rPr lang="en-US" sz="1400" dirty="0"/>
              <a:t> </a:t>
            </a:r>
            <a:r>
              <a:rPr lang="en-US" sz="1400" dirty="0" err="1"/>
              <a:t>ganti</a:t>
            </a:r>
            <a:r>
              <a:rPr lang="en-US" sz="1400" dirty="0"/>
              <a:t> [</a:t>
            </a:r>
            <a:r>
              <a:rPr lang="en-US" sz="1400" dirty="0" err="1"/>
              <a:t>Network_PC_Client</a:t>
            </a:r>
            <a:r>
              <a:rPr lang="en-US" sz="1400" dirty="0"/>
              <a:t>] </a:t>
            </a:r>
            <a:r>
              <a:rPr lang="en-US" sz="1400" dirty="0" err="1"/>
              <a:t>dengan</a:t>
            </a:r>
            <a:r>
              <a:rPr lang="en-US" sz="1400" dirty="0"/>
              <a:t> 192.168.20.0)</a:t>
            </a:r>
          </a:p>
          <a:p>
            <a:pPr lvl="1" algn="just"/>
            <a:r>
              <a:rPr lang="en-US" sz="1400" dirty="0"/>
              <a:t>Di Router2 (</a:t>
            </a:r>
            <a:r>
              <a:rPr lang="en-US" sz="1400" dirty="0" err="1"/>
              <a:t>Menuju</a:t>
            </a:r>
            <a:r>
              <a:rPr lang="en-US" sz="1400" dirty="0"/>
              <a:t> Server A):</a:t>
            </a:r>
          </a:p>
          <a:p>
            <a:pPr lvl="1" algn="just"/>
            <a:r>
              <a:rPr lang="en-US" sz="1400" dirty="0"/>
              <a:t>Router2 </a:t>
            </a:r>
            <a:r>
              <a:rPr lang="en-US" sz="1400" dirty="0" err="1"/>
              <a:t>perlu</a:t>
            </a:r>
            <a:r>
              <a:rPr lang="en-US" sz="1400" dirty="0"/>
              <a:t> </a:t>
            </a:r>
            <a:r>
              <a:rPr lang="en-US" sz="1400" dirty="0" err="1"/>
              <a:t>tahu</a:t>
            </a:r>
            <a:r>
              <a:rPr lang="en-US" sz="1400" dirty="0"/>
              <a:t> </a:t>
            </a:r>
            <a:r>
              <a:rPr lang="en-US" sz="1400" dirty="0" err="1"/>
              <a:t>jalur</a:t>
            </a:r>
            <a:r>
              <a:rPr lang="en-US" sz="1400" dirty="0"/>
              <a:t> </a:t>
            </a:r>
            <a:r>
              <a:rPr lang="en-US" sz="1400" dirty="0" err="1"/>
              <a:t>balik</a:t>
            </a:r>
            <a:r>
              <a:rPr lang="en-US" sz="1400" dirty="0"/>
              <a:t> </a:t>
            </a:r>
            <a:r>
              <a:rPr lang="en-US" sz="1400" dirty="0" err="1"/>
              <a:t>menuju</a:t>
            </a:r>
            <a:r>
              <a:rPr lang="en-US" sz="1400" dirty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 Server A yang </a:t>
            </a:r>
            <a:r>
              <a:rPr lang="en-US" sz="1400" dirty="0" err="1"/>
              <a:t>berada</a:t>
            </a:r>
            <a:r>
              <a:rPr lang="en-US" sz="1400" dirty="0"/>
              <a:t> di </a:t>
            </a:r>
            <a:r>
              <a:rPr lang="en-US" sz="1400" dirty="0" err="1"/>
              <a:t>belakang</a:t>
            </a:r>
            <a:r>
              <a:rPr lang="en-US" sz="1400" dirty="0"/>
              <a:t> Router1. </a:t>
            </a:r>
          </a:p>
          <a:p>
            <a:pPr lvl="1" algn="just"/>
            <a:r>
              <a:rPr lang="fr-FR" sz="1400" dirty="0">
                <a:solidFill>
                  <a:srgbClr val="0070C0"/>
                </a:solidFill>
              </a:rPr>
              <a:t>Router2(config)# </a:t>
            </a:r>
            <a:r>
              <a:rPr lang="fr-FR" sz="1400" dirty="0" err="1">
                <a:solidFill>
                  <a:srgbClr val="0070C0"/>
                </a:solidFill>
              </a:rPr>
              <a:t>ip</a:t>
            </a:r>
            <a:r>
              <a:rPr lang="fr-FR" sz="1400" dirty="0">
                <a:solidFill>
                  <a:srgbClr val="0070C0"/>
                </a:solidFill>
              </a:rPr>
              <a:t> route 192.168.10.0 255.255.255.0 200.200.20.4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0" y="189763"/>
            <a:ext cx="428023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smtClean="0"/>
              <a:t>6. </a:t>
            </a:r>
            <a:r>
              <a:rPr lang="en-US" sz="1400" b="1" dirty="0" err="1" smtClean="0"/>
              <a:t>Konfigurasi</a:t>
            </a:r>
            <a:r>
              <a:rPr lang="en-US" sz="1400" b="1" dirty="0" smtClean="0"/>
              <a:t> </a:t>
            </a:r>
            <a:r>
              <a:rPr lang="en-US" sz="1400" b="1" dirty="0"/>
              <a:t>DNS (Bind9</a:t>
            </a:r>
            <a:r>
              <a:rPr lang="en-US" sz="1400" b="1" dirty="0" smtClean="0"/>
              <a:t>)</a:t>
            </a:r>
          </a:p>
          <a:p>
            <a:pPr lvl="1" algn="just"/>
            <a:r>
              <a:rPr lang="en-US" sz="1400" dirty="0" err="1" smtClean="0">
                <a:solidFill>
                  <a:srgbClr val="0070C0"/>
                </a:solidFill>
              </a:rPr>
              <a:t>sudo</a:t>
            </a:r>
            <a:r>
              <a:rPr lang="en-US" sz="1400" dirty="0" smtClean="0">
                <a:solidFill>
                  <a:srgbClr val="0070C0"/>
                </a:solidFill>
              </a:rPr>
              <a:t> </a:t>
            </a:r>
            <a:r>
              <a:rPr lang="en-US" sz="1400" dirty="0">
                <a:solidFill>
                  <a:srgbClr val="0070C0"/>
                </a:solidFill>
              </a:rPr>
              <a:t>apt install bind9</a:t>
            </a:r>
          </a:p>
          <a:p>
            <a:pPr lvl="1" algn="just"/>
            <a:endParaRPr lang="fr-FR" sz="1400" dirty="0" smtClean="0">
              <a:solidFill>
                <a:srgbClr val="0070C0"/>
              </a:solidFill>
            </a:endParaRPr>
          </a:p>
          <a:p>
            <a:pPr lvl="1" algn="just"/>
            <a:r>
              <a:rPr lang="fr-FR" sz="1400" dirty="0" smtClean="0"/>
              <a:t>/</a:t>
            </a:r>
            <a:r>
              <a:rPr lang="fr-FR" sz="1400" dirty="0" err="1" smtClean="0"/>
              <a:t>etc</a:t>
            </a:r>
            <a:r>
              <a:rPr lang="fr-FR" sz="1400" dirty="0" smtClean="0"/>
              <a:t>/</a:t>
            </a:r>
            <a:r>
              <a:rPr lang="fr-FR" sz="1400" dirty="0" err="1" smtClean="0"/>
              <a:t>bind</a:t>
            </a:r>
            <a:r>
              <a:rPr lang="fr-FR" sz="1400" dirty="0" smtClean="0"/>
              <a:t>/</a:t>
            </a:r>
            <a:r>
              <a:rPr lang="fr-FR" sz="1400" dirty="0" err="1" smtClean="0"/>
              <a:t>named.conf.local</a:t>
            </a:r>
            <a:r>
              <a:rPr lang="fr-FR" sz="1400" dirty="0" smtClean="0"/>
              <a:t>:</a:t>
            </a:r>
          </a:p>
          <a:p>
            <a:pPr lvl="1" algn="just"/>
            <a:r>
              <a:rPr lang="fr-FR" sz="1400" dirty="0">
                <a:solidFill>
                  <a:srgbClr val="0070C0"/>
                </a:solidFill>
              </a:rPr>
              <a:t>zone "verdy.co.id" {</a:t>
            </a:r>
          </a:p>
          <a:p>
            <a:pPr lvl="1" algn="just"/>
            <a:r>
              <a:rPr lang="fr-FR" sz="1400" dirty="0">
                <a:solidFill>
                  <a:srgbClr val="0070C0"/>
                </a:solidFill>
              </a:rPr>
              <a:t>    type master;</a:t>
            </a:r>
          </a:p>
          <a:p>
            <a:pPr lvl="1" algn="just"/>
            <a:r>
              <a:rPr lang="fr-FR" sz="1400" dirty="0">
                <a:solidFill>
                  <a:srgbClr val="0070C0"/>
                </a:solidFill>
              </a:rPr>
              <a:t>    file "/</a:t>
            </a:r>
            <a:r>
              <a:rPr lang="fr-FR" sz="1400" dirty="0" err="1">
                <a:solidFill>
                  <a:srgbClr val="0070C0"/>
                </a:solidFill>
              </a:rPr>
              <a:t>etc</a:t>
            </a:r>
            <a:r>
              <a:rPr lang="fr-FR" sz="1400" dirty="0">
                <a:solidFill>
                  <a:srgbClr val="0070C0"/>
                </a:solidFill>
              </a:rPr>
              <a:t>/</a:t>
            </a:r>
            <a:r>
              <a:rPr lang="fr-FR" sz="1400" dirty="0" err="1">
                <a:solidFill>
                  <a:srgbClr val="0070C0"/>
                </a:solidFill>
              </a:rPr>
              <a:t>bind</a:t>
            </a:r>
            <a:r>
              <a:rPr lang="fr-FR" sz="1400" dirty="0">
                <a:solidFill>
                  <a:srgbClr val="0070C0"/>
                </a:solidFill>
              </a:rPr>
              <a:t>/</a:t>
            </a:r>
            <a:r>
              <a:rPr lang="fr-FR" sz="1400" dirty="0" err="1">
                <a:solidFill>
                  <a:srgbClr val="0070C0"/>
                </a:solidFill>
              </a:rPr>
              <a:t>db.verdy</a:t>
            </a:r>
            <a:r>
              <a:rPr lang="fr-FR" sz="1400" dirty="0">
                <a:solidFill>
                  <a:srgbClr val="0070C0"/>
                </a:solidFill>
              </a:rPr>
              <a:t>";</a:t>
            </a:r>
          </a:p>
          <a:p>
            <a:pPr lvl="1" algn="just"/>
            <a:r>
              <a:rPr lang="fr-FR" sz="1400" dirty="0">
                <a:solidFill>
                  <a:srgbClr val="0070C0"/>
                </a:solidFill>
              </a:rPr>
              <a:t>};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863766" y="2063014"/>
            <a:ext cx="428023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/>
              <a:t>/</a:t>
            </a:r>
            <a:r>
              <a:rPr lang="en-US" sz="1400" b="1" dirty="0" err="1" smtClean="0"/>
              <a:t>etc</a:t>
            </a:r>
            <a:r>
              <a:rPr lang="en-US" sz="1400" b="1" dirty="0" smtClean="0"/>
              <a:t>/bind/</a:t>
            </a:r>
            <a:r>
              <a:rPr lang="en-US" sz="1400" b="1" dirty="0" err="1" smtClean="0"/>
              <a:t>db.verdy</a:t>
            </a:r>
            <a:r>
              <a:rPr lang="en-US" sz="1400" b="1" dirty="0" smtClean="0"/>
              <a:t>:</a:t>
            </a:r>
            <a:endParaRPr lang="en-US" sz="1100" b="1" dirty="0" smtClean="0"/>
          </a:p>
          <a:p>
            <a:pPr algn="just"/>
            <a:r>
              <a:rPr lang="en-US" sz="1100" dirty="0">
                <a:solidFill>
                  <a:srgbClr val="0070C0"/>
                </a:solidFill>
              </a:rPr>
              <a:t>@       IN      SOA     ns1.verdy.co.id. admin.verdy.co.id. ( ... </a:t>
            </a:r>
            <a:r>
              <a:rPr lang="en-US" sz="1100" dirty="0" smtClean="0">
                <a:solidFill>
                  <a:srgbClr val="0070C0"/>
                </a:solidFill>
              </a:rPr>
              <a:t>)</a:t>
            </a:r>
          </a:p>
          <a:p>
            <a:pPr algn="just"/>
            <a:r>
              <a:rPr lang="en-US" sz="1100" dirty="0" smtClean="0">
                <a:solidFill>
                  <a:srgbClr val="0070C0"/>
                </a:solidFill>
              </a:rPr>
              <a:t>@       </a:t>
            </a:r>
            <a:r>
              <a:rPr lang="en-US" sz="1100" dirty="0">
                <a:solidFill>
                  <a:srgbClr val="0070C0"/>
                </a:solidFill>
              </a:rPr>
              <a:t>IN      NS      ns1.verdy.co.id</a:t>
            </a:r>
            <a:r>
              <a:rPr lang="en-US" sz="1100" dirty="0" smtClean="0">
                <a:solidFill>
                  <a:srgbClr val="0070C0"/>
                </a:solidFill>
              </a:rPr>
              <a:t>.</a:t>
            </a:r>
          </a:p>
          <a:p>
            <a:pPr algn="just"/>
            <a:r>
              <a:rPr lang="en-US" sz="1100" dirty="0" smtClean="0">
                <a:solidFill>
                  <a:srgbClr val="0070C0"/>
                </a:solidFill>
              </a:rPr>
              <a:t>ns1     </a:t>
            </a:r>
            <a:r>
              <a:rPr lang="en-US" sz="1100" dirty="0">
                <a:solidFill>
                  <a:srgbClr val="0070C0"/>
                </a:solidFill>
              </a:rPr>
              <a:t>IN      A       </a:t>
            </a:r>
            <a:r>
              <a:rPr lang="en-US" sz="1100" dirty="0" smtClean="0">
                <a:solidFill>
                  <a:srgbClr val="0070C0"/>
                </a:solidFill>
              </a:rPr>
              <a:t>192.168.10.10</a:t>
            </a:r>
          </a:p>
          <a:p>
            <a:pPr algn="just"/>
            <a:r>
              <a:rPr lang="en-US" sz="1100" dirty="0" smtClean="0">
                <a:solidFill>
                  <a:srgbClr val="0070C0"/>
                </a:solidFill>
              </a:rPr>
              <a:t>@       </a:t>
            </a:r>
            <a:r>
              <a:rPr lang="en-US" sz="1100" dirty="0">
                <a:solidFill>
                  <a:srgbClr val="0070C0"/>
                </a:solidFill>
              </a:rPr>
              <a:t>IN      A       192.168.10.15 ; Web </a:t>
            </a:r>
            <a:r>
              <a:rPr lang="en-US" sz="1100" dirty="0" smtClean="0">
                <a:solidFill>
                  <a:srgbClr val="0070C0"/>
                </a:solidFill>
              </a:rPr>
              <a:t>Server</a:t>
            </a:r>
          </a:p>
          <a:p>
            <a:pPr algn="just"/>
            <a:r>
              <a:rPr lang="en-US" sz="1100" dirty="0" smtClean="0">
                <a:solidFill>
                  <a:srgbClr val="0070C0"/>
                </a:solidFill>
              </a:rPr>
              <a:t>mail    </a:t>
            </a:r>
            <a:r>
              <a:rPr lang="en-US" sz="1100" dirty="0">
                <a:solidFill>
                  <a:srgbClr val="0070C0"/>
                </a:solidFill>
              </a:rPr>
              <a:t>IN      A       192.168.10.21 ; Mail Server </a:t>
            </a:r>
            <a:r>
              <a:rPr lang="en-US" sz="1100" dirty="0" smtClean="0">
                <a:solidFill>
                  <a:srgbClr val="0070C0"/>
                </a:solidFill>
              </a:rPr>
              <a:t>IP</a:t>
            </a:r>
          </a:p>
          <a:p>
            <a:pPr algn="just"/>
            <a:r>
              <a:rPr lang="en-US" sz="1100" dirty="0" smtClean="0">
                <a:solidFill>
                  <a:srgbClr val="0070C0"/>
                </a:solidFill>
              </a:rPr>
              <a:t>@       </a:t>
            </a:r>
            <a:r>
              <a:rPr lang="en-US" sz="1100" dirty="0">
                <a:solidFill>
                  <a:srgbClr val="0070C0"/>
                </a:solidFill>
              </a:rPr>
              <a:t>IN      MX  10  mail.verdy.co.id.</a:t>
            </a:r>
          </a:p>
        </p:txBody>
      </p:sp>
    </p:spTree>
    <p:extLst>
      <p:ext uri="{BB962C8B-B14F-4D97-AF65-F5344CB8AC3E}">
        <p14:creationId xmlns:p14="http://schemas.microsoft.com/office/powerpoint/2010/main" val="3544376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91766" y="189763"/>
            <a:ext cx="428023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/>
              <a:t>7. </a:t>
            </a:r>
            <a:r>
              <a:rPr lang="en-US" b="1" dirty="0" err="1" smtClean="0"/>
              <a:t>Instalasi</a:t>
            </a:r>
            <a:r>
              <a:rPr lang="en-US" b="1" dirty="0" smtClean="0"/>
              <a:t> </a:t>
            </a:r>
            <a:r>
              <a:rPr lang="en-US" b="1" dirty="0"/>
              <a:t>Mail Server (Postfix &amp; Dovecot</a:t>
            </a:r>
            <a:r>
              <a:rPr lang="en-US" b="1" dirty="0" smtClean="0"/>
              <a:t>)</a:t>
            </a:r>
          </a:p>
          <a:p>
            <a:pPr algn="just"/>
            <a:r>
              <a:rPr lang="en-US" sz="1400" dirty="0" smtClean="0"/>
              <a:t>      Mail </a:t>
            </a:r>
            <a:r>
              <a:rPr lang="en-US" sz="1400" dirty="0"/>
              <a:t>server </a:t>
            </a:r>
            <a:r>
              <a:rPr lang="en-US" sz="1400" dirty="0" err="1"/>
              <a:t>menggunakan</a:t>
            </a:r>
            <a:r>
              <a:rPr lang="en-US" sz="1400" dirty="0"/>
              <a:t> Postfix (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mengirim</a:t>
            </a:r>
            <a:r>
              <a:rPr lang="en-US" sz="1400" dirty="0"/>
              <a:t> </a:t>
            </a:r>
            <a:r>
              <a:rPr lang="en-US" sz="1400" dirty="0" smtClean="0"/>
              <a:t> email/SMTP</a:t>
            </a:r>
            <a:r>
              <a:rPr lang="en-US" sz="1400" dirty="0"/>
              <a:t>) </a:t>
            </a:r>
            <a:r>
              <a:rPr lang="en-US" sz="1400" dirty="0" err="1"/>
              <a:t>dan</a:t>
            </a:r>
            <a:r>
              <a:rPr lang="en-US" sz="1400" dirty="0"/>
              <a:t> Dovecot (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menerima</a:t>
            </a:r>
            <a:r>
              <a:rPr lang="en-US" sz="1400" dirty="0"/>
              <a:t>/IMAP/POP3</a:t>
            </a:r>
            <a:r>
              <a:rPr lang="en-US" sz="1400" dirty="0" smtClean="0"/>
              <a:t>)</a:t>
            </a:r>
          </a:p>
          <a:p>
            <a:pPr algn="just"/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sudo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apt install postfix dovecot-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imapd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dovecot-pop3d</a:t>
            </a:r>
          </a:p>
          <a:p>
            <a:pPr algn="just"/>
            <a:endParaRPr lang="en-US" sz="1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en-US" sz="1400" dirty="0" err="1"/>
              <a:t>Konfigurasi</a:t>
            </a:r>
            <a:r>
              <a:rPr lang="en-US" sz="1400" dirty="0"/>
              <a:t> </a:t>
            </a:r>
            <a:r>
              <a:rPr lang="en-US" sz="1400" dirty="0" err="1"/>
              <a:t>Dasar</a:t>
            </a:r>
            <a:r>
              <a:rPr lang="en-US" sz="1400" dirty="0"/>
              <a:t> Postfix (/</a:t>
            </a:r>
            <a:r>
              <a:rPr lang="en-US" sz="1400" dirty="0" err="1"/>
              <a:t>etc</a:t>
            </a:r>
            <a:r>
              <a:rPr lang="en-US" sz="1400" dirty="0"/>
              <a:t>/postfix/main.cf):</a:t>
            </a:r>
          </a:p>
          <a:p>
            <a:pPr algn="just"/>
            <a:r>
              <a:rPr lang="en-US" sz="1400" dirty="0" err="1"/>
              <a:t>Pastikan</a:t>
            </a:r>
            <a:r>
              <a:rPr lang="en-US" sz="1400" dirty="0"/>
              <a:t> </a:t>
            </a:r>
            <a:r>
              <a:rPr lang="en-US" sz="1400" dirty="0" err="1"/>
              <a:t>variabel</a:t>
            </a:r>
            <a:r>
              <a:rPr lang="en-US" sz="1400" dirty="0"/>
              <a:t> </a:t>
            </a:r>
            <a:r>
              <a:rPr lang="en-US" sz="1400" dirty="0" err="1"/>
              <a:t>berikut</a:t>
            </a:r>
            <a:r>
              <a:rPr lang="en-US" sz="1400" dirty="0"/>
              <a:t> </a:t>
            </a:r>
            <a:r>
              <a:rPr lang="en-US" sz="1400" dirty="0" err="1"/>
              <a:t>diatur</a:t>
            </a:r>
            <a:r>
              <a:rPr lang="en-US" sz="1400" dirty="0"/>
              <a:t>: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myhostname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= mail.verdy.co.id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mydestination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= verdy.co.id, mail.verdy.co.id, localhost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home_mailbox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Maildir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/</a:t>
            </a:r>
          </a:p>
          <a:p>
            <a:pPr algn="just"/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en-US" sz="1400" dirty="0" err="1"/>
              <a:t>Konfigurasi</a:t>
            </a:r>
            <a:r>
              <a:rPr lang="en-US" sz="1400" dirty="0"/>
              <a:t> Dovecot (/</a:t>
            </a:r>
            <a:r>
              <a:rPr lang="en-US" sz="1400" dirty="0" err="1"/>
              <a:t>etc</a:t>
            </a:r>
            <a:r>
              <a:rPr lang="en-US" sz="1400" dirty="0"/>
              <a:t>/dovecot/</a:t>
            </a:r>
            <a:r>
              <a:rPr lang="en-US" sz="1400" dirty="0" err="1"/>
              <a:t>conf.d</a:t>
            </a:r>
            <a:r>
              <a:rPr lang="en-US" sz="1400" dirty="0"/>
              <a:t>/10-mail.conf):</a:t>
            </a:r>
          </a:p>
          <a:p>
            <a:pPr algn="just"/>
            <a:r>
              <a:rPr lang="en-US" sz="1400" dirty="0" err="1"/>
              <a:t>Ubah</a:t>
            </a:r>
            <a:r>
              <a:rPr lang="en-US" sz="1400" dirty="0"/>
              <a:t> </a:t>
            </a:r>
            <a:r>
              <a:rPr lang="en-US" sz="1400" dirty="0" err="1"/>
              <a:t>lokasi</a:t>
            </a:r>
            <a:r>
              <a:rPr lang="en-US" sz="1400" dirty="0"/>
              <a:t> </a:t>
            </a:r>
            <a:r>
              <a:rPr lang="en-US" sz="1400" dirty="0" err="1"/>
              <a:t>penyimpanan</a:t>
            </a:r>
            <a:r>
              <a:rPr lang="en-US" sz="1400" dirty="0"/>
              <a:t> email agar </a:t>
            </a:r>
            <a:r>
              <a:rPr lang="en-US" sz="1400" dirty="0" err="1"/>
              <a:t>sesuai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Postfix:</a:t>
            </a:r>
          </a:p>
          <a:p>
            <a:pPr algn="just"/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mail_location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=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maildir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:~/</a:t>
            </a:r>
            <a:r>
              <a:rPr lang="en-US" sz="1400" dirty="0" err="1" smtClean="0">
                <a:solidFill>
                  <a:schemeClr val="accent1">
                    <a:lumMod val="75000"/>
                  </a:schemeClr>
                </a:solidFill>
              </a:rPr>
              <a:t>Maildir</a:t>
            </a:r>
            <a:endParaRPr lang="en-US" sz="1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sudo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systemctl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restart bind9 postfix dovecot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89762"/>
            <a:ext cx="4280234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err="1"/>
              <a:t>Verifikasi</a:t>
            </a:r>
            <a:r>
              <a:rPr lang="en-US" b="1" dirty="0"/>
              <a:t> </a:t>
            </a:r>
            <a:r>
              <a:rPr lang="en-US" b="1" dirty="0" err="1"/>
              <a:t>Akhir</a:t>
            </a:r>
            <a:endParaRPr lang="en-US" b="1" dirty="0"/>
          </a:p>
          <a:p>
            <a:pPr marL="342900" indent="-342900" algn="just">
              <a:buFont typeface="+mj-lt"/>
              <a:buAutoNum type="alphaLcParenR"/>
            </a:pPr>
            <a:r>
              <a:rPr lang="en-US" sz="1400" dirty="0"/>
              <a:t>Ping: </a:t>
            </a:r>
            <a:r>
              <a:rPr lang="en-US" sz="1400" dirty="0" err="1"/>
              <a:t>Lakukan</a:t>
            </a:r>
            <a:r>
              <a:rPr lang="en-US" sz="1400" dirty="0"/>
              <a:t> ping 192.168.10.21 </a:t>
            </a:r>
            <a:r>
              <a:rPr lang="en-US" sz="1400" dirty="0" err="1"/>
              <a:t>dari</a:t>
            </a:r>
            <a:r>
              <a:rPr lang="en-US" sz="1400" dirty="0"/>
              <a:t> PC Client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cek</a:t>
            </a:r>
            <a:r>
              <a:rPr lang="en-US" sz="1400" dirty="0"/>
              <a:t> routing.</a:t>
            </a:r>
          </a:p>
          <a:p>
            <a:pPr marL="342900" indent="-342900" algn="just">
              <a:buFont typeface="+mj-lt"/>
              <a:buAutoNum type="alphaLcParenR"/>
            </a:pPr>
            <a:r>
              <a:rPr lang="en-US" sz="1400" dirty="0" err="1"/>
              <a:t>NSLookup</a:t>
            </a:r>
            <a:r>
              <a:rPr lang="en-US" sz="1400" dirty="0"/>
              <a:t>: </a:t>
            </a:r>
            <a:r>
              <a:rPr lang="en-US" sz="1400" dirty="0" err="1"/>
              <a:t>Jalankan</a:t>
            </a:r>
            <a:r>
              <a:rPr lang="en-US" sz="1400" dirty="0"/>
              <a:t> </a:t>
            </a:r>
            <a:r>
              <a:rPr lang="en-US" sz="1400" dirty="0" err="1"/>
              <a:t>nslookup</a:t>
            </a:r>
            <a:r>
              <a:rPr lang="en-US" sz="1400" dirty="0"/>
              <a:t> mail.verdy.co.id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memastikan</a:t>
            </a:r>
            <a:r>
              <a:rPr lang="en-US" sz="1400" dirty="0"/>
              <a:t> DNS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aktif</a:t>
            </a:r>
            <a:r>
              <a:rPr lang="en-US" sz="1400" dirty="0"/>
              <a:t>.</a:t>
            </a:r>
          </a:p>
          <a:p>
            <a:pPr marL="342900" indent="-342900" algn="just">
              <a:buFont typeface="+mj-lt"/>
              <a:buAutoNum type="alphaLcParenR"/>
            </a:pPr>
            <a:r>
              <a:rPr lang="en-US" sz="1400" dirty="0"/>
              <a:t>Telnet: </a:t>
            </a:r>
            <a:r>
              <a:rPr lang="en-US" sz="1400" dirty="0" err="1"/>
              <a:t>Coba</a:t>
            </a:r>
            <a:r>
              <a:rPr lang="en-US" sz="1400" dirty="0"/>
              <a:t> telnet 192.168.10.21 25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mengetes</a:t>
            </a:r>
            <a:r>
              <a:rPr lang="en-US" sz="1400" dirty="0"/>
              <a:t> </a:t>
            </a:r>
            <a:r>
              <a:rPr lang="en-US" sz="1400" dirty="0" err="1"/>
              <a:t>apakah</a:t>
            </a:r>
            <a:r>
              <a:rPr lang="en-US" sz="1400" dirty="0"/>
              <a:t> port SMTP (25)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terbuka</a:t>
            </a:r>
            <a:r>
              <a:rPr lang="en-US" sz="1400" dirty="0"/>
              <a:t>. 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921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91766" y="189763"/>
            <a:ext cx="428023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/>
              <a:t>8. </a:t>
            </a:r>
            <a:r>
              <a:rPr lang="en-US" b="1" dirty="0" err="1" smtClean="0"/>
              <a:t>Konfigurasi</a:t>
            </a:r>
            <a:r>
              <a:rPr lang="en-US" b="1" dirty="0" smtClean="0"/>
              <a:t> </a:t>
            </a:r>
            <a:r>
              <a:rPr lang="en-US" b="1" dirty="0"/>
              <a:t>Web Server (Apache)</a:t>
            </a:r>
          </a:p>
          <a:p>
            <a:pPr algn="just"/>
            <a:r>
              <a:rPr lang="en-US" sz="1400" dirty="0" err="1"/>
              <a:t>Sesuai</a:t>
            </a:r>
            <a:r>
              <a:rPr lang="en-US" sz="1400" dirty="0"/>
              <a:t> </a:t>
            </a:r>
            <a:r>
              <a:rPr lang="en-US" sz="1400" dirty="0" err="1"/>
              <a:t>topologi</a:t>
            </a:r>
            <a:r>
              <a:rPr lang="en-US" sz="1400" dirty="0"/>
              <a:t>, Web Server </a:t>
            </a:r>
            <a:r>
              <a:rPr lang="en-US" sz="1400" dirty="0" err="1"/>
              <a:t>kamu</a:t>
            </a:r>
            <a:r>
              <a:rPr lang="en-US" sz="1400" dirty="0"/>
              <a:t> </a:t>
            </a:r>
            <a:r>
              <a:rPr lang="en-US" sz="1400" dirty="0" err="1"/>
              <a:t>berada</a:t>
            </a:r>
            <a:r>
              <a:rPr lang="en-US" sz="1400" dirty="0"/>
              <a:t> di IP 192.168.10.15 </a:t>
            </a:r>
            <a:r>
              <a:rPr lang="en-US" sz="1400" dirty="0" err="1"/>
              <a:t>dengan</a:t>
            </a:r>
            <a:r>
              <a:rPr lang="en-US" sz="1400" dirty="0"/>
              <a:t> domain verdy.co.id</a:t>
            </a:r>
            <a:r>
              <a:rPr lang="en-US" sz="1400" dirty="0" smtClean="0"/>
              <a:t>.</a:t>
            </a:r>
          </a:p>
          <a:p>
            <a:pPr algn="just"/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sudo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apt 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update</a:t>
            </a:r>
          </a:p>
          <a:p>
            <a:pPr algn="just"/>
            <a:r>
              <a:rPr lang="en-US" sz="1400" dirty="0" err="1" smtClean="0">
                <a:solidFill>
                  <a:schemeClr val="accent1">
                    <a:lumMod val="75000"/>
                  </a:schemeClr>
                </a:solidFill>
              </a:rPr>
              <a:t>sudo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apt install 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apache2</a:t>
            </a:r>
          </a:p>
          <a:p>
            <a:pPr algn="just"/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en-US" b="1" dirty="0" err="1"/>
              <a:t>Membuat</a:t>
            </a:r>
            <a:r>
              <a:rPr lang="en-US" b="1" dirty="0"/>
              <a:t> </a:t>
            </a:r>
            <a:r>
              <a:rPr lang="en-US" b="1" dirty="0" err="1"/>
              <a:t>Halaman</a:t>
            </a:r>
            <a:r>
              <a:rPr lang="en-US" b="1" dirty="0"/>
              <a:t> Web </a:t>
            </a:r>
            <a:r>
              <a:rPr lang="en-US" b="1" dirty="0" err="1" smtClean="0"/>
              <a:t>Sederhana</a:t>
            </a:r>
            <a:endParaRPr lang="en-US" b="1" dirty="0" smtClean="0"/>
          </a:p>
          <a:p>
            <a:pPr algn="just"/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sudo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nano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/</a:t>
            </a:r>
            <a:r>
              <a:rPr lang="en-US" sz="1400" dirty="0" err="1" smtClean="0">
                <a:solidFill>
                  <a:schemeClr val="accent1">
                    <a:lumMod val="75000"/>
                  </a:schemeClr>
                </a:solidFill>
              </a:rPr>
              <a:t>var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/www/html/index.html</a:t>
            </a:r>
          </a:p>
          <a:p>
            <a:pPr algn="just"/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en-US" sz="1400" dirty="0"/>
              <a:t>Isi </a:t>
            </a:r>
            <a:r>
              <a:rPr lang="en-US" sz="1400" dirty="0" err="1"/>
              <a:t>dengan</a:t>
            </a:r>
            <a:r>
              <a:rPr lang="en-US" sz="1400" dirty="0"/>
              <a:t>: &lt;h1&gt;</a:t>
            </a:r>
            <a:r>
              <a:rPr lang="en-US" sz="1400" dirty="0" err="1"/>
              <a:t>Selamat</a:t>
            </a:r>
            <a:r>
              <a:rPr lang="en-US" sz="1400" dirty="0"/>
              <a:t> </a:t>
            </a:r>
            <a:r>
              <a:rPr lang="en-US" sz="1400" dirty="0" err="1"/>
              <a:t>Datang</a:t>
            </a:r>
            <a:r>
              <a:rPr lang="en-US" sz="1400" dirty="0"/>
              <a:t> di Web Server verdy.co.id&lt;/h1</a:t>
            </a:r>
            <a:r>
              <a:rPr lang="en-US" sz="1400" dirty="0" smtClean="0"/>
              <a:t>&gt;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 err="1"/>
              <a:t>Konfigurasi</a:t>
            </a:r>
            <a:r>
              <a:rPr lang="en-US" sz="1400" dirty="0"/>
              <a:t> Virtual Host:</a:t>
            </a:r>
          </a:p>
          <a:p>
            <a:pPr algn="just"/>
            <a:r>
              <a:rPr lang="en-US" sz="1400" dirty="0"/>
              <a:t>Edit file default agar </a:t>
            </a:r>
            <a:r>
              <a:rPr lang="en-US" sz="1400" dirty="0" err="1"/>
              <a:t>mengenali</a:t>
            </a:r>
            <a:r>
              <a:rPr lang="en-US" sz="1400" dirty="0"/>
              <a:t> domain</a:t>
            </a:r>
            <a:r>
              <a:rPr lang="en-US" sz="1400" dirty="0" smtClean="0"/>
              <a:t>:</a:t>
            </a:r>
          </a:p>
          <a:p>
            <a:pPr algn="just"/>
            <a:r>
              <a:rPr lang="en-US" sz="1400" dirty="0" err="1">
                <a:solidFill>
                  <a:srgbClr val="0070C0"/>
                </a:solidFill>
              </a:rPr>
              <a:t>sudo</a:t>
            </a:r>
            <a:r>
              <a:rPr lang="en-US" sz="1400" dirty="0">
                <a:solidFill>
                  <a:srgbClr val="0070C0"/>
                </a:solidFill>
              </a:rPr>
              <a:t> </a:t>
            </a:r>
            <a:r>
              <a:rPr lang="en-US" sz="1400" dirty="0" err="1">
                <a:solidFill>
                  <a:srgbClr val="0070C0"/>
                </a:solidFill>
              </a:rPr>
              <a:t>nano</a:t>
            </a:r>
            <a:r>
              <a:rPr lang="en-US" sz="1400" dirty="0">
                <a:solidFill>
                  <a:srgbClr val="0070C0"/>
                </a:solidFill>
              </a:rPr>
              <a:t> /</a:t>
            </a:r>
            <a:r>
              <a:rPr lang="en-US" sz="1400" dirty="0" err="1" smtClean="0">
                <a:solidFill>
                  <a:srgbClr val="0070C0"/>
                </a:solidFill>
              </a:rPr>
              <a:t>etc</a:t>
            </a:r>
            <a:r>
              <a:rPr lang="en-US" sz="1400" dirty="0" smtClean="0">
                <a:solidFill>
                  <a:srgbClr val="0070C0"/>
                </a:solidFill>
              </a:rPr>
              <a:t>/apache2/sites-available/000-default.conf</a:t>
            </a:r>
          </a:p>
          <a:p>
            <a:pPr algn="just"/>
            <a:r>
              <a:rPr lang="nl-NL" sz="1400" dirty="0"/>
              <a:t>Tambahkan/ubah baris: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nl-NL" sz="1400" dirty="0"/>
              <a:t>ServerName verdy.co.id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nl-NL" sz="1400" dirty="0"/>
              <a:t>DocumentRoot /var/www/html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nl-NL" sz="1400" dirty="0"/>
              <a:t>Lalu restart: sudo systemctl restart apache2</a:t>
            </a:r>
          </a:p>
          <a:p>
            <a:pPr algn="just"/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0" y="189763"/>
            <a:ext cx="428023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/>
              <a:t>9. </a:t>
            </a:r>
            <a:r>
              <a:rPr lang="en-US" b="1" dirty="0" err="1" smtClean="0"/>
              <a:t>Membuat</a:t>
            </a:r>
            <a:r>
              <a:rPr lang="en-US" b="1" dirty="0" smtClean="0"/>
              <a:t> User Email</a:t>
            </a:r>
            <a:endParaRPr lang="en-US" b="1" dirty="0"/>
          </a:p>
          <a:p>
            <a:pPr algn="just"/>
            <a:r>
              <a:rPr lang="en-US" sz="1400" dirty="0" err="1"/>
              <a:t>dua</a:t>
            </a:r>
            <a:r>
              <a:rPr lang="en-US" sz="1400" dirty="0"/>
              <a:t> user, admin </a:t>
            </a:r>
            <a:r>
              <a:rPr lang="en-US" sz="1400" dirty="0" err="1"/>
              <a:t>dan</a:t>
            </a:r>
            <a:r>
              <a:rPr lang="en-US" sz="1400" dirty="0"/>
              <a:t> user1:</a:t>
            </a:r>
          </a:p>
          <a:p>
            <a:pPr lvl="1" algn="just"/>
            <a:r>
              <a:rPr lang="en-US" sz="1400" dirty="0" err="1" smtClean="0">
                <a:solidFill>
                  <a:srgbClr val="0070C0"/>
                </a:solidFill>
              </a:rPr>
              <a:t>sudo</a:t>
            </a:r>
            <a:r>
              <a:rPr lang="en-US" sz="1400" dirty="0" smtClean="0">
                <a:solidFill>
                  <a:srgbClr val="0070C0"/>
                </a:solidFill>
              </a:rPr>
              <a:t> </a:t>
            </a:r>
            <a:r>
              <a:rPr lang="en-US" sz="1400" dirty="0" err="1">
                <a:solidFill>
                  <a:srgbClr val="0070C0"/>
                </a:solidFill>
              </a:rPr>
              <a:t>adduser</a:t>
            </a:r>
            <a:r>
              <a:rPr lang="en-US" sz="1400" dirty="0">
                <a:solidFill>
                  <a:srgbClr val="0070C0"/>
                </a:solidFill>
              </a:rPr>
              <a:t> admin</a:t>
            </a:r>
          </a:p>
          <a:p>
            <a:pPr lvl="1" algn="just"/>
            <a:r>
              <a:rPr lang="en-US" sz="1400" dirty="0" err="1">
                <a:solidFill>
                  <a:srgbClr val="0070C0"/>
                </a:solidFill>
              </a:rPr>
              <a:t>sudo</a:t>
            </a:r>
            <a:r>
              <a:rPr lang="en-US" sz="1400" dirty="0">
                <a:solidFill>
                  <a:srgbClr val="0070C0"/>
                </a:solidFill>
              </a:rPr>
              <a:t> </a:t>
            </a:r>
            <a:r>
              <a:rPr lang="en-US" sz="1400" dirty="0" err="1">
                <a:solidFill>
                  <a:srgbClr val="0070C0"/>
                </a:solidFill>
              </a:rPr>
              <a:t>adduser</a:t>
            </a:r>
            <a:r>
              <a:rPr lang="en-US" sz="1400" dirty="0">
                <a:solidFill>
                  <a:srgbClr val="0070C0"/>
                </a:solidFill>
              </a:rPr>
              <a:t> </a:t>
            </a:r>
            <a:r>
              <a:rPr lang="en-US" sz="1400" dirty="0" smtClean="0">
                <a:solidFill>
                  <a:srgbClr val="0070C0"/>
                </a:solidFill>
              </a:rPr>
              <a:t>user1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476150"/>
            <a:ext cx="428023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 err="1"/>
              <a:t>Konfigurasi</a:t>
            </a:r>
            <a:r>
              <a:rPr lang="en-US" sz="1400" dirty="0"/>
              <a:t> </a:t>
            </a:r>
            <a:r>
              <a:rPr lang="en-US" sz="1400" dirty="0" err="1"/>
              <a:t>Maildir</a:t>
            </a:r>
            <a:r>
              <a:rPr lang="en-US" sz="1400" dirty="0"/>
              <a:t> (</a:t>
            </a:r>
            <a:r>
              <a:rPr lang="en-US" sz="1400" dirty="0" err="1"/>
              <a:t>Penting</a:t>
            </a:r>
            <a:r>
              <a:rPr lang="en-US" sz="1400" dirty="0"/>
              <a:t>):</a:t>
            </a:r>
          </a:p>
          <a:p>
            <a:pPr algn="just"/>
            <a:r>
              <a:rPr lang="en-US" sz="1400" dirty="0"/>
              <a:t>Agar folder email </a:t>
            </a:r>
            <a:r>
              <a:rPr lang="en-US" sz="1400" dirty="0" err="1"/>
              <a:t>otomatis</a:t>
            </a:r>
            <a:r>
              <a:rPr lang="en-US" sz="1400" dirty="0"/>
              <a:t> </a:t>
            </a:r>
            <a:r>
              <a:rPr lang="en-US" sz="1400" dirty="0" err="1"/>
              <a:t>tercipta</a:t>
            </a:r>
            <a:r>
              <a:rPr lang="en-US" sz="1400" dirty="0"/>
              <a:t> </a:t>
            </a:r>
            <a:r>
              <a:rPr lang="en-US" sz="1400" dirty="0" err="1"/>
              <a:t>saat</a:t>
            </a:r>
            <a:r>
              <a:rPr lang="en-US" sz="1400" dirty="0"/>
              <a:t> user </a:t>
            </a:r>
            <a:r>
              <a:rPr lang="en-US" sz="1400" dirty="0" err="1"/>
              <a:t>baru</a:t>
            </a:r>
            <a:r>
              <a:rPr lang="en-US" sz="1400" dirty="0"/>
              <a:t> </a:t>
            </a:r>
            <a:r>
              <a:rPr lang="en-US" sz="1400" dirty="0" err="1"/>
              <a:t>dibuat</a:t>
            </a:r>
            <a:r>
              <a:rPr lang="en-US" sz="1400" dirty="0"/>
              <a:t>, </a:t>
            </a:r>
            <a:r>
              <a:rPr lang="en-US" sz="1400" dirty="0" err="1"/>
              <a:t>jalankan</a:t>
            </a:r>
            <a:r>
              <a:rPr lang="en-US" sz="1400" dirty="0"/>
              <a:t> </a:t>
            </a:r>
            <a:r>
              <a:rPr lang="en-US" sz="1400" dirty="0" err="1"/>
              <a:t>perintah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 smtClean="0"/>
              <a:t>:</a:t>
            </a:r>
          </a:p>
          <a:p>
            <a:pPr algn="just"/>
            <a:r>
              <a:rPr lang="en-US" sz="1400" dirty="0" err="1">
                <a:solidFill>
                  <a:srgbClr val="0070C0"/>
                </a:solidFill>
              </a:rPr>
              <a:t>sudo</a:t>
            </a:r>
            <a:r>
              <a:rPr lang="en-US" sz="1400" dirty="0">
                <a:solidFill>
                  <a:srgbClr val="0070C0"/>
                </a:solidFill>
              </a:rPr>
              <a:t> </a:t>
            </a:r>
            <a:r>
              <a:rPr lang="en-US" sz="1400" dirty="0" err="1">
                <a:solidFill>
                  <a:srgbClr val="0070C0"/>
                </a:solidFill>
              </a:rPr>
              <a:t>maildirmake.dovecot</a:t>
            </a:r>
            <a:r>
              <a:rPr lang="en-US" sz="1400" dirty="0">
                <a:solidFill>
                  <a:srgbClr val="0070C0"/>
                </a:solidFill>
              </a:rPr>
              <a:t> /</a:t>
            </a:r>
            <a:r>
              <a:rPr lang="en-US" sz="1400" dirty="0" err="1">
                <a:solidFill>
                  <a:srgbClr val="0070C0"/>
                </a:solidFill>
              </a:rPr>
              <a:t>etc</a:t>
            </a:r>
            <a:r>
              <a:rPr lang="en-US" sz="1400" dirty="0">
                <a:solidFill>
                  <a:srgbClr val="0070C0"/>
                </a:solidFill>
              </a:rPr>
              <a:t>/</a:t>
            </a:r>
            <a:r>
              <a:rPr lang="en-US" sz="1400" dirty="0" err="1">
                <a:solidFill>
                  <a:srgbClr val="0070C0"/>
                </a:solidFill>
              </a:rPr>
              <a:t>skel</a:t>
            </a:r>
            <a:r>
              <a:rPr lang="en-US" sz="1400" dirty="0">
                <a:solidFill>
                  <a:srgbClr val="0070C0"/>
                </a:solidFill>
              </a:rPr>
              <a:t>/</a:t>
            </a:r>
            <a:r>
              <a:rPr lang="en-US" sz="1400" dirty="0" err="1">
                <a:solidFill>
                  <a:srgbClr val="0070C0"/>
                </a:solidFill>
              </a:rPr>
              <a:t>Maildir</a:t>
            </a:r>
            <a:endParaRPr lang="en-US" sz="1400" dirty="0" smtClean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54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20316" y="44353"/>
            <a:ext cx="870284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Testing</a:t>
            </a:r>
            <a:endParaRPr lang="en-US" b="1" dirty="0"/>
          </a:p>
          <a:p>
            <a:pPr algn="just"/>
            <a:r>
              <a:rPr lang="en-US" sz="1400" dirty="0"/>
              <a:t>A. </a:t>
            </a:r>
            <a:r>
              <a:rPr lang="en-US" sz="1400" dirty="0" err="1"/>
              <a:t>Uji</a:t>
            </a:r>
            <a:r>
              <a:rPr lang="en-US" sz="1400" dirty="0"/>
              <a:t> Web Server:</a:t>
            </a:r>
          </a:p>
          <a:p>
            <a:pPr algn="just"/>
            <a:r>
              <a:rPr lang="en-US" sz="1400" dirty="0" err="1"/>
              <a:t>Buka</a:t>
            </a:r>
            <a:r>
              <a:rPr lang="en-US" sz="1400" dirty="0"/>
              <a:t> Browser di PC Client, </a:t>
            </a:r>
            <a:r>
              <a:rPr lang="en-US" sz="1400" dirty="0" err="1"/>
              <a:t>ketikkan</a:t>
            </a:r>
            <a:r>
              <a:rPr lang="en-US" sz="1400" dirty="0"/>
              <a:t>: http://verdy.co.id. </a:t>
            </a:r>
            <a:r>
              <a:rPr lang="en-US" sz="1400" dirty="0" err="1"/>
              <a:t>Jika</a:t>
            </a:r>
            <a:r>
              <a:rPr lang="en-US" sz="1400" dirty="0"/>
              <a:t> </a:t>
            </a:r>
            <a:r>
              <a:rPr lang="en-US" sz="1400" dirty="0" err="1"/>
              <a:t>muncul</a:t>
            </a:r>
            <a:r>
              <a:rPr lang="en-US" sz="1400" dirty="0"/>
              <a:t> </a:t>
            </a:r>
            <a:r>
              <a:rPr lang="en-US" sz="1400" dirty="0" err="1"/>
              <a:t>tulisan</a:t>
            </a:r>
            <a:r>
              <a:rPr lang="en-US" sz="1400" dirty="0"/>
              <a:t> yang </a:t>
            </a:r>
            <a:r>
              <a:rPr lang="en-US" sz="1400" dirty="0" err="1"/>
              <a:t>dibuat</a:t>
            </a:r>
            <a:r>
              <a:rPr lang="en-US" sz="1400" dirty="0"/>
              <a:t> </a:t>
            </a:r>
            <a:r>
              <a:rPr lang="en-US" sz="1400" dirty="0" err="1"/>
              <a:t>tadi</a:t>
            </a:r>
            <a:r>
              <a:rPr lang="en-US" sz="1400" dirty="0"/>
              <a:t>, </a:t>
            </a:r>
            <a:r>
              <a:rPr lang="en-US" sz="1400" dirty="0" err="1"/>
              <a:t>berarti</a:t>
            </a:r>
            <a:r>
              <a:rPr lang="en-US" sz="1400" dirty="0"/>
              <a:t> DNS </a:t>
            </a:r>
            <a:r>
              <a:rPr lang="en-US" sz="1400" dirty="0" err="1"/>
              <a:t>dan</a:t>
            </a:r>
            <a:r>
              <a:rPr lang="en-US" sz="1400" dirty="0"/>
              <a:t> Web Server </a:t>
            </a:r>
            <a:r>
              <a:rPr lang="en-US" sz="1400" dirty="0" err="1"/>
              <a:t>sukses</a:t>
            </a:r>
            <a:r>
              <a:rPr lang="en-US" sz="1400" dirty="0"/>
              <a:t>.</a:t>
            </a:r>
          </a:p>
          <a:p>
            <a:pPr algn="just"/>
            <a:r>
              <a:rPr lang="en-US" sz="1400" dirty="0"/>
              <a:t>B. </a:t>
            </a:r>
            <a:r>
              <a:rPr lang="en-US" sz="1400" dirty="0" err="1"/>
              <a:t>Uji</a:t>
            </a:r>
            <a:r>
              <a:rPr lang="en-US" sz="1400" dirty="0"/>
              <a:t> Mail Server (via Terminal/Telnet):</a:t>
            </a:r>
          </a:p>
          <a:p>
            <a:pPr algn="just"/>
            <a:r>
              <a:rPr lang="en-US" sz="1400" dirty="0" err="1"/>
              <a:t>Coba</a:t>
            </a:r>
            <a:r>
              <a:rPr lang="en-US" sz="1400" dirty="0"/>
              <a:t> </a:t>
            </a:r>
            <a:r>
              <a:rPr lang="en-US" sz="1400" dirty="0" err="1"/>
              <a:t>kirim</a:t>
            </a:r>
            <a:r>
              <a:rPr lang="en-US" sz="1400" dirty="0"/>
              <a:t> email </a:t>
            </a:r>
            <a:r>
              <a:rPr lang="en-US" sz="1400" dirty="0" err="1"/>
              <a:t>dari</a:t>
            </a:r>
            <a:r>
              <a:rPr lang="en-US" sz="1400" dirty="0"/>
              <a:t> admin </a:t>
            </a:r>
            <a:r>
              <a:rPr lang="en-US" sz="1400" dirty="0" err="1"/>
              <a:t>ke</a:t>
            </a:r>
            <a:r>
              <a:rPr lang="en-US" sz="1400" dirty="0"/>
              <a:t> user1 </a:t>
            </a:r>
            <a:r>
              <a:rPr lang="en-US" sz="1400" dirty="0" err="1"/>
              <a:t>melalui</a:t>
            </a:r>
            <a:r>
              <a:rPr lang="en-US" sz="1400" dirty="0"/>
              <a:t> Server A: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sz="1400" dirty="0"/>
              <a:t>telnet localhost 25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sz="1400" dirty="0" err="1"/>
              <a:t>Ketik</a:t>
            </a:r>
            <a:r>
              <a:rPr lang="en-US" sz="1400" dirty="0"/>
              <a:t>: mail from: admin@verdy.co.id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sz="1400" dirty="0" err="1"/>
              <a:t>Ketik</a:t>
            </a:r>
            <a:r>
              <a:rPr lang="en-US" sz="1400" dirty="0"/>
              <a:t>: </a:t>
            </a:r>
            <a:r>
              <a:rPr lang="en-US" sz="1400" dirty="0" err="1"/>
              <a:t>rcpt</a:t>
            </a:r>
            <a:r>
              <a:rPr lang="en-US" sz="1400" dirty="0"/>
              <a:t> to: user1@verdy.co.id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sz="1400" dirty="0" err="1"/>
              <a:t>Ketik</a:t>
            </a:r>
            <a:r>
              <a:rPr lang="en-US" sz="1400" dirty="0"/>
              <a:t>: data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sz="1400" dirty="0" err="1"/>
              <a:t>Ketik</a:t>
            </a:r>
            <a:r>
              <a:rPr lang="en-US" sz="1400" dirty="0"/>
              <a:t>: Halo </a:t>
            </a:r>
            <a:r>
              <a:rPr lang="en-US" sz="1400" dirty="0" err="1"/>
              <a:t>ini</a:t>
            </a:r>
            <a:r>
              <a:rPr lang="en-US" sz="1400" dirty="0"/>
              <a:t> email </a:t>
            </a:r>
            <a:r>
              <a:rPr lang="en-US" sz="1400" dirty="0" err="1"/>
              <a:t>tes</a:t>
            </a:r>
            <a:r>
              <a:rPr lang="en-US" sz="1400" dirty="0"/>
              <a:t>. </a:t>
            </a:r>
            <a:r>
              <a:rPr lang="en-US" sz="1400" dirty="0" err="1"/>
              <a:t>lalu</a:t>
            </a:r>
            <a:r>
              <a:rPr lang="en-US" sz="1400" dirty="0"/>
              <a:t> </a:t>
            </a:r>
            <a:r>
              <a:rPr lang="en-US" sz="1400" dirty="0" err="1"/>
              <a:t>tekan</a:t>
            </a:r>
            <a:r>
              <a:rPr lang="en-US" sz="1400" dirty="0"/>
              <a:t> Enter, </a:t>
            </a:r>
            <a:r>
              <a:rPr lang="en-US" sz="1400" dirty="0" err="1"/>
              <a:t>titik</a:t>
            </a:r>
            <a:r>
              <a:rPr lang="en-US" sz="1400" dirty="0"/>
              <a:t> (.), </a:t>
            </a:r>
            <a:r>
              <a:rPr lang="en-US" sz="1400" dirty="0" err="1"/>
              <a:t>dan</a:t>
            </a:r>
            <a:r>
              <a:rPr lang="en-US" sz="1400" dirty="0"/>
              <a:t> Enter </a:t>
            </a:r>
            <a:r>
              <a:rPr lang="en-US" sz="1400" dirty="0" err="1"/>
              <a:t>lagi</a:t>
            </a:r>
            <a:r>
              <a:rPr lang="en-US" sz="1400" dirty="0"/>
              <a:t>.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en-US" sz="1400" dirty="0" err="1"/>
              <a:t>Ketik</a:t>
            </a:r>
            <a:r>
              <a:rPr lang="en-US" sz="1400" dirty="0"/>
              <a:t>: quit</a:t>
            </a:r>
          </a:p>
          <a:p>
            <a:pPr algn="just"/>
            <a:r>
              <a:rPr lang="en-US" sz="1400" dirty="0"/>
              <a:t>C. </a:t>
            </a:r>
            <a:r>
              <a:rPr lang="en-US" sz="1400" dirty="0" err="1"/>
              <a:t>Cek</a:t>
            </a:r>
            <a:r>
              <a:rPr lang="en-US" sz="1400" dirty="0"/>
              <a:t> Email </a:t>
            </a:r>
            <a:r>
              <a:rPr lang="en-US" sz="1400" dirty="0" err="1"/>
              <a:t>Masuk</a:t>
            </a:r>
            <a:r>
              <a:rPr lang="en-US" sz="1400" dirty="0"/>
              <a:t>:</a:t>
            </a:r>
          </a:p>
          <a:p>
            <a:pPr algn="just"/>
            <a:r>
              <a:rPr lang="en-US" sz="1400" dirty="0" err="1"/>
              <a:t>Cek</a:t>
            </a:r>
            <a:r>
              <a:rPr lang="en-US" sz="1400" dirty="0"/>
              <a:t> di folder user1: ls /home/user1/</a:t>
            </a:r>
            <a:r>
              <a:rPr lang="en-US" sz="1400" dirty="0" err="1"/>
              <a:t>Maildir</a:t>
            </a:r>
            <a:r>
              <a:rPr lang="en-US" sz="1400" dirty="0"/>
              <a:t>/new/. </a:t>
            </a:r>
            <a:r>
              <a:rPr lang="en-US" sz="1400" dirty="0" err="1"/>
              <a:t>Jika</a:t>
            </a:r>
            <a:r>
              <a:rPr lang="en-US" sz="1400" dirty="0"/>
              <a:t> </a:t>
            </a:r>
            <a:r>
              <a:rPr lang="en-US" sz="1400" dirty="0" err="1"/>
              <a:t>ada</a:t>
            </a:r>
            <a:r>
              <a:rPr lang="en-US" sz="1400" dirty="0"/>
              <a:t> file </a:t>
            </a:r>
            <a:r>
              <a:rPr lang="en-US" sz="1400" dirty="0" err="1"/>
              <a:t>baru</a:t>
            </a:r>
            <a:r>
              <a:rPr lang="en-US" sz="1400" dirty="0"/>
              <a:t>, </a:t>
            </a:r>
            <a:r>
              <a:rPr lang="en-US" sz="1400" dirty="0" err="1"/>
              <a:t>berarti</a:t>
            </a:r>
            <a:r>
              <a:rPr lang="en-US" sz="1400" dirty="0"/>
              <a:t> email </a:t>
            </a:r>
            <a:r>
              <a:rPr lang="en-US" sz="1400" dirty="0" err="1"/>
              <a:t>berhasil</a:t>
            </a:r>
            <a:r>
              <a:rPr lang="en-US" sz="1400" dirty="0"/>
              <a:t> </a:t>
            </a:r>
            <a:r>
              <a:rPr lang="en-US" sz="1400" dirty="0" err="1"/>
              <a:t>diterima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0099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82915" y="189315"/>
            <a:ext cx="4533463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Webmail </a:t>
            </a:r>
            <a:r>
              <a:rPr lang="en-US" b="1" dirty="0" err="1" smtClean="0"/>
              <a:t>Roundcube</a:t>
            </a:r>
            <a:endParaRPr lang="en-US" b="1" dirty="0" smtClean="0"/>
          </a:p>
          <a:p>
            <a:endParaRPr lang="en-US" sz="1400" b="1" dirty="0"/>
          </a:p>
          <a:p>
            <a:r>
              <a:rPr lang="en-US" sz="1400" dirty="0" err="1"/>
              <a:t>Roundcube</a:t>
            </a:r>
            <a:r>
              <a:rPr lang="en-US" sz="1400" dirty="0"/>
              <a:t> </a:t>
            </a:r>
            <a:r>
              <a:rPr lang="en-US" sz="1400" dirty="0" err="1"/>
              <a:t>membutuhkan</a:t>
            </a:r>
            <a:r>
              <a:rPr lang="en-US" sz="1400" dirty="0"/>
              <a:t> database (MySQL/</a:t>
            </a:r>
            <a:r>
              <a:rPr lang="en-US" sz="1400" dirty="0" err="1"/>
              <a:t>MariaDB</a:t>
            </a:r>
            <a:r>
              <a:rPr lang="en-US" sz="1400" dirty="0"/>
              <a:t>)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menyimpan</a:t>
            </a:r>
            <a:r>
              <a:rPr lang="en-US" sz="1400" dirty="0"/>
              <a:t> data </a:t>
            </a:r>
            <a:r>
              <a:rPr lang="en-US" sz="1400" dirty="0" err="1"/>
              <a:t>pengguna</a:t>
            </a:r>
            <a:r>
              <a:rPr lang="en-US" sz="1400" dirty="0"/>
              <a:t>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 smtClean="0"/>
              <a:t>kontak</a:t>
            </a:r>
            <a:endParaRPr lang="en-US" sz="1400" dirty="0" smtClean="0"/>
          </a:p>
          <a:p>
            <a:pPr marL="342900" indent="-342900">
              <a:buAutoNum type="alphaUcPeriod"/>
            </a:pPr>
            <a:r>
              <a:rPr lang="en-US" sz="1400" b="1" dirty="0" err="1" smtClean="0"/>
              <a:t>Instal</a:t>
            </a:r>
            <a:r>
              <a:rPr lang="en-US" sz="1400" b="1" dirty="0" smtClean="0"/>
              <a:t> </a:t>
            </a:r>
            <a:r>
              <a:rPr lang="en-US" sz="1400" b="1" dirty="0"/>
              <a:t>Database &amp; PHP </a:t>
            </a:r>
            <a:r>
              <a:rPr lang="en-US" sz="1400" b="1" dirty="0" smtClean="0"/>
              <a:t>Dependencies</a:t>
            </a:r>
          </a:p>
          <a:p>
            <a:r>
              <a:rPr lang="en-US" sz="1400" b="1" dirty="0" err="1">
                <a:solidFill>
                  <a:srgbClr val="0070C0"/>
                </a:solidFill>
              </a:rPr>
              <a:t>sudo</a:t>
            </a:r>
            <a:r>
              <a:rPr lang="en-US" sz="1400" b="1" dirty="0">
                <a:solidFill>
                  <a:srgbClr val="0070C0"/>
                </a:solidFill>
              </a:rPr>
              <a:t> apt install </a:t>
            </a:r>
            <a:r>
              <a:rPr lang="en-US" sz="1400" b="1" dirty="0" err="1">
                <a:solidFill>
                  <a:srgbClr val="0070C0"/>
                </a:solidFill>
              </a:rPr>
              <a:t>mariadb</a:t>
            </a:r>
            <a:r>
              <a:rPr lang="en-US" sz="1400" b="1" dirty="0">
                <a:solidFill>
                  <a:srgbClr val="0070C0"/>
                </a:solidFill>
              </a:rPr>
              <a:t>-server </a:t>
            </a:r>
            <a:r>
              <a:rPr lang="en-US" sz="1400" b="1" dirty="0" err="1">
                <a:solidFill>
                  <a:srgbClr val="0070C0"/>
                </a:solidFill>
              </a:rPr>
              <a:t>php-mysql</a:t>
            </a:r>
            <a:r>
              <a:rPr lang="en-US" sz="1400" b="1" dirty="0">
                <a:solidFill>
                  <a:srgbClr val="0070C0"/>
                </a:solidFill>
              </a:rPr>
              <a:t> php-net-idna2 </a:t>
            </a:r>
            <a:r>
              <a:rPr lang="en-US" sz="1400" b="1" dirty="0" err="1">
                <a:solidFill>
                  <a:srgbClr val="0070C0"/>
                </a:solidFill>
              </a:rPr>
              <a:t>php</a:t>
            </a:r>
            <a:r>
              <a:rPr lang="en-US" sz="1400" b="1" dirty="0">
                <a:solidFill>
                  <a:srgbClr val="0070C0"/>
                </a:solidFill>
              </a:rPr>
              <a:t>-mail-mime </a:t>
            </a:r>
            <a:r>
              <a:rPr lang="en-US" sz="1400" b="1" dirty="0" err="1">
                <a:solidFill>
                  <a:srgbClr val="0070C0"/>
                </a:solidFill>
              </a:rPr>
              <a:t>php-intl</a:t>
            </a:r>
            <a:r>
              <a:rPr lang="en-US" sz="1400" b="1" dirty="0">
                <a:solidFill>
                  <a:srgbClr val="0070C0"/>
                </a:solidFill>
              </a:rPr>
              <a:t> </a:t>
            </a:r>
            <a:r>
              <a:rPr lang="en-US" sz="1400" b="1" dirty="0" smtClean="0">
                <a:solidFill>
                  <a:srgbClr val="0070C0"/>
                </a:solidFill>
              </a:rPr>
              <a:t>–y</a:t>
            </a:r>
          </a:p>
          <a:p>
            <a:r>
              <a:rPr lang="en-US" sz="1400" b="1" dirty="0"/>
              <a:t>B. </a:t>
            </a:r>
            <a:r>
              <a:rPr lang="en-US" sz="1400" b="1" dirty="0" err="1"/>
              <a:t>Buat</a:t>
            </a:r>
            <a:r>
              <a:rPr lang="en-US" sz="1400" b="1" dirty="0"/>
              <a:t> Database </a:t>
            </a:r>
            <a:r>
              <a:rPr lang="en-US" sz="1400" b="1" dirty="0" err="1"/>
              <a:t>untuk</a:t>
            </a:r>
            <a:r>
              <a:rPr lang="en-US" sz="1400" b="1" dirty="0"/>
              <a:t> </a:t>
            </a:r>
            <a:r>
              <a:rPr lang="en-US" sz="1400" b="1" dirty="0" err="1"/>
              <a:t>Roundcube</a:t>
            </a:r>
            <a:endParaRPr lang="en-US" sz="1400" b="1" dirty="0"/>
          </a:p>
          <a:p>
            <a:r>
              <a:rPr lang="en-US" sz="1400" dirty="0" err="1"/>
              <a:t>Masuk</a:t>
            </a:r>
            <a:r>
              <a:rPr lang="en-US" sz="1400" dirty="0"/>
              <a:t> </a:t>
            </a:r>
            <a:r>
              <a:rPr lang="en-US" sz="1400" dirty="0" err="1"/>
              <a:t>ke</a:t>
            </a:r>
            <a:r>
              <a:rPr lang="en-US" sz="1400" dirty="0"/>
              <a:t> MySQL (</a:t>
            </a:r>
            <a:r>
              <a:rPr lang="en-US" sz="1400" dirty="0" err="1"/>
              <a:t>sudo</a:t>
            </a:r>
            <a:r>
              <a:rPr lang="en-US" sz="1400" dirty="0"/>
              <a:t> </a:t>
            </a:r>
            <a:r>
              <a:rPr lang="en-US" sz="1400" dirty="0" err="1"/>
              <a:t>mysql</a:t>
            </a:r>
            <a:r>
              <a:rPr lang="en-US" sz="1400" dirty="0"/>
              <a:t>)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jalankan</a:t>
            </a:r>
            <a:r>
              <a:rPr lang="en-US" sz="1400" dirty="0"/>
              <a:t> </a:t>
            </a:r>
            <a:r>
              <a:rPr lang="en-US" sz="1400" dirty="0" err="1"/>
              <a:t>perintah</a:t>
            </a:r>
            <a:r>
              <a:rPr lang="en-US" sz="1400" dirty="0"/>
              <a:t> </a:t>
            </a:r>
            <a:r>
              <a:rPr lang="en-US" sz="1400" dirty="0" err="1" smtClean="0"/>
              <a:t>berikut</a:t>
            </a:r>
            <a:endParaRPr lang="en-US" sz="1400" dirty="0" smtClean="0"/>
          </a:p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CREATE DATABASE 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roundcubemail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GRANT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ALL PRIVILEGES ON roundcubemail.* TO '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roundcube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'@'localhost' IDENTIFIED BY 'password_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</a:rPr>
              <a:t>kamu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';FLUSH PRIVILEGES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;</a:t>
            </a:r>
          </a:p>
          <a:p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EXIT;</a:t>
            </a:r>
          </a:p>
          <a:p>
            <a:r>
              <a:rPr lang="en-US" sz="1400" b="1" dirty="0"/>
              <a:t>C. </a:t>
            </a:r>
            <a:r>
              <a:rPr lang="en-US" sz="1400" b="1" dirty="0" err="1"/>
              <a:t>Instal</a:t>
            </a:r>
            <a:r>
              <a:rPr lang="en-US" sz="1400" b="1" dirty="0"/>
              <a:t> </a:t>
            </a:r>
            <a:r>
              <a:rPr lang="en-US" sz="1400" b="1" dirty="0" err="1"/>
              <a:t>Roundcube</a:t>
            </a:r>
            <a:endParaRPr lang="en-US" sz="1400" b="1" dirty="0"/>
          </a:p>
          <a:p>
            <a:r>
              <a:rPr lang="en-US" sz="1400" dirty="0"/>
              <a:t>Di Ubuntu/</a:t>
            </a:r>
            <a:r>
              <a:rPr lang="en-US" sz="1400" dirty="0" err="1"/>
              <a:t>Debian</a:t>
            </a:r>
            <a:r>
              <a:rPr lang="en-US" sz="1400" dirty="0"/>
              <a:t>, </a:t>
            </a:r>
            <a:r>
              <a:rPr lang="en-US" sz="1400" dirty="0" err="1"/>
              <a:t>cara</a:t>
            </a:r>
            <a:r>
              <a:rPr lang="en-US" sz="1400" dirty="0"/>
              <a:t> </a:t>
            </a:r>
            <a:r>
              <a:rPr lang="en-US" sz="1400" dirty="0" err="1"/>
              <a:t>termudah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melalui</a:t>
            </a:r>
            <a:r>
              <a:rPr lang="en-US" sz="1400" dirty="0"/>
              <a:t> </a:t>
            </a:r>
            <a:r>
              <a:rPr lang="en-US" sz="1400" dirty="0" err="1"/>
              <a:t>repositori</a:t>
            </a:r>
            <a:r>
              <a:rPr lang="en-US" sz="1400" dirty="0"/>
              <a:t> </a:t>
            </a:r>
            <a:r>
              <a:rPr lang="en-US" sz="1400" dirty="0" err="1"/>
              <a:t>resmi</a:t>
            </a:r>
            <a:r>
              <a:rPr lang="en-US" sz="1400" dirty="0" smtClean="0"/>
              <a:t>:</a:t>
            </a:r>
          </a:p>
          <a:p>
            <a:r>
              <a:rPr lang="en-US" sz="1400" dirty="0" err="1">
                <a:solidFill>
                  <a:srgbClr val="0070C0"/>
                </a:solidFill>
              </a:rPr>
              <a:t>sudo</a:t>
            </a:r>
            <a:r>
              <a:rPr lang="en-US" sz="1400" dirty="0">
                <a:solidFill>
                  <a:srgbClr val="0070C0"/>
                </a:solidFill>
              </a:rPr>
              <a:t> apt install </a:t>
            </a:r>
            <a:r>
              <a:rPr lang="en-US" sz="1400" dirty="0" err="1">
                <a:solidFill>
                  <a:srgbClr val="0070C0"/>
                </a:solidFill>
              </a:rPr>
              <a:t>roundcube</a:t>
            </a:r>
            <a:r>
              <a:rPr lang="en-US" sz="1400" dirty="0">
                <a:solidFill>
                  <a:srgbClr val="0070C0"/>
                </a:solidFill>
              </a:rPr>
              <a:t> </a:t>
            </a:r>
            <a:r>
              <a:rPr lang="en-US" sz="1400" dirty="0" err="1">
                <a:solidFill>
                  <a:srgbClr val="0070C0"/>
                </a:solidFill>
              </a:rPr>
              <a:t>roundcube-mysql</a:t>
            </a:r>
            <a:r>
              <a:rPr lang="en-US" sz="1400" dirty="0">
                <a:solidFill>
                  <a:srgbClr val="0070C0"/>
                </a:solidFill>
              </a:rPr>
              <a:t> </a:t>
            </a:r>
            <a:r>
              <a:rPr lang="en-US" sz="1400" dirty="0" smtClean="0">
                <a:solidFill>
                  <a:srgbClr val="0070C0"/>
                </a:solidFill>
              </a:rPr>
              <a:t>–y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400" dirty="0" err="1"/>
              <a:t>Pilih</a:t>
            </a:r>
            <a:r>
              <a:rPr lang="en-US" sz="1400" dirty="0"/>
              <a:t> Yes </a:t>
            </a:r>
            <a:r>
              <a:rPr lang="en-US" sz="1400" dirty="0" err="1"/>
              <a:t>saat</a:t>
            </a:r>
            <a:r>
              <a:rPr lang="en-US" sz="1400" dirty="0"/>
              <a:t> </a:t>
            </a:r>
            <a:r>
              <a:rPr lang="en-US" sz="1400" dirty="0" err="1"/>
              <a:t>ditanya</a:t>
            </a:r>
            <a:r>
              <a:rPr lang="en-US" sz="1400" dirty="0"/>
              <a:t> Configure database for </a:t>
            </a:r>
            <a:r>
              <a:rPr lang="en-US" sz="1400" dirty="0" err="1"/>
              <a:t>roundcube</a:t>
            </a:r>
            <a:r>
              <a:rPr lang="en-US" sz="1400" dirty="0"/>
              <a:t> with </a:t>
            </a:r>
            <a:r>
              <a:rPr lang="en-US" sz="1400" dirty="0" err="1"/>
              <a:t>dbconfig</a:t>
            </a:r>
            <a:r>
              <a:rPr lang="en-US" sz="1400" dirty="0"/>
              <a:t>-common?.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400" dirty="0" err="1"/>
              <a:t>Masukkan</a:t>
            </a:r>
            <a:r>
              <a:rPr lang="en-US" sz="1400" dirty="0"/>
              <a:t> password database yang </a:t>
            </a:r>
            <a:r>
              <a:rPr lang="en-US" sz="1400" dirty="0" err="1"/>
              <a:t>kamu</a:t>
            </a:r>
            <a:r>
              <a:rPr lang="en-US" sz="1400" dirty="0"/>
              <a:t> </a:t>
            </a:r>
            <a:r>
              <a:rPr lang="en-US" sz="1400" dirty="0" err="1"/>
              <a:t>buat</a:t>
            </a:r>
            <a:r>
              <a:rPr lang="en-US" sz="1400" dirty="0"/>
              <a:t> </a:t>
            </a:r>
            <a:r>
              <a:rPr lang="en-US" sz="1400" dirty="0" err="1"/>
              <a:t>tadi</a:t>
            </a:r>
            <a:r>
              <a:rPr lang="en-US" sz="1400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16378" y="44936"/>
            <a:ext cx="4283243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D. </a:t>
            </a:r>
            <a:r>
              <a:rPr lang="en-US" b="1" dirty="0" err="1"/>
              <a:t>Hubungkan</a:t>
            </a:r>
            <a:r>
              <a:rPr lang="en-US" b="1" dirty="0"/>
              <a:t> </a:t>
            </a:r>
            <a:r>
              <a:rPr lang="en-US" b="1" dirty="0" err="1"/>
              <a:t>ke</a:t>
            </a:r>
            <a:r>
              <a:rPr lang="en-US" b="1" dirty="0"/>
              <a:t> Apache</a:t>
            </a:r>
          </a:p>
          <a:p>
            <a:r>
              <a:rPr lang="en-US" sz="1400" dirty="0" err="1"/>
              <a:t>Buat</a:t>
            </a:r>
            <a:r>
              <a:rPr lang="en-US" sz="1400" dirty="0"/>
              <a:t> </a:t>
            </a:r>
            <a:r>
              <a:rPr lang="en-US" sz="1400" dirty="0" err="1"/>
              <a:t>symlink</a:t>
            </a:r>
            <a:r>
              <a:rPr lang="en-US" sz="1400" dirty="0"/>
              <a:t> agar folder </a:t>
            </a:r>
            <a:r>
              <a:rPr lang="en-US" sz="1400" dirty="0" err="1"/>
              <a:t>Roundcube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diakses</a:t>
            </a:r>
            <a:r>
              <a:rPr lang="en-US" sz="1400" dirty="0"/>
              <a:t> via web</a:t>
            </a:r>
            <a:r>
              <a:rPr lang="en-US" sz="1400" dirty="0" smtClean="0"/>
              <a:t>:</a:t>
            </a:r>
          </a:p>
          <a:p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</a:rPr>
              <a:t>sudo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ln -s /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</a:rPr>
              <a:t>usr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/share/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</a:rPr>
              <a:t>roundcube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/</a:t>
            </a:r>
            <a:r>
              <a:rPr lang="en-US" sz="1400" dirty="0" err="1" smtClean="0">
                <a:solidFill>
                  <a:schemeClr val="accent5">
                    <a:lumMod val="75000"/>
                  </a:schemeClr>
                </a:solidFill>
              </a:rPr>
              <a:t>var</a:t>
            </a:r>
            <a:r>
              <a:rPr lang="en-US" sz="1400" dirty="0" smtClean="0">
                <a:solidFill>
                  <a:schemeClr val="accent5">
                    <a:lumMod val="75000"/>
                  </a:schemeClr>
                </a:solidFill>
              </a:rPr>
              <a:t>/www/html/webmail</a:t>
            </a:r>
          </a:p>
          <a:p>
            <a:r>
              <a:rPr lang="en-US" sz="1400" dirty="0" err="1"/>
              <a:t>Sekarang</a:t>
            </a:r>
            <a:r>
              <a:rPr lang="en-US" sz="1400" dirty="0"/>
              <a:t> </a:t>
            </a:r>
            <a:r>
              <a:rPr lang="en-US" sz="1400" dirty="0" err="1"/>
              <a:t>buka</a:t>
            </a:r>
            <a:r>
              <a:rPr lang="en-US" sz="1400" dirty="0"/>
              <a:t> http://verdy.co.id </a:t>
            </a:r>
            <a:r>
              <a:rPr lang="en-US" sz="1400" dirty="0" err="1"/>
              <a:t>dari</a:t>
            </a:r>
            <a:r>
              <a:rPr lang="en-US" sz="1400" dirty="0"/>
              <a:t> browser PC Client </a:t>
            </a:r>
            <a:r>
              <a:rPr lang="en-US" sz="1400" dirty="0" err="1"/>
              <a:t>untuk</a:t>
            </a:r>
            <a:r>
              <a:rPr lang="en-US" sz="1400" dirty="0"/>
              <a:t> login</a:t>
            </a:r>
          </a:p>
        </p:txBody>
      </p:sp>
    </p:spTree>
    <p:extLst>
      <p:ext uri="{BB962C8B-B14F-4D97-AF65-F5344CB8AC3E}">
        <p14:creationId xmlns:p14="http://schemas.microsoft.com/office/powerpoint/2010/main" val="329235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64694" y="120280"/>
            <a:ext cx="4572000" cy="418576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1400" b="1" dirty="0" err="1"/>
              <a:t>Konfigurasi</a:t>
            </a:r>
            <a:r>
              <a:rPr lang="en-US" sz="1400" b="1" dirty="0"/>
              <a:t> Router (IP Helper &amp; Static Route)</a:t>
            </a:r>
          </a:p>
          <a:p>
            <a:pPr algn="just"/>
            <a:r>
              <a:rPr lang="en-US" sz="1400" dirty="0" err="1"/>
              <a:t>Berdasarkan</a:t>
            </a:r>
            <a:r>
              <a:rPr lang="en-US" sz="1400" dirty="0"/>
              <a:t> </a:t>
            </a:r>
            <a:r>
              <a:rPr lang="en-US" sz="1400" dirty="0" err="1"/>
              <a:t>topologi</a:t>
            </a:r>
            <a:r>
              <a:rPr lang="en-US" sz="1400" dirty="0"/>
              <a:t> </a:t>
            </a:r>
            <a:r>
              <a:rPr lang="en-US" sz="1400" dirty="0" err="1"/>
              <a:t>kamu</a:t>
            </a:r>
            <a:r>
              <a:rPr lang="en-US" sz="1400" dirty="0"/>
              <a:t>, PC Client </a:t>
            </a:r>
            <a:r>
              <a:rPr lang="en-US" sz="1400" dirty="0" err="1"/>
              <a:t>berada</a:t>
            </a:r>
            <a:r>
              <a:rPr lang="en-US" sz="1400" dirty="0"/>
              <a:t> di </a:t>
            </a:r>
            <a:r>
              <a:rPr lang="en-US" sz="1400" dirty="0" err="1"/>
              <a:t>segmen</a:t>
            </a:r>
            <a:r>
              <a:rPr lang="en-US" sz="1400" dirty="0"/>
              <a:t> yang </a:t>
            </a:r>
            <a:r>
              <a:rPr lang="en-US" sz="1400" dirty="0" err="1"/>
              <a:t>berbeda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Server A. Agar </a:t>
            </a:r>
            <a:r>
              <a:rPr lang="en-US" sz="1400" dirty="0" err="1"/>
              <a:t>komunikasi</a:t>
            </a:r>
            <a:r>
              <a:rPr lang="en-US" sz="1400" dirty="0"/>
              <a:t> </a:t>
            </a:r>
            <a:r>
              <a:rPr lang="en-US" sz="1400" dirty="0" err="1"/>
              <a:t>berjalan</a:t>
            </a:r>
            <a:r>
              <a:rPr lang="en-US" sz="1400" dirty="0"/>
              <a:t> </a:t>
            </a:r>
            <a:r>
              <a:rPr lang="en-US" sz="1400" dirty="0" err="1"/>
              <a:t>lancar</a:t>
            </a:r>
            <a:r>
              <a:rPr lang="en-US" sz="1400" dirty="0"/>
              <a:t>, </a:t>
            </a:r>
            <a:r>
              <a:rPr lang="en-US" sz="1400" dirty="0" err="1"/>
              <a:t>ada</a:t>
            </a:r>
            <a:r>
              <a:rPr lang="en-US" sz="1400" dirty="0"/>
              <a:t> </a:t>
            </a:r>
            <a:r>
              <a:rPr lang="en-US" sz="1400" dirty="0" err="1"/>
              <a:t>dua</a:t>
            </a:r>
            <a:r>
              <a:rPr lang="en-US" sz="1400" dirty="0"/>
              <a:t> </a:t>
            </a:r>
            <a:r>
              <a:rPr lang="en-US" sz="1400" dirty="0" err="1"/>
              <a:t>hal</a:t>
            </a:r>
            <a:r>
              <a:rPr lang="en-US" sz="1400" dirty="0"/>
              <a:t> yang </a:t>
            </a:r>
            <a:r>
              <a:rPr lang="en-US" sz="1400" dirty="0" err="1"/>
              <a:t>wajib</a:t>
            </a:r>
            <a:r>
              <a:rPr lang="en-US" sz="1400" dirty="0"/>
              <a:t> </a:t>
            </a:r>
            <a:r>
              <a:rPr lang="en-US" sz="1400" dirty="0" err="1"/>
              <a:t>dikonfigurasi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 router:</a:t>
            </a:r>
          </a:p>
          <a:p>
            <a:pPr algn="just"/>
            <a:r>
              <a:rPr lang="en-US" sz="1400" b="1" dirty="0" smtClean="0"/>
              <a:t>a. IP </a:t>
            </a:r>
            <a:r>
              <a:rPr lang="en-US" sz="1400" b="1" dirty="0"/>
              <a:t>Helper-Address (</a:t>
            </a:r>
            <a:r>
              <a:rPr lang="en-US" sz="1400" b="1" dirty="0" err="1"/>
              <a:t>Untuk</a:t>
            </a:r>
            <a:r>
              <a:rPr lang="en-US" sz="1400" b="1" dirty="0"/>
              <a:t> DHCP Across Router):</a:t>
            </a:r>
          </a:p>
          <a:p>
            <a:pPr algn="just"/>
            <a:r>
              <a:rPr lang="en-US" sz="1400" dirty="0" err="1"/>
              <a:t>Karena</a:t>
            </a:r>
            <a:r>
              <a:rPr lang="en-US" sz="1400" dirty="0"/>
              <a:t> broadcast DHCP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melewati</a:t>
            </a:r>
            <a:r>
              <a:rPr lang="en-US" sz="1400" dirty="0"/>
              <a:t> router </a:t>
            </a:r>
            <a:r>
              <a:rPr lang="en-US" sz="1400" dirty="0" err="1"/>
              <a:t>secara</a:t>
            </a:r>
            <a:r>
              <a:rPr lang="en-US" sz="1400" dirty="0"/>
              <a:t> default, </a:t>
            </a:r>
            <a:r>
              <a:rPr lang="en-US" sz="1400" dirty="0" err="1"/>
              <a:t>kamu</a:t>
            </a:r>
            <a:r>
              <a:rPr lang="en-US" sz="1400" dirty="0"/>
              <a:t> </a:t>
            </a:r>
            <a:r>
              <a:rPr lang="en-US" sz="1400" dirty="0" err="1"/>
              <a:t>harus</a:t>
            </a:r>
            <a:r>
              <a:rPr lang="en-US" sz="1400" dirty="0"/>
              <a:t> </a:t>
            </a:r>
            <a:r>
              <a:rPr lang="en-US" sz="1400" dirty="0" err="1"/>
              <a:t>mengubahnya</a:t>
            </a:r>
            <a:r>
              <a:rPr lang="en-US" sz="1400" dirty="0"/>
              <a:t> </a:t>
            </a:r>
            <a:r>
              <a:rPr lang="en-US" sz="1400" dirty="0" err="1"/>
              <a:t>menjadi</a:t>
            </a:r>
            <a:r>
              <a:rPr lang="en-US" sz="1400" dirty="0"/>
              <a:t> unicast </a:t>
            </a:r>
            <a:r>
              <a:rPr lang="en-US" sz="1400" dirty="0" err="1"/>
              <a:t>ke</a:t>
            </a:r>
            <a:r>
              <a:rPr lang="en-US" sz="1400" dirty="0"/>
              <a:t> </a:t>
            </a:r>
            <a:r>
              <a:rPr lang="en-US" sz="1400" dirty="0" err="1"/>
              <a:t>arah</a:t>
            </a:r>
            <a:r>
              <a:rPr lang="en-US" sz="1400" dirty="0"/>
              <a:t> Server A.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 err="1"/>
              <a:t>Lokasi</a:t>
            </a:r>
            <a:r>
              <a:rPr lang="en-US" sz="1400" dirty="0"/>
              <a:t>: </a:t>
            </a:r>
            <a:r>
              <a:rPr lang="en-US" sz="1400" dirty="0" err="1"/>
              <a:t>Konfigurasi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dilakukan</a:t>
            </a:r>
            <a:r>
              <a:rPr lang="en-US" sz="1400" dirty="0"/>
              <a:t> </a:t>
            </a:r>
            <a:r>
              <a:rPr lang="en-US" sz="1400" dirty="0" err="1"/>
              <a:t>pada</a:t>
            </a:r>
            <a:r>
              <a:rPr lang="en-US" sz="1400" dirty="0"/>
              <a:t> interface Router2 yang </a:t>
            </a:r>
            <a:r>
              <a:rPr lang="en-US" sz="1400" dirty="0" err="1"/>
              <a:t>terhubung</a:t>
            </a:r>
            <a:r>
              <a:rPr lang="en-US" sz="1400" dirty="0"/>
              <a:t> </a:t>
            </a:r>
            <a:r>
              <a:rPr lang="en-US" sz="1400" dirty="0" err="1"/>
              <a:t>langsung</a:t>
            </a:r>
            <a:r>
              <a:rPr lang="en-US" sz="1400" dirty="0"/>
              <a:t> </a:t>
            </a:r>
            <a:r>
              <a:rPr lang="en-US" sz="1400" dirty="0" err="1"/>
              <a:t>ke</a:t>
            </a:r>
            <a:r>
              <a:rPr lang="en-US" sz="1400" dirty="0"/>
              <a:t> PC Client (</a:t>
            </a:r>
            <a:r>
              <a:rPr lang="en-US" sz="1400" dirty="0" err="1"/>
              <a:t>jalur</a:t>
            </a:r>
            <a:r>
              <a:rPr lang="en-US" sz="1400" dirty="0"/>
              <a:t> Switch1) [3].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 err="1"/>
              <a:t>Perintah</a:t>
            </a:r>
            <a:r>
              <a:rPr lang="en-US" sz="1400" dirty="0"/>
              <a:t>: </a:t>
            </a:r>
            <a:r>
              <a:rPr lang="en-US" sz="1400" dirty="0" err="1"/>
              <a:t>ip</a:t>
            </a:r>
            <a:r>
              <a:rPr lang="en-US" sz="1400" dirty="0"/>
              <a:t> helper-address 192.168.10.10</a:t>
            </a:r>
          </a:p>
          <a:p>
            <a:pPr algn="just"/>
            <a:r>
              <a:rPr lang="en-US" sz="1400" b="1" dirty="0" smtClean="0"/>
              <a:t>b. Routing </a:t>
            </a:r>
            <a:r>
              <a:rPr lang="en-US" sz="1400" b="1" dirty="0" err="1"/>
              <a:t>Statis</a:t>
            </a:r>
            <a:r>
              <a:rPr lang="en-US" sz="1400" b="1" dirty="0"/>
              <a:t> (</a:t>
            </a:r>
            <a:r>
              <a:rPr lang="en-US" sz="1400" b="1" dirty="0" err="1"/>
              <a:t>Jalur</a:t>
            </a:r>
            <a:r>
              <a:rPr lang="en-US" sz="1400" b="1" dirty="0"/>
              <a:t> </a:t>
            </a:r>
            <a:r>
              <a:rPr lang="en-US" sz="1400" b="1" dirty="0" err="1"/>
              <a:t>Komunikasi</a:t>
            </a:r>
            <a:r>
              <a:rPr lang="en-US" sz="1400" b="1" dirty="0"/>
              <a:t>):</a:t>
            </a:r>
          </a:p>
          <a:p>
            <a:pPr algn="just"/>
            <a:r>
              <a:rPr lang="en-US" sz="1400" dirty="0"/>
              <a:t>Agar </a:t>
            </a:r>
            <a:r>
              <a:rPr lang="en-US" sz="1400" dirty="0" err="1"/>
              <a:t>paket</a:t>
            </a:r>
            <a:r>
              <a:rPr lang="en-US" sz="1400" dirty="0"/>
              <a:t> data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bolak-balik</a:t>
            </a:r>
            <a:r>
              <a:rPr lang="en-US" sz="1400" dirty="0"/>
              <a:t> </a:t>
            </a:r>
            <a:r>
              <a:rPr lang="en-US" sz="1400" dirty="0" err="1"/>
              <a:t>antar</a:t>
            </a:r>
            <a:r>
              <a:rPr lang="en-US" sz="1400" dirty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, </a:t>
            </a:r>
            <a:r>
              <a:rPr lang="en-US" sz="1400" dirty="0" err="1"/>
              <a:t>kedua</a:t>
            </a:r>
            <a:r>
              <a:rPr lang="en-US" sz="1400" dirty="0"/>
              <a:t> router </a:t>
            </a:r>
            <a:r>
              <a:rPr lang="en-US" sz="1400" dirty="0" err="1"/>
              <a:t>harus</a:t>
            </a:r>
            <a:r>
              <a:rPr lang="en-US" sz="1400" dirty="0"/>
              <a:t> </a:t>
            </a:r>
            <a:r>
              <a:rPr lang="en-US" sz="1400" dirty="0" err="1"/>
              <a:t>punya</a:t>
            </a:r>
            <a:r>
              <a:rPr lang="en-US" sz="1400" dirty="0"/>
              <a:t> "</a:t>
            </a:r>
            <a:r>
              <a:rPr lang="en-US" sz="1400" dirty="0" err="1"/>
              <a:t>peta</a:t>
            </a:r>
            <a:r>
              <a:rPr lang="en-US" sz="1400" dirty="0"/>
              <a:t>" </a:t>
            </a:r>
            <a:r>
              <a:rPr lang="en-US" sz="1400" dirty="0" err="1"/>
              <a:t>jalan</a:t>
            </a:r>
            <a:r>
              <a:rPr lang="en-US" sz="1400" dirty="0"/>
              <a:t> [2].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Router 1 </a:t>
            </a:r>
            <a:r>
              <a:rPr lang="en-US" sz="1400" dirty="0" err="1"/>
              <a:t>butuh</a:t>
            </a:r>
            <a:r>
              <a:rPr lang="en-US" sz="1400" dirty="0"/>
              <a:t> </a:t>
            </a:r>
            <a:r>
              <a:rPr lang="en-US" sz="1400" dirty="0" err="1"/>
              <a:t>rute</a:t>
            </a:r>
            <a:r>
              <a:rPr lang="en-US" sz="1400" dirty="0"/>
              <a:t> </a:t>
            </a:r>
            <a:r>
              <a:rPr lang="en-US" sz="1400" dirty="0" err="1"/>
              <a:t>ke</a:t>
            </a:r>
            <a:r>
              <a:rPr lang="en-US" sz="1400" dirty="0"/>
              <a:t> </a:t>
            </a:r>
            <a:r>
              <a:rPr lang="en-US" sz="1400" dirty="0" err="1"/>
              <a:t>arah</a:t>
            </a:r>
            <a:r>
              <a:rPr lang="en-US" sz="1400" dirty="0"/>
              <a:t> PC Client </a:t>
            </a:r>
            <a:r>
              <a:rPr lang="en-US" sz="1400" dirty="0" err="1"/>
              <a:t>lewat</a:t>
            </a:r>
            <a:r>
              <a:rPr lang="en-US" sz="1400" dirty="0"/>
              <a:t> IP Serial Router 2 (200.200.20.10).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Router 2 </a:t>
            </a:r>
            <a:r>
              <a:rPr lang="en-US" sz="1400" dirty="0" err="1"/>
              <a:t>butuh</a:t>
            </a:r>
            <a:r>
              <a:rPr lang="en-US" sz="1400" dirty="0"/>
              <a:t> </a:t>
            </a:r>
            <a:r>
              <a:rPr lang="en-US" sz="1400" dirty="0" err="1"/>
              <a:t>rute</a:t>
            </a:r>
            <a:r>
              <a:rPr lang="en-US" sz="1400" dirty="0"/>
              <a:t> </a:t>
            </a:r>
            <a:r>
              <a:rPr lang="en-US" sz="1400" dirty="0" err="1"/>
              <a:t>ke</a:t>
            </a:r>
            <a:r>
              <a:rPr lang="en-US" sz="1400" dirty="0"/>
              <a:t> </a:t>
            </a:r>
            <a:r>
              <a:rPr lang="en-US" sz="1400" dirty="0" err="1"/>
              <a:t>arah</a:t>
            </a:r>
            <a:r>
              <a:rPr lang="en-US" sz="1400" dirty="0"/>
              <a:t> Server A </a:t>
            </a:r>
            <a:r>
              <a:rPr lang="en-US" sz="1400" dirty="0" err="1"/>
              <a:t>lewat</a:t>
            </a:r>
            <a:r>
              <a:rPr lang="en-US" sz="1400" dirty="0"/>
              <a:t> IP Serial Router 1 (200.200.20.4). </a:t>
            </a:r>
          </a:p>
        </p:txBody>
      </p:sp>
    </p:spTree>
    <p:extLst>
      <p:ext uri="{BB962C8B-B14F-4D97-AF65-F5344CB8AC3E}">
        <p14:creationId xmlns:p14="http://schemas.microsoft.com/office/powerpoint/2010/main" val="203760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272066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28649" y="1140589"/>
            <a:ext cx="808221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/>
              <a:t>Komponen</a:t>
            </a:r>
            <a:r>
              <a:rPr lang="en-US" sz="1400" dirty="0"/>
              <a:t>	Cara </a:t>
            </a:r>
            <a:r>
              <a:rPr lang="en-US" sz="1400" dirty="0" err="1"/>
              <a:t>Tes</a:t>
            </a:r>
            <a:r>
              <a:rPr lang="en-US" sz="1400" dirty="0"/>
              <a:t>	</a:t>
            </a:r>
            <a:r>
              <a:rPr lang="en-US" sz="1400" dirty="0" smtClean="0"/>
              <a:t>	          </a:t>
            </a:r>
            <a:r>
              <a:rPr lang="en-US" sz="1400" dirty="0" err="1" smtClean="0"/>
              <a:t>Hasil</a:t>
            </a:r>
            <a:r>
              <a:rPr lang="en-US" sz="1400" dirty="0" smtClean="0"/>
              <a:t> </a:t>
            </a:r>
            <a:r>
              <a:rPr lang="en-US" sz="1400" dirty="0"/>
              <a:t>yang </a:t>
            </a:r>
            <a:r>
              <a:rPr lang="en-US" sz="1400" dirty="0" err="1"/>
              <a:t>Diharapkan</a:t>
            </a:r>
            <a:endParaRPr lang="en-US" sz="1400" dirty="0"/>
          </a:p>
          <a:p>
            <a:r>
              <a:rPr lang="en-US" sz="1400" dirty="0"/>
              <a:t>DHCP	</a:t>
            </a:r>
            <a:r>
              <a:rPr lang="en-US" sz="1400" dirty="0" err="1" smtClean="0"/>
              <a:t>Cek</a:t>
            </a:r>
            <a:r>
              <a:rPr lang="en-US" sz="1400" dirty="0" smtClean="0"/>
              <a:t> </a:t>
            </a:r>
            <a:r>
              <a:rPr lang="en-US" sz="1400" dirty="0"/>
              <a:t>IP di PC Client	</a:t>
            </a:r>
            <a:r>
              <a:rPr lang="en-US" sz="1400" dirty="0" smtClean="0"/>
              <a:t>          PC </a:t>
            </a:r>
            <a:r>
              <a:rPr lang="en-US" sz="1400" dirty="0" err="1"/>
              <a:t>mendapat</a:t>
            </a:r>
            <a:r>
              <a:rPr lang="en-US" sz="1400" dirty="0"/>
              <a:t> IP </a:t>
            </a:r>
            <a:r>
              <a:rPr lang="en-US" sz="1400" dirty="0" err="1"/>
              <a:t>otomatis</a:t>
            </a:r>
            <a:r>
              <a:rPr lang="en-US" sz="1400" dirty="0"/>
              <a:t> (</a:t>
            </a:r>
            <a:r>
              <a:rPr lang="en-US" sz="1400" dirty="0" err="1"/>
              <a:t>misal</a:t>
            </a:r>
            <a:r>
              <a:rPr lang="en-US" sz="1400" dirty="0"/>
              <a:t>: 192.168.10.51)</a:t>
            </a:r>
          </a:p>
          <a:p>
            <a:r>
              <a:rPr lang="en-US" sz="1400" dirty="0"/>
              <a:t>Routing	ping 192.168.10.15	</a:t>
            </a:r>
            <a:r>
              <a:rPr lang="en-US" sz="1400" dirty="0" smtClean="0"/>
              <a:t>          Reply </a:t>
            </a:r>
            <a:r>
              <a:rPr lang="en-US" sz="1400" dirty="0" err="1"/>
              <a:t>dari</a:t>
            </a:r>
            <a:r>
              <a:rPr lang="en-US" sz="1400" dirty="0"/>
              <a:t> Web Server</a:t>
            </a:r>
          </a:p>
          <a:p>
            <a:r>
              <a:rPr lang="en-US" sz="1400" dirty="0"/>
              <a:t>DNS	</a:t>
            </a:r>
            <a:r>
              <a:rPr lang="en-US" sz="1400" dirty="0" err="1"/>
              <a:t>nslookup</a:t>
            </a:r>
            <a:r>
              <a:rPr lang="en-US" sz="1400" dirty="0"/>
              <a:t> verdy.co.id	</a:t>
            </a:r>
            <a:r>
              <a:rPr lang="en-US" sz="1400" dirty="0" smtClean="0"/>
              <a:t>          </a:t>
            </a:r>
            <a:r>
              <a:rPr lang="en-US" sz="1400" dirty="0" err="1" smtClean="0"/>
              <a:t>Muncul</a:t>
            </a:r>
            <a:r>
              <a:rPr lang="en-US" sz="1400" dirty="0" smtClean="0"/>
              <a:t> </a:t>
            </a:r>
            <a:r>
              <a:rPr lang="en-US" sz="1400" dirty="0"/>
              <a:t>IP 192.168.10.15</a:t>
            </a:r>
          </a:p>
          <a:p>
            <a:r>
              <a:rPr lang="en-US" sz="1400" dirty="0"/>
              <a:t>Webmail	</a:t>
            </a:r>
            <a:r>
              <a:rPr lang="en-US" sz="1400" dirty="0" err="1"/>
              <a:t>Buka</a:t>
            </a:r>
            <a:r>
              <a:rPr lang="en-US" sz="1400" dirty="0"/>
              <a:t> browser </a:t>
            </a:r>
            <a:r>
              <a:rPr lang="en-US" sz="1400" dirty="0" err="1"/>
              <a:t>ke</a:t>
            </a:r>
            <a:r>
              <a:rPr lang="en-US" sz="1400" dirty="0"/>
              <a:t> /</a:t>
            </a:r>
            <a:r>
              <a:rPr lang="en-US" sz="1400" dirty="0" smtClean="0"/>
              <a:t>webmail       </a:t>
            </a:r>
            <a:r>
              <a:rPr lang="en-US" sz="1400" dirty="0" err="1" smtClean="0"/>
              <a:t>Tampilan</a:t>
            </a:r>
            <a:r>
              <a:rPr lang="en-US" sz="1400" dirty="0" smtClean="0"/>
              <a:t> </a:t>
            </a:r>
            <a:r>
              <a:rPr lang="en-US" sz="1400" dirty="0"/>
              <a:t>login </a:t>
            </a:r>
            <a:r>
              <a:rPr lang="en-US" sz="1400" dirty="0" err="1"/>
              <a:t>Roundcube</a:t>
            </a:r>
            <a:r>
              <a:rPr lang="en-US" sz="1400" dirty="0"/>
              <a:t> </a:t>
            </a:r>
            <a:r>
              <a:rPr lang="en-US" sz="1400" dirty="0" err="1"/>
              <a:t>muncul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77868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201074"/>
            <a:ext cx="4572000" cy="36009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Konfigurasi</a:t>
            </a:r>
            <a:r>
              <a:rPr lang="en-US" dirty="0"/>
              <a:t> Router 1</a:t>
            </a:r>
          </a:p>
          <a:p>
            <a:pPr algn="just"/>
            <a:r>
              <a:rPr lang="en-US" dirty="0"/>
              <a:t>Router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menghubungkan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Server A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jalur</a:t>
            </a:r>
            <a:r>
              <a:rPr lang="en-US" dirty="0"/>
              <a:t> Serial </a:t>
            </a:r>
            <a:r>
              <a:rPr lang="en-US" dirty="0" err="1"/>
              <a:t>menuju</a:t>
            </a:r>
            <a:r>
              <a:rPr lang="en-US" dirty="0"/>
              <a:t> Router 2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sz="1200" dirty="0"/>
              <a:t>Router1&gt; </a:t>
            </a:r>
            <a:r>
              <a:rPr lang="en-US" sz="1200" dirty="0" smtClean="0"/>
              <a:t>enable</a:t>
            </a:r>
          </a:p>
          <a:p>
            <a:pPr algn="just"/>
            <a:r>
              <a:rPr lang="en-US" sz="1200" dirty="0" smtClean="0"/>
              <a:t>Router1</a:t>
            </a:r>
            <a:r>
              <a:rPr lang="en-US" sz="1200" dirty="0"/>
              <a:t># configure </a:t>
            </a:r>
            <a:r>
              <a:rPr lang="en-US" sz="1200" dirty="0" smtClean="0"/>
              <a:t>terminal</a:t>
            </a:r>
          </a:p>
          <a:p>
            <a:pPr algn="just"/>
            <a:r>
              <a:rPr lang="en-US" sz="1200" dirty="0" smtClean="0"/>
              <a:t>! </a:t>
            </a:r>
            <a:r>
              <a:rPr lang="en-US" sz="1200" dirty="0" err="1"/>
              <a:t>Konfigurasi</a:t>
            </a:r>
            <a:r>
              <a:rPr lang="en-US" sz="1200" dirty="0"/>
              <a:t> Interface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 Server </a:t>
            </a:r>
            <a:r>
              <a:rPr lang="en-US" sz="1200" dirty="0" smtClean="0"/>
              <a:t>A</a:t>
            </a:r>
          </a:p>
          <a:p>
            <a:pPr algn="just"/>
            <a:r>
              <a:rPr lang="en-US" sz="1200" dirty="0" smtClean="0"/>
              <a:t>Router1(</a:t>
            </a:r>
            <a:r>
              <a:rPr lang="en-US" sz="1200" dirty="0" err="1" smtClean="0"/>
              <a:t>config</a:t>
            </a:r>
            <a:r>
              <a:rPr lang="en-US" sz="1200" dirty="0"/>
              <a:t>)# interface </a:t>
            </a:r>
            <a:r>
              <a:rPr lang="en-US" sz="1200" dirty="0" smtClean="0"/>
              <a:t>fa0/1</a:t>
            </a:r>
          </a:p>
          <a:p>
            <a:pPr algn="just"/>
            <a:r>
              <a:rPr lang="en-US" sz="1200" dirty="0" smtClean="0"/>
              <a:t>Router1(</a:t>
            </a:r>
            <a:r>
              <a:rPr lang="en-US" sz="1200" dirty="0" err="1" smtClean="0"/>
              <a:t>config</a:t>
            </a:r>
            <a:r>
              <a:rPr lang="en-US" sz="1200" dirty="0" smtClean="0"/>
              <a:t>-if</a:t>
            </a:r>
            <a:r>
              <a:rPr lang="en-US" sz="1200" dirty="0"/>
              <a:t>)# </a:t>
            </a:r>
            <a:r>
              <a:rPr lang="en-US" sz="1200" dirty="0" err="1"/>
              <a:t>ip</a:t>
            </a:r>
            <a:r>
              <a:rPr lang="en-US" sz="1200" dirty="0"/>
              <a:t> address 192.168.10.1 </a:t>
            </a:r>
            <a:r>
              <a:rPr lang="en-US" sz="1200" dirty="0" smtClean="0"/>
              <a:t>255.255.255.0</a:t>
            </a:r>
          </a:p>
          <a:p>
            <a:pPr algn="just"/>
            <a:r>
              <a:rPr lang="en-US" sz="1200" dirty="0" smtClean="0"/>
              <a:t>Router1(</a:t>
            </a:r>
            <a:r>
              <a:rPr lang="en-US" sz="1200" dirty="0" err="1" smtClean="0"/>
              <a:t>config</a:t>
            </a:r>
            <a:r>
              <a:rPr lang="en-US" sz="1200" dirty="0" smtClean="0"/>
              <a:t>-if</a:t>
            </a:r>
            <a:r>
              <a:rPr lang="en-US" sz="1200" dirty="0"/>
              <a:t>)# no </a:t>
            </a:r>
            <a:r>
              <a:rPr lang="en-US" sz="1200" dirty="0" smtClean="0"/>
              <a:t>shutdown</a:t>
            </a:r>
          </a:p>
          <a:p>
            <a:pPr algn="just"/>
            <a:r>
              <a:rPr lang="en-US" sz="1200" dirty="0" smtClean="0"/>
              <a:t>! </a:t>
            </a:r>
            <a:r>
              <a:rPr lang="en-US" sz="1200" dirty="0" err="1"/>
              <a:t>Konfigurasi</a:t>
            </a:r>
            <a:r>
              <a:rPr lang="en-US" sz="1200" dirty="0"/>
              <a:t> Interface Serial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 Router </a:t>
            </a:r>
            <a:r>
              <a:rPr lang="en-US" sz="1200" dirty="0" smtClean="0"/>
              <a:t>2</a:t>
            </a:r>
          </a:p>
          <a:p>
            <a:pPr algn="just"/>
            <a:r>
              <a:rPr lang="en-US" sz="1200" dirty="0" smtClean="0"/>
              <a:t>Router1(</a:t>
            </a:r>
            <a:r>
              <a:rPr lang="en-US" sz="1200" dirty="0" err="1" smtClean="0"/>
              <a:t>config</a:t>
            </a:r>
            <a:r>
              <a:rPr lang="en-US" sz="1200" dirty="0"/>
              <a:t>)# interface serial </a:t>
            </a:r>
            <a:r>
              <a:rPr lang="en-US" sz="1200" dirty="0" smtClean="0"/>
              <a:t>0/0/0</a:t>
            </a:r>
          </a:p>
          <a:p>
            <a:pPr algn="just"/>
            <a:r>
              <a:rPr lang="en-US" sz="1200" dirty="0" smtClean="0"/>
              <a:t>Router1(</a:t>
            </a:r>
            <a:r>
              <a:rPr lang="en-US" sz="1200" dirty="0" err="1" smtClean="0"/>
              <a:t>config</a:t>
            </a:r>
            <a:r>
              <a:rPr lang="en-US" sz="1200" dirty="0" smtClean="0"/>
              <a:t>-if</a:t>
            </a:r>
            <a:r>
              <a:rPr lang="en-US" sz="1200" dirty="0"/>
              <a:t>)# </a:t>
            </a:r>
            <a:r>
              <a:rPr lang="en-US" sz="1200" dirty="0" err="1"/>
              <a:t>ip</a:t>
            </a:r>
            <a:r>
              <a:rPr lang="en-US" sz="1200" dirty="0"/>
              <a:t> address 200.200.20.4 </a:t>
            </a:r>
            <a:r>
              <a:rPr lang="en-US" sz="1200" dirty="0" smtClean="0"/>
              <a:t>255.255.255.0</a:t>
            </a:r>
          </a:p>
          <a:p>
            <a:pPr algn="just"/>
            <a:r>
              <a:rPr lang="en-US" sz="1200" dirty="0" smtClean="0"/>
              <a:t>Router1(</a:t>
            </a:r>
            <a:r>
              <a:rPr lang="en-US" sz="1200" dirty="0" err="1" smtClean="0"/>
              <a:t>config</a:t>
            </a:r>
            <a:r>
              <a:rPr lang="en-US" sz="1200" dirty="0" smtClean="0"/>
              <a:t>-if</a:t>
            </a:r>
            <a:r>
              <a:rPr lang="en-US" sz="1200" dirty="0"/>
              <a:t>)# no </a:t>
            </a:r>
            <a:r>
              <a:rPr lang="en-US" sz="1200" dirty="0" smtClean="0"/>
              <a:t>shutdown</a:t>
            </a:r>
          </a:p>
          <a:p>
            <a:pPr algn="just"/>
            <a:r>
              <a:rPr lang="en-US" sz="1200" dirty="0" smtClean="0"/>
              <a:t>! </a:t>
            </a:r>
            <a:r>
              <a:rPr lang="en-US" sz="1200" dirty="0"/>
              <a:t>Routing </a:t>
            </a:r>
            <a:r>
              <a:rPr lang="en-US" sz="1200" dirty="0" err="1"/>
              <a:t>Statis</a:t>
            </a:r>
            <a:r>
              <a:rPr lang="en-US" sz="1200" dirty="0"/>
              <a:t>: </a:t>
            </a:r>
            <a:r>
              <a:rPr lang="en-US" sz="1200" dirty="0" err="1"/>
              <a:t>Memberitahu</a:t>
            </a:r>
            <a:r>
              <a:rPr lang="en-US" sz="1200" dirty="0"/>
              <a:t> </a:t>
            </a:r>
            <a:r>
              <a:rPr lang="en-US" sz="1200" dirty="0" err="1"/>
              <a:t>jalan</a:t>
            </a:r>
            <a:r>
              <a:rPr lang="en-US" sz="1200" dirty="0"/>
              <a:t> </a:t>
            </a:r>
            <a:r>
              <a:rPr lang="en-US" sz="1200" dirty="0" err="1"/>
              <a:t>menuju</a:t>
            </a:r>
            <a:r>
              <a:rPr lang="en-US" sz="1200" dirty="0"/>
              <a:t> PC Client (</a:t>
            </a:r>
            <a:r>
              <a:rPr lang="en-US" sz="1200" dirty="0" err="1"/>
              <a:t>asumsi</a:t>
            </a:r>
            <a:r>
              <a:rPr lang="en-US" sz="1200" dirty="0"/>
              <a:t> network PC: 192.168.20.0</a:t>
            </a:r>
            <a:r>
              <a:rPr lang="en-US" sz="1200" dirty="0" smtClean="0"/>
              <a:t>)</a:t>
            </a:r>
          </a:p>
          <a:p>
            <a:pPr algn="just"/>
            <a:r>
              <a:rPr lang="en-US" sz="1200" dirty="0" smtClean="0"/>
              <a:t>Router1(</a:t>
            </a:r>
            <a:r>
              <a:rPr lang="en-US" sz="1200" dirty="0" err="1" smtClean="0"/>
              <a:t>config</a:t>
            </a:r>
            <a:r>
              <a:rPr lang="en-US" sz="1200" dirty="0"/>
              <a:t>)# </a:t>
            </a:r>
            <a:r>
              <a:rPr lang="en-US" sz="1200" dirty="0" err="1"/>
              <a:t>ip</a:t>
            </a:r>
            <a:r>
              <a:rPr lang="en-US" sz="1200" dirty="0"/>
              <a:t> route 192.168.20.0 255.255.255.0 200.200.20.10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01074"/>
            <a:ext cx="4572000" cy="338554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Konfigurasi</a:t>
            </a:r>
            <a:r>
              <a:rPr lang="en-US" dirty="0"/>
              <a:t> Router </a:t>
            </a:r>
            <a:r>
              <a:rPr lang="en-US" dirty="0" smtClean="0"/>
              <a:t>2</a:t>
            </a:r>
            <a:endParaRPr lang="en-US" dirty="0"/>
          </a:p>
          <a:p>
            <a:pPr algn="just"/>
            <a:r>
              <a:rPr lang="en-US" sz="1400" dirty="0"/>
              <a:t>Router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menghubungkan</a:t>
            </a:r>
            <a:r>
              <a:rPr lang="en-US" sz="1400" dirty="0"/>
              <a:t> PC Client </a:t>
            </a:r>
            <a:r>
              <a:rPr lang="en-US" sz="1400" dirty="0" err="1"/>
              <a:t>dan</a:t>
            </a:r>
            <a:r>
              <a:rPr lang="en-US" sz="1400" dirty="0"/>
              <a:t> </a:t>
            </a:r>
            <a:r>
              <a:rPr lang="en-US" sz="1400" dirty="0" err="1"/>
              <a:t>meneruskan</a:t>
            </a:r>
            <a:r>
              <a:rPr lang="en-US" sz="1400" dirty="0"/>
              <a:t> </a:t>
            </a:r>
            <a:r>
              <a:rPr lang="en-US" sz="1400" dirty="0" err="1"/>
              <a:t>permintaan</a:t>
            </a:r>
            <a:r>
              <a:rPr lang="en-US" sz="1400" dirty="0"/>
              <a:t> DHCP </a:t>
            </a:r>
            <a:r>
              <a:rPr lang="en-US" sz="1400" dirty="0" err="1"/>
              <a:t>ke</a:t>
            </a:r>
            <a:r>
              <a:rPr lang="en-US" sz="1400" dirty="0"/>
              <a:t> Server A.</a:t>
            </a:r>
          </a:p>
          <a:p>
            <a:pPr algn="just"/>
            <a:r>
              <a:rPr lang="en-US" sz="1200" dirty="0" smtClean="0"/>
              <a:t>Router2</a:t>
            </a:r>
            <a:r>
              <a:rPr lang="en-US" sz="1200" dirty="0"/>
              <a:t>&gt; </a:t>
            </a:r>
            <a:r>
              <a:rPr lang="en-US" sz="1200" dirty="0" smtClean="0"/>
              <a:t>enable</a:t>
            </a:r>
          </a:p>
          <a:p>
            <a:pPr algn="just"/>
            <a:r>
              <a:rPr lang="en-US" sz="1200" dirty="0" smtClean="0"/>
              <a:t>Router2</a:t>
            </a:r>
            <a:r>
              <a:rPr lang="en-US" sz="1200" dirty="0"/>
              <a:t># configure terminal! </a:t>
            </a:r>
            <a:r>
              <a:rPr lang="en-US" sz="1200" dirty="0" err="1"/>
              <a:t>Konfigurasi</a:t>
            </a:r>
            <a:r>
              <a:rPr lang="en-US" sz="1200" dirty="0"/>
              <a:t> Interface Serial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 Router </a:t>
            </a:r>
            <a:r>
              <a:rPr lang="en-US" sz="1200" dirty="0" smtClean="0"/>
              <a:t>1</a:t>
            </a:r>
          </a:p>
          <a:p>
            <a:pPr algn="just"/>
            <a:r>
              <a:rPr lang="en-US" sz="1200" dirty="0" smtClean="0"/>
              <a:t>Router2(</a:t>
            </a:r>
            <a:r>
              <a:rPr lang="en-US" sz="1200" dirty="0" err="1" smtClean="0"/>
              <a:t>config</a:t>
            </a:r>
            <a:r>
              <a:rPr lang="en-US" sz="1200" dirty="0"/>
              <a:t>)# interface serial </a:t>
            </a:r>
            <a:r>
              <a:rPr lang="en-US" sz="1200" dirty="0" smtClean="0"/>
              <a:t>0/0/0</a:t>
            </a:r>
          </a:p>
          <a:p>
            <a:pPr algn="just"/>
            <a:r>
              <a:rPr lang="en-US" sz="1200" dirty="0" smtClean="0"/>
              <a:t>Router2(</a:t>
            </a:r>
            <a:r>
              <a:rPr lang="en-US" sz="1200" dirty="0" err="1" smtClean="0"/>
              <a:t>config</a:t>
            </a:r>
            <a:r>
              <a:rPr lang="en-US" sz="1200" dirty="0" smtClean="0"/>
              <a:t>-if</a:t>
            </a:r>
            <a:r>
              <a:rPr lang="en-US" sz="1200" dirty="0"/>
              <a:t>)# </a:t>
            </a:r>
            <a:r>
              <a:rPr lang="en-US" sz="1200" dirty="0" err="1"/>
              <a:t>ip</a:t>
            </a:r>
            <a:r>
              <a:rPr lang="en-US" sz="1200" dirty="0"/>
              <a:t> address 200.200.20.10 </a:t>
            </a:r>
            <a:r>
              <a:rPr lang="en-US" sz="1200" dirty="0" smtClean="0"/>
              <a:t>255.255.255.0</a:t>
            </a:r>
          </a:p>
          <a:p>
            <a:pPr algn="just"/>
            <a:r>
              <a:rPr lang="en-US" sz="1200" dirty="0" smtClean="0"/>
              <a:t>Router2(</a:t>
            </a:r>
            <a:r>
              <a:rPr lang="en-US" sz="1200" dirty="0" err="1" smtClean="0"/>
              <a:t>config</a:t>
            </a:r>
            <a:r>
              <a:rPr lang="en-US" sz="1200" dirty="0" smtClean="0"/>
              <a:t>-if</a:t>
            </a:r>
            <a:r>
              <a:rPr lang="en-US" sz="1200" dirty="0"/>
              <a:t>)# no </a:t>
            </a:r>
            <a:r>
              <a:rPr lang="en-US" sz="1200" dirty="0" smtClean="0"/>
              <a:t>shutdown</a:t>
            </a:r>
          </a:p>
          <a:p>
            <a:pPr algn="just"/>
            <a:r>
              <a:rPr lang="en-US" sz="1200" dirty="0" smtClean="0"/>
              <a:t>! </a:t>
            </a:r>
            <a:r>
              <a:rPr lang="en-US" sz="1200" dirty="0" err="1"/>
              <a:t>Konfigurasi</a:t>
            </a:r>
            <a:r>
              <a:rPr lang="en-US" sz="1200" dirty="0"/>
              <a:t> Interface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 Switch1/PC Client (</a:t>
            </a:r>
            <a:r>
              <a:rPr lang="en-US" sz="1200" dirty="0" err="1"/>
              <a:t>asumsi</a:t>
            </a:r>
            <a:r>
              <a:rPr lang="en-US" sz="1200" dirty="0"/>
              <a:t> fa0/0</a:t>
            </a:r>
            <a:r>
              <a:rPr lang="en-US" sz="1200" dirty="0" smtClean="0"/>
              <a:t>)</a:t>
            </a:r>
          </a:p>
          <a:p>
            <a:pPr algn="just"/>
            <a:r>
              <a:rPr lang="en-US" sz="1200" dirty="0" smtClean="0"/>
              <a:t>Router2(</a:t>
            </a:r>
            <a:r>
              <a:rPr lang="en-US" sz="1200" dirty="0" err="1" smtClean="0"/>
              <a:t>config</a:t>
            </a:r>
            <a:r>
              <a:rPr lang="en-US" sz="1200" dirty="0"/>
              <a:t>)# interface </a:t>
            </a:r>
            <a:r>
              <a:rPr lang="en-US" sz="1200" dirty="0" smtClean="0"/>
              <a:t>fa0/0</a:t>
            </a:r>
          </a:p>
          <a:p>
            <a:pPr algn="just"/>
            <a:r>
              <a:rPr lang="en-US" sz="1200" dirty="0" smtClean="0"/>
              <a:t>Router2(</a:t>
            </a:r>
            <a:r>
              <a:rPr lang="en-US" sz="1200" dirty="0" err="1" smtClean="0"/>
              <a:t>config</a:t>
            </a:r>
            <a:r>
              <a:rPr lang="en-US" sz="1200" dirty="0" smtClean="0"/>
              <a:t>-if</a:t>
            </a:r>
            <a:r>
              <a:rPr lang="en-US" sz="1200" dirty="0"/>
              <a:t>)# </a:t>
            </a:r>
            <a:r>
              <a:rPr lang="en-US" sz="1200" dirty="0" err="1"/>
              <a:t>ip</a:t>
            </a:r>
            <a:r>
              <a:rPr lang="en-US" sz="1200" dirty="0"/>
              <a:t> address 192.168.20.1 </a:t>
            </a:r>
            <a:r>
              <a:rPr lang="en-US" sz="1200" dirty="0" smtClean="0"/>
              <a:t>255.255.255.0</a:t>
            </a:r>
          </a:p>
          <a:p>
            <a:pPr algn="just"/>
            <a:r>
              <a:rPr lang="en-US" sz="1200" dirty="0" smtClean="0"/>
              <a:t>Router2(</a:t>
            </a:r>
            <a:r>
              <a:rPr lang="en-US" sz="1200" dirty="0" err="1" smtClean="0"/>
              <a:t>config</a:t>
            </a:r>
            <a:r>
              <a:rPr lang="en-US" sz="1200" dirty="0" smtClean="0"/>
              <a:t>-if</a:t>
            </a:r>
            <a:r>
              <a:rPr lang="en-US" sz="1200" dirty="0"/>
              <a:t>)# no </a:t>
            </a:r>
            <a:r>
              <a:rPr lang="en-US" sz="1200" dirty="0" smtClean="0"/>
              <a:t>shutdown</a:t>
            </a:r>
          </a:p>
          <a:p>
            <a:pPr algn="just"/>
            <a:r>
              <a:rPr lang="en-US" sz="1200" dirty="0" smtClean="0"/>
              <a:t>! </a:t>
            </a:r>
            <a:r>
              <a:rPr lang="en-US" sz="1200" dirty="0"/>
              <a:t>PENTING: </a:t>
            </a:r>
            <a:r>
              <a:rPr lang="en-US" sz="1200" dirty="0" err="1"/>
              <a:t>Mengarahkan</a:t>
            </a:r>
            <a:r>
              <a:rPr lang="en-US" sz="1200" dirty="0"/>
              <a:t> request DHCP PC </a:t>
            </a:r>
            <a:r>
              <a:rPr lang="en-US" sz="1200" dirty="0" err="1"/>
              <a:t>ke</a:t>
            </a:r>
            <a:r>
              <a:rPr lang="en-US" sz="1200" dirty="0"/>
              <a:t> Server </a:t>
            </a:r>
            <a:r>
              <a:rPr lang="en-US" sz="1200" dirty="0" smtClean="0"/>
              <a:t>A</a:t>
            </a:r>
          </a:p>
          <a:p>
            <a:pPr algn="just"/>
            <a:r>
              <a:rPr lang="en-US" sz="1200" dirty="0" smtClean="0"/>
              <a:t>Router2(</a:t>
            </a:r>
            <a:r>
              <a:rPr lang="en-US" sz="1200" dirty="0" err="1" smtClean="0"/>
              <a:t>config</a:t>
            </a:r>
            <a:r>
              <a:rPr lang="en-US" sz="1200" dirty="0" smtClean="0"/>
              <a:t>-if</a:t>
            </a:r>
            <a:r>
              <a:rPr lang="en-US" sz="1200" dirty="0"/>
              <a:t>)# </a:t>
            </a:r>
            <a:r>
              <a:rPr lang="en-US" sz="1200" dirty="0" err="1"/>
              <a:t>ip</a:t>
            </a:r>
            <a:r>
              <a:rPr lang="en-US" sz="1200" dirty="0"/>
              <a:t> helper-address </a:t>
            </a:r>
            <a:r>
              <a:rPr lang="en-US" sz="1200" dirty="0" smtClean="0"/>
              <a:t>192.168.10.10</a:t>
            </a:r>
          </a:p>
          <a:p>
            <a:pPr algn="just"/>
            <a:r>
              <a:rPr lang="en-US" sz="1200" dirty="0" smtClean="0"/>
              <a:t>! </a:t>
            </a:r>
            <a:r>
              <a:rPr lang="en-US" sz="1200" dirty="0"/>
              <a:t>Routing </a:t>
            </a:r>
            <a:r>
              <a:rPr lang="en-US" sz="1200" dirty="0" err="1"/>
              <a:t>Statis</a:t>
            </a:r>
            <a:r>
              <a:rPr lang="en-US" sz="1200" dirty="0"/>
              <a:t>: </a:t>
            </a:r>
            <a:r>
              <a:rPr lang="en-US" sz="1200" dirty="0" err="1"/>
              <a:t>Memberitahu</a:t>
            </a:r>
            <a:r>
              <a:rPr lang="en-US" sz="1200" dirty="0"/>
              <a:t> </a:t>
            </a:r>
            <a:r>
              <a:rPr lang="en-US" sz="1200" dirty="0" err="1"/>
              <a:t>jalan</a:t>
            </a:r>
            <a:r>
              <a:rPr lang="en-US" sz="1200" dirty="0"/>
              <a:t> </a:t>
            </a:r>
            <a:r>
              <a:rPr lang="en-US" sz="1200" dirty="0" err="1"/>
              <a:t>balik</a:t>
            </a:r>
            <a:r>
              <a:rPr lang="en-US" sz="1200" dirty="0"/>
              <a:t> </a:t>
            </a:r>
            <a:r>
              <a:rPr lang="en-US" sz="1200" dirty="0" err="1"/>
              <a:t>ke</a:t>
            </a:r>
            <a:r>
              <a:rPr lang="en-US" sz="1200" dirty="0"/>
              <a:t> </a:t>
            </a:r>
            <a:r>
              <a:rPr lang="en-US" sz="1200" dirty="0" err="1"/>
              <a:t>jaringan</a:t>
            </a:r>
            <a:r>
              <a:rPr lang="en-US" sz="1200" dirty="0"/>
              <a:t> Server ARouter2(</a:t>
            </a:r>
            <a:r>
              <a:rPr lang="en-US" sz="1200" dirty="0" err="1"/>
              <a:t>config</a:t>
            </a:r>
            <a:r>
              <a:rPr lang="en-US" sz="1200" dirty="0"/>
              <a:t>)# </a:t>
            </a:r>
            <a:r>
              <a:rPr lang="en-US" sz="1200" dirty="0" err="1"/>
              <a:t>ip</a:t>
            </a:r>
            <a:r>
              <a:rPr lang="en-US" sz="1200" dirty="0"/>
              <a:t> route 192.168.10.0 255.255.255.0 200.200.20.4</a:t>
            </a:r>
          </a:p>
        </p:txBody>
      </p:sp>
    </p:spTree>
    <p:extLst>
      <p:ext uri="{BB962C8B-B14F-4D97-AF65-F5344CB8AC3E}">
        <p14:creationId xmlns:p14="http://schemas.microsoft.com/office/powerpoint/2010/main" val="2898111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20316" y="189822"/>
            <a:ext cx="4307305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Cara </a:t>
            </a:r>
            <a:r>
              <a:rPr lang="en-US" dirty="0"/>
              <a:t>Login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Roundcube</a:t>
            </a:r>
            <a:r>
              <a:rPr lang="en-US" dirty="0"/>
              <a:t> (Webmail)</a:t>
            </a:r>
          </a:p>
          <a:p>
            <a:pPr algn="just"/>
            <a:r>
              <a:rPr lang="en-US" sz="1400" dirty="0" err="1"/>
              <a:t>Setelah</a:t>
            </a:r>
            <a:r>
              <a:rPr lang="en-US" sz="1400" dirty="0"/>
              <a:t> routing </a:t>
            </a:r>
            <a:r>
              <a:rPr lang="en-US" sz="1400" dirty="0" err="1"/>
              <a:t>beres</a:t>
            </a:r>
            <a:r>
              <a:rPr lang="en-US" sz="1400" dirty="0"/>
              <a:t> </a:t>
            </a:r>
            <a:r>
              <a:rPr lang="en-US" sz="1400" dirty="0" err="1"/>
              <a:t>dan</a:t>
            </a:r>
            <a:r>
              <a:rPr lang="en-US" sz="1400" dirty="0"/>
              <a:t> PC Client </a:t>
            </a:r>
            <a:r>
              <a:rPr lang="en-US" sz="1400" dirty="0" err="1"/>
              <a:t>sudah</a:t>
            </a:r>
            <a:r>
              <a:rPr lang="en-US" sz="1400" dirty="0"/>
              <a:t> </a:t>
            </a:r>
            <a:r>
              <a:rPr lang="en-US" sz="1400" dirty="0" err="1"/>
              <a:t>dapat</a:t>
            </a:r>
            <a:r>
              <a:rPr lang="en-US" sz="1400" dirty="0"/>
              <a:t> IP, </a:t>
            </a:r>
            <a:r>
              <a:rPr lang="en-US" sz="1400" dirty="0" err="1"/>
              <a:t>lakukan</a:t>
            </a:r>
            <a:r>
              <a:rPr lang="en-US" sz="1400" dirty="0"/>
              <a:t> </a:t>
            </a:r>
            <a:r>
              <a:rPr lang="en-US" sz="1400" dirty="0" err="1"/>
              <a:t>ini</a:t>
            </a:r>
            <a:r>
              <a:rPr lang="en-US" sz="1400" dirty="0"/>
              <a:t>:</a:t>
            </a:r>
          </a:p>
          <a:p>
            <a:pPr marL="342900" indent="-342900" algn="just">
              <a:buFont typeface="+mj-lt"/>
              <a:buAutoNum type="alphaLcParenR"/>
            </a:pPr>
            <a:r>
              <a:rPr lang="en-US" sz="1400" dirty="0" err="1"/>
              <a:t>Buka</a:t>
            </a:r>
            <a:r>
              <a:rPr lang="en-US" sz="1400" dirty="0"/>
              <a:t> Browser di PC Client.</a:t>
            </a:r>
          </a:p>
          <a:p>
            <a:pPr marL="342900" indent="-342900" algn="just">
              <a:buFont typeface="+mj-lt"/>
              <a:buAutoNum type="alphaLcParenR"/>
            </a:pPr>
            <a:r>
              <a:rPr lang="en-US" sz="1400" dirty="0" err="1"/>
              <a:t>Ketik</a:t>
            </a:r>
            <a:r>
              <a:rPr lang="en-US" sz="1400" dirty="0"/>
              <a:t> </a:t>
            </a:r>
            <a:r>
              <a:rPr lang="en-US" sz="1400" dirty="0" err="1"/>
              <a:t>alamat</a:t>
            </a:r>
            <a:r>
              <a:rPr lang="en-US" sz="1400" dirty="0"/>
              <a:t>: http://192.168.10 </a:t>
            </a:r>
            <a:r>
              <a:rPr lang="en-US" sz="1400" dirty="0" err="1"/>
              <a:t>atau</a:t>
            </a:r>
            <a:r>
              <a:rPr lang="en-US" sz="1400" dirty="0"/>
              <a:t> http://verdy.co.id.</a:t>
            </a:r>
          </a:p>
          <a:p>
            <a:pPr marL="342900" indent="-342900" algn="just">
              <a:buFont typeface="+mj-lt"/>
              <a:buAutoNum type="alphaLcParenR"/>
            </a:pPr>
            <a:r>
              <a:rPr lang="en-US" sz="1400" dirty="0"/>
              <a:t>Username: </a:t>
            </a:r>
            <a:r>
              <a:rPr lang="en-US" sz="1400" dirty="0" err="1"/>
              <a:t>Masukkan</a:t>
            </a:r>
            <a:r>
              <a:rPr lang="en-US" sz="1400" dirty="0"/>
              <a:t> user yang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buat</a:t>
            </a:r>
            <a:r>
              <a:rPr lang="en-US" sz="1400" dirty="0"/>
              <a:t> </a:t>
            </a:r>
            <a:r>
              <a:rPr lang="en-US" sz="1400" dirty="0" err="1"/>
              <a:t>tadi</a:t>
            </a:r>
            <a:r>
              <a:rPr lang="en-US" sz="1400" dirty="0"/>
              <a:t> (</a:t>
            </a:r>
            <a:r>
              <a:rPr lang="en-US" sz="1400" dirty="0" err="1"/>
              <a:t>contoh</a:t>
            </a:r>
            <a:r>
              <a:rPr lang="en-US" sz="1400" dirty="0"/>
              <a:t>: admin).</a:t>
            </a:r>
          </a:p>
          <a:p>
            <a:pPr marL="342900" indent="-342900" algn="just">
              <a:buFont typeface="+mj-lt"/>
              <a:buAutoNum type="alphaLcParenR"/>
            </a:pPr>
            <a:r>
              <a:rPr lang="en-US" sz="1400" dirty="0"/>
              <a:t>Password: </a:t>
            </a:r>
            <a:r>
              <a:rPr lang="en-US" sz="1400" dirty="0" err="1"/>
              <a:t>Sesuai</a:t>
            </a:r>
            <a:r>
              <a:rPr lang="en-US" sz="1400" dirty="0"/>
              <a:t> yang </a:t>
            </a:r>
            <a:r>
              <a:rPr lang="en-US" sz="1400" dirty="0" err="1"/>
              <a:t>kamu</a:t>
            </a:r>
            <a:r>
              <a:rPr lang="en-US" sz="1400" dirty="0"/>
              <a:t> </a:t>
            </a:r>
            <a:r>
              <a:rPr lang="en-US" sz="1400" dirty="0" err="1"/>
              <a:t>buat</a:t>
            </a:r>
            <a:r>
              <a:rPr lang="en-US" sz="1400" dirty="0"/>
              <a:t> di </a:t>
            </a:r>
            <a:r>
              <a:rPr lang="en-US" sz="1400" dirty="0" err="1"/>
              <a:t>langkah</a:t>
            </a:r>
            <a:r>
              <a:rPr lang="en-US" sz="1400" dirty="0"/>
              <a:t> </a:t>
            </a:r>
            <a:r>
              <a:rPr lang="en-US" sz="1400" dirty="0" err="1"/>
              <a:t>adduser</a:t>
            </a:r>
            <a:r>
              <a:rPr lang="en-US" sz="1400" dirty="0"/>
              <a:t>.</a:t>
            </a:r>
          </a:p>
          <a:p>
            <a:pPr marL="342900" indent="-342900" algn="just">
              <a:buFont typeface="+mj-lt"/>
              <a:buAutoNum type="alphaLcParenR"/>
            </a:pPr>
            <a:r>
              <a:rPr lang="en-US" sz="1400" dirty="0"/>
              <a:t>Server: </a:t>
            </a:r>
            <a:r>
              <a:rPr lang="en-US" sz="1400" dirty="0" err="1"/>
              <a:t>Jika</a:t>
            </a:r>
            <a:r>
              <a:rPr lang="en-US" sz="1400" dirty="0"/>
              <a:t> </a:t>
            </a:r>
            <a:r>
              <a:rPr lang="en-US" sz="1400" dirty="0" err="1"/>
              <a:t>diminta</a:t>
            </a:r>
            <a:r>
              <a:rPr lang="en-US" sz="1400" dirty="0"/>
              <a:t> host, </a:t>
            </a:r>
            <a:r>
              <a:rPr lang="en-US" sz="1400" dirty="0" err="1"/>
              <a:t>masukkan</a:t>
            </a:r>
            <a:r>
              <a:rPr lang="en-US" sz="1400" dirty="0"/>
              <a:t> localhost </a:t>
            </a:r>
            <a:r>
              <a:rPr lang="en-US" sz="1400" dirty="0" err="1"/>
              <a:t>atau</a:t>
            </a:r>
            <a:r>
              <a:rPr lang="en-US" sz="1400" dirty="0"/>
              <a:t> 192.168.10.21.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28147" y="189821"/>
            <a:ext cx="4307305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/>
              <a:t>Tes</a:t>
            </a:r>
            <a:r>
              <a:rPr lang="en-US" dirty="0"/>
              <a:t> </a:t>
            </a:r>
            <a:r>
              <a:rPr lang="en-US" dirty="0" err="1"/>
              <a:t>Kirim</a:t>
            </a:r>
            <a:r>
              <a:rPr lang="en-US" dirty="0"/>
              <a:t> Email (</a:t>
            </a:r>
            <a:r>
              <a:rPr lang="en-US" dirty="0" err="1"/>
              <a:t>Antar</a:t>
            </a:r>
            <a:r>
              <a:rPr lang="en-US" dirty="0"/>
              <a:t> User)</a:t>
            </a:r>
          </a:p>
          <a:p>
            <a:pPr algn="just"/>
            <a:r>
              <a:rPr lang="en-US" sz="1400" dirty="0" err="1"/>
              <a:t>Setelah</a:t>
            </a:r>
            <a:r>
              <a:rPr lang="en-US" sz="1400" dirty="0"/>
              <a:t> </a:t>
            </a:r>
            <a:r>
              <a:rPr lang="en-US" sz="1400" dirty="0" err="1"/>
              <a:t>kamu</a:t>
            </a:r>
            <a:r>
              <a:rPr lang="en-US" sz="1400" dirty="0"/>
              <a:t> </a:t>
            </a:r>
            <a:r>
              <a:rPr lang="en-US" sz="1400" dirty="0" err="1"/>
              <a:t>berhasil</a:t>
            </a:r>
            <a:r>
              <a:rPr lang="en-US" sz="1400" dirty="0"/>
              <a:t> login </a:t>
            </a:r>
            <a:r>
              <a:rPr lang="en-US" sz="1400" dirty="0" err="1"/>
              <a:t>ke</a:t>
            </a:r>
            <a:r>
              <a:rPr lang="en-US" sz="1400" dirty="0"/>
              <a:t> http://verdy.co.id:</a:t>
            </a:r>
          </a:p>
          <a:p>
            <a:pPr marL="342900" indent="-342900" algn="just">
              <a:buFont typeface="+mj-lt"/>
              <a:buAutoNum type="alphaLcPeriod"/>
            </a:pPr>
            <a:r>
              <a:rPr lang="en-US" sz="1400" dirty="0"/>
              <a:t>Login </a:t>
            </a:r>
            <a:r>
              <a:rPr lang="en-US" sz="1400" dirty="0" err="1"/>
              <a:t>sebagai</a:t>
            </a:r>
            <a:r>
              <a:rPr lang="en-US" sz="1400" dirty="0"/>
              <a:t> admin: </a:t>
            </a:r>
            <a:r>
              <a:rPr lang="en-US" sz="1400" dirty="0" err="1"/>
              <a:t>Gunakan</a:t>
            </a:r>
            <a:r>
              <a:rPr lang="en-US" sz="1400" dirty="0"/>
              <a:t> user yang </a:t>
            </a:r>
            <a:r>
              <a:rPr lang="en-US" sz="1400" dirty="0" err="1"/>
              <a:t>kita</a:t>
            </a:r>
            <a:r>
              <a:rPr lang="en-US" sz="1400" dirty="0"/>
              <a:t> </a:t>
            </a:r>
            <a:r>
              <a:rPr lang="en-US" sz="1400" dirty="0" err="1"/>
              <a:t>buat</a:t>
            </a:r>
            <a:r>
              <a:rPr lang="en-US" sz="1400" dirty="0"/>
              <a:t> </a:t>
            </a:r>
            <a:r>
              <a:rPr lang="en-US" sz="1400" dirty="0" err="1"/>
              <a:t>sebelumnya</a:t>
            </a:r>
            <a:r>
              <a:rPr lang="en-US" sz="1400" dirty="0"/>
              <a:t>.</a:t>
            </a:r>
          </a:p>
          <a:p>
            <a:pPr marL="342900" indent="-342900" algn="just">
              <a:buFont typeface="+mj-lt"/>
              <a:buAutoNum type="alphaLcPeriod"/>
            </a:pPr>
            <a:r>
              <a:rPr lang="en-US" sz="1400" dirty="0" err="1"/>
              <a:t>Tulis</a:t>
            </a:r>
            <a:r>
              <a:rPr lang="en-US" sz="1400" dirty="0"/>
              <a:t> Email (Compose):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1400" dirty="0" err="1"/>
              <a:t>Kepada</a:t>
            </a:r>
            <a:r>
              <a:rPr lang="en-US" sz="1400" dirty="0"/>
              <a:t> (To): user1@verdy.co.id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1400" dirty="0" err="1"/>
              <a:t>Subjek</a:t>
            </a:r>
            <a:r>
              <a:rPr lang="en-US" sz="1400" dirty="0"/>
              <a:t>: </a:t>
            </a:r>
            <a:r>
              <a:rPr lang="en-US" sz="1400" dirty="0" err="1"/>
              <a:t>Tes</a:t>
            </a:r>
            <a:r>
              <a:rPr lang="en-US" sz="1400" dirty="0"/>
              <a:t> </a:t>
            </a:r>
            <a:r>
              <a:rPr lang="en-US" sz="1400" dirty="0" err="1"/>
              <a:t>Jaringan</a:t>
            </a:r>
            <a:r>
              <a:rPr lang="en-US" sz="1400" dirty="0"/>
              <a:t> verdy.co.id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1400" dirty="0"/>
              <a:t>Isi: Halo user1, </a:t>
            </a:r>
            <a:r>
              <a:rPr lang="en-US" sz="1400" dirty="0" err="1"/>
              <a:t>ini</a:t>
            </a:r>
            <a:r>
              <a:rPr lang="en-US" sz="1400" dirty="0"/>
              <a:t> </a:t>
            </a:r>
            <a:r>
              <a:rPr lang="en-US" sz="1400" dirty="0" err="1"/>
              <a:t>adalah</a:t>
            </a:r>
            <a:r>
              <a:rPr lang="en-US" sz="1400" dirty="0"/>
              <a:t> </a:t>
            </a:r>
            <a:r>
              <a:rPr lang="en-US" sz="1400" dirty="0" err="1"/>
              <a:t>tes</a:t>
            </a:r>
            <a:r>
              <a:rPr lang="en-US" sz="1400" dirty="0"/>
              <a:t> </a:t>
            </a:r>
            <a:r>
              <a:rPr lang="en-US" sz="1400" dirty="0" err="1"/>
              <a:t>pengiriman</a:t>
            </a:r>
            <a:r>
              <a:rPr lang="en-US" sz="1400" dirty="0"/>
              <a:t> email </a:t>
            </a:r>
            <a:r>
              <a:rPr lang="en-US" sz="1400" dirty="0" err="1"/>
              <a:t>dari</a:t>
            </a:r>
            <a:r>
              <a:rPr lang="en-US" sz="1400" dirty="0"/>
              <a:t> PC Client.</a:t>
            </a:r>
          </a:p>
          <a:p>
            <a:pPr marL="342900" indent="-342900" algn="just">
              <a:buFont typeface="+mj-lt"/>
              <a:buAutoNum type="alphaLcPeriod"/>
            </a:pPr>
            <a:r>
              <a:rPr lang="en-US" sz="1400" dirty="0" err="1"/>
              <a:t>Kirim</a:t>
            </a:r>
            <a:r>
              <a:rPr lang="en-US" sz="1400" dirty="0"/>
              <a:t>: </a:t>
            </a:r>
            <a:r>
              <a:rPr lang="en-US" sz="1400" dirty="0" err="1"/>
              <a:t>Klik</a:t>
            </a:r>
            <a:r>
              <a:rPr lang="en-US" sz="1400" dirty="0"/>
              <a:t> </a:t>
            </a:r>
            <a:r>
              <a:rPr lang="en-US" sz="1400" dirty="0" err="1"/>
              <a:t>tombol</a:t>
            </a:r>
            <a:r>
              <a:rPr lang="en-US" sz="1400" dirty="0"/>
              <a:t> Send.</a:t>
            </a:r>
          </a:p>
          <a:p>
            <a:pPr marL="342900" indent="-342900" algn="just">
              <a:buFont typeface="+mj-lt"/>
              <a:buAutoNum type="alphaLcPeriod"/>
            </a:pPr>
            <a:r>
              <a:rPr lang="en-US" sz="1400" dirty="0" err="1"/>
              <a:t>Cek</a:t>
            </a:r>
            <a:r>
              <a:rPr lang="en-US" sz="1400" dirty="0"/>
              <a:t> </a:t>
            </a:r>
            <a:r>
              <a:rPr lang="en-US" sz="1400" dirty="0" err="1"/>
              <a:t>Penerima</a:t>
            </a:r>
            <a:r>
              <a:rPr lang="en-US" sz="1400" dirty="0"/>
              <a:t>: Logout, </a:t>
            </a:r>
            <a:r>
              <a:rPr lang="en-US" sz="1400" dirty="0" err="1"/>
              <a:t>lalu</a:t>
            </a:r>
            <a:r>
              <a:rPr lang="en-US" sz="1400" dirty="0"/>
              <a:t> login </a:t>
            </a:r>
            <a:r>
              <a:rPr lang="en-US" sz="1400" dirty="0" err="1"/>
              <a:t>kembali</a:t>
            </a:r>
            <a:r>
              <a:rPr lang="en-US" sz="1400" dirty="0"/>
              <a:t> </a:t>
            </a:r>
            <a:r>
              <a:rPr lang="en-US" sz="1400" dirty="0" err="1"/>
              <a:t>menggunakan</a:t>
            </a:r>
            <a:r>
              <a:rPr lang="en-US" sz="1400" dirty="0"/>
              <a:t> </a:t>
            </a:r>
            <a:r>
              <a:rPr lang="en-US" sz="1400" dirty="0" err="1"/>
              <a:t>akun</a:t>
            </a:r>
            <a:r>
              <a:rPr lang="en-US" sz="1400" dirty="0"/>
              <a:t> user1. </a:t>
            </a:r>
            <a:r>
              <a:rPr lang="en-US" sz="1400" dirty="0" err="1"/>
              <a:t>Periksa</a:t>
            </a:r>
            <a:r>
              <a:rPr lang="en-US" sz="1400" dirty="0"/>
              <a:t> </a:t>
            </a:r>
            <a:r>
              <a:rPr lang="en-US" sz="1400" dirty="0" err="1"/>
              <a:t>apakah</a:t>
            </a:r>
            <a:r>
              <a:rPr lang="en-US" sz="1400" dirty="0"/>
              <a:t> </a:t>
            </a:r>
            <a:r>
              <a:rPr lang="en-US" sz="1400" dirty="0" err="1"/>
              <a:t>ada</a:t>
            </a:r>
            <a:r>
              <a:rPr lang="en-US" sz="1400" dirty="0"/>
              <a:t> email </a:t>
            </a:r>
            <a:r>
              <a:rPr lang="en-US" sz="1400" dirty="0" err="1"/>
              <a:t>masuk</a:t>
            </a:r>
            <a:r>
              <a:rPr lang="en-US" sz="1400" dirty="0"/>
              <a:t> di Inbox.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3153045"/>
            <a:ext cx="4572000" cy="169277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1400" dirty="0" err="1"/>
              <a:t>Jika</a:t>
            </a:r>
            <a:r>
              <a:rPr lang="en-US" sz="1400" dirty="0"/>
              <a:t> </a:t>
            </a:r>
            <a:r>
              <a:rPr lang="en-US" sz="1400" dirty="0" err="1"/>
              <a:t>kamu</a:t>
            </a:r>
            <a:r>
              <a:rPr lang="en-US" sz="1400" dirty="0"/>
              <a:t> </a:t>
            </a:r>
            <a:r>
              <a:rPr lang="en-US" sz="1400" dirty="0" err="1"/>
              <a:t>tidak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login </a:t>
            </a:r>
            <a:r>
              <a:rPr lang="en-US" sz="1400" dirty="0" err="1"/>
              <a:t>ke</a:t>
            </a:r>
            <a:r>
              <a:rPr lang="en-US" sz="1400" dirty="0"/>
              <a:t> </a:t>
            </a:r>
            <a:r>
              <a:rPr lang="en-US" sz="1400" dirty="0" err="1"/>
              <a:t>Roundcube</a:t>
            </a:r>
            <a:r>
              <a:rPr lang="en-US" sz="1400" dirty="0"/>
              <a:t>, </a:t>
            </a:r>
            <a:r>
              <a:rPr lang="en-US" sz="1400" dirty="0" err="1"/>
              <a:t>biasanya</a:t>
            </a:r>
            <a:r>
              <a:rPr lang="en-US" sz="1400" dirty="0"/>
              <a:t> </a:t>
            </a:r>
            <a:r>
              <a:rPr lang="en-US" sz="1400" dirty="0" err="1"/>
              <a:t>disebabkan</a:t>
            </a:r>
            <a:r>
              <a:rPr lang="en-US" sz="1400" dirty="0"/>
              <a:t> </a:t>
            </a:r>
            <a:r>
              <a:rPr lang="en-US" sz="1400" dirty="0" err="1"/>
              <a:t>oleh</a:t>
            </a:r>
            <a:r>
              <a:rPr lang="en-US" sz="1400" dirty="0"/>
              <a:t> </a:t>
            </a:r>
            <a:r>
              <a:rPr lang="en-US" sz="1400" dirty="0" err="1"/>
              <a:t>konfigurasi</a:t>
            </a:r>
            <a:r>
              <a:rPr lang="en-US" sz="1400" dirty="0"/>
              <a:t> </a:t>
            </a:r>
            <a:r>
              <a:rPr lang="en-US" sz="1400" dirty="0" err="1"/>
              <a:t>Imap</a:t>
            </a:r>
            <a:r>
              <a:rPr lang="en-US" sz="1400" dirty="0"/>
              <a:t> yang </a:t>
            </a:r>
            <a:r>
              <a:rPr lang="en-US" sz="1400" dirty="0" err="1"/>
              <a:t>belum</a:t>
            </a:r>
            <a:r>
              <a:rPr lang="en-US" sz="1400" dirty="0"/>
              <a:t> pas. </a:t>
            </a:r>
            <a:r>
              <a:rPr lang="en-US" sz="1400" dirty="0" err="1"/>
              <a:t>Cek</a:t>
            </a:r>
            <a:r>
              <a:rPr lang="en-US" sz="1400" dirty="0"/>
              <a:t> file </a:t>
            </a:r>
            <a:r>
              <a:rPr lang="en-US" sz="1400" dirty="0" err="1"/>
              <a:t>berikut</a:t>
            </a:r>
            <a:r>
              <a:rPr lang="en-US" sz="1400" dirty="0"/>
              <a:t> di Server A</a:t>
            </a:r>
            <a:r>
              <a:rPr lang="en-US" sz="1400" dirty="0" smtClean="0"/>
              <a:t>:</a:t>
            </a:r>
          </a:p>
          <a:p>
            <a:pPr algn="just"/>
            <a:r>
              <a:rPr lang="en-US" sz="1400" dirty="0" err="1">
                <a:solidFill>
                  <a:srgbClr val="0070C0"/>
                </a:solidFill>
              </a:rPr>
              <a:t>sudo</a:t>
            </a:r>
            <a:r>
              <a:rPr lang="en-US" sz="1400" dirty="0">
                <a:solidFill>
                  <a:srgbClr val="0070C0"/>
                </a:solidFill>
              </a:rPr>
              <a:t> </a:t>
            </a:r>
            <a:r>
              <a:rPr lang="en-US" sz="1400" dirty="0" err="1">
                <a:solidFill>
                  <a:srgbClr val="0070C0"/>
                </a:solidFill>
              </a:rPr>
              <a:t>nano</a:t>
            </a:r>
            <a:r>
              <a:rPr lang="en-US" sz="1400" dirty="0">
                <a:solidFill>
                  <a:srgbClr val="0070C0"/>
                </a:solidFill>
              </a:rPr>
              <a:t> /</a:t>
            </a:r>
            <a:r>
              <a:rPr lang="en-US" sz="1400" dirty="0" err="1" smtClean="0">
                <a:solidFill>
                  <a:srgbClr val="0070C0"/>
                </a:solidFill>
              </a:rPr>
              <a:t>etc</a:t>
            </a:r>
            <a:r>
              <a:rPr lang="en-US" sz="1400" dirty="0" smtClean="0">
                <a:solidFill>
                  <a:srgbClr val="0070C0"/>
                </a:solidFill>
              </a:rPr>
              <a:t>/</a:t>
            </a:r>
            <a:r>
              <a:rPr lang="en-US" sz="1400" dirty="0" err="1" smtClean="0">
                <a:solidFill>
                  <a:srgbClr val="0070C0"/>
                </a:solidFill>
              </a:rPr>
              <a:t>roundcube</a:t>
            </a:r>
            <a:r>
              <a:rPr lang="en-US" sz="1400" dirty="0" smtClean="0">
                <a:solidFill>
                  <a:srgbClr val="0070C0"/>
                </a:solidFill>
              </a:rPr>
              <a:t>/</a:t>
            </a:r>
            <a:r>
              <a:rPr lang="en-US" sz="1400" dirty="0" err="1" smtClean="0">
                <a:solidFill>
                  <a:srgbClr val="0070C0"/>
                </a:solidFill>
              </a:rPr>
              <a:t>config.inc.php</a:t>
            </a:r>
            <a:endParaRPr lang="en-US" sz="1400" dirty="0" smtClean="0">
              <a:solidFill>
                <a:srgbClr val="0070C0"/>
              </a:solidFill>
            </a:endParaRPr>
          </a:p>
          <a:p>
            <a:pPr lvl="1" algn="just"/>
            <a:r>
              <a:rPr lang="en-US" sz="1200" dirty="0" err="1">
                <a:solidFill>
                  <a:srgbClr val="0070C0"/>
                </a:solidFill>
              </a:rPr>
              <a:t>php</a:t>
            </a:r>
            <a:endParaRPr lang="en-US" sz="1200" dirty="0">
              <a:solidFill>
                <a:srgbClr val="0070C0"/>
              </a:solidFill>
            </a:endParaRPr>
          </a:p>
          <a:p>
            <a:pPr lvl="1" algn="just"/>
            <a:r>
              <a:rPr lang="en-US" sz="1200" dirty="0">
                <a:solidFill>
                  <a:srgbClr val="0070C0"/>
                </a:solidFill>
              </a:rPr>
              <a:t>$</a:t>
            </a:r>
            <a:r>
              <a:rPr lang="en-US" sz="1200" dirty="0" err="1">
                <a:solidFill>
                  <a:srgbClr val="0070C0"/>
                </a:solidFill>
              </a:rPr>
              <a:t>config</a:t>
            </a:r>
            <a:r>
              <a:rPr lang="en-US" sz="1200" dirty="0">
                <a:solidFill>
                  <a:srgbClr val="0070C0"/>
                </a:solidFill>
              </a:rPr>
              <a:t>['</a:t>
            </a:r>
            <a:r>
              <a:rPr lang="en-US" sz="1200" dirty="0" err="1">
                <a:solidFill>
                  <a:srgbClr val="0070C0"/>
                </a:solidFill>
              </a:rPr>
              <a:t>default_host</a:t>
            </a:r>
            <a:r>
              <a:rPr lang="en-US" sz="1200" dirty="0">
                <a:solidFill>
                  <a:srgbClr val="0070C0"/>
                </a:solidFill>
              </a:rPr>
              <a:t>'] = 'localhost'; // </a:t>
            </a:r>
            <a:r>
              <a:rPr lang="en-US" sz="1200" dirty="0" err="1">
                <a:solidFill>
                  <a:srgbClr val="0070C0"/>
                </a:solidFill>
              </a:rPr>
              <a:t>atau</a:t>
            </a:r>
            <a:r>
              <a:rPr lang="en-US" sz="1200" dirty="0">
                <a:solidFill>
                  <a:srgbClr val="0070C0"/>
                </a:solidFill>
              </a:rPr>
              <a:t> IP 192.168.10.21</a:t>
            </a:r>
          </a:p>
          <a:p>
            <a:pPr lvl="1" algn="just"/>
            <a:r>
              <a:rPr lang="en-US" sz="1200" dirty="0">
                <a:solidFill>
                  <a:srgbClr val="0070C0"/>
                </a:solidFill>
              </a:rPr>
              <a:t>$</a:t>
            </a:r>
            <a:r>
              <a:rPr lang="en-US" sz="1200" dirty="0" err="1">
                <a:solidFill>
                  <a:srgbClr val="0070C0"/>
                </a:solidFill>
              </a:rPr>
              <a:t>config</a:t>
            </a:r>
            <a:r>
              <a:rPr lang="en-US" sz="1200" dirty="0">
                <a:solidFill>
                  <a:srgbClr val="0070C0"/>
                </a:solidFill>
              </a:rPr>
              <a:t>['</a:t>
            </a:r>
            <a:r>
              <a:rPr lang="en-US" sz="1200" dirty="0" err="1">
                <a:solidFill>
                  <a:srgbClr val="0070C0"/>
                </a:solidFill>
              </a:rPr>
              <a:t>smtp_server</a:t>
            </a:r>
            <a:r>
              <a:rPr lang="en-US" sz="1200" dirty="0">
                <a:solidFill>
                  <a:srgbClr val="0070C0"/>
                </a:solidFill>
              </a:rPr>
              <a:t>'] = 'localhost';</a:t>
            </a:r>
          </a:p>
          <a:p>
            <a:pPr lvl="1" algn="just"/>
            <a:r>
              <a:rPr lang="en-US" sz="1200" dirty="0">
                <a:solidFill>
                  <a:srgbClr val="0070C0"/>
                </a:solidFill>
              </a:rPr>
              <a:t>$</a:t>
            </a:r>
            <a:r>
              <a:rPr lang="en-US" sz="1200" dirty="0" err="1">
                <a:solidFill>
                  <a:srgbClr val="0070C0"/>
                </a:solidFill>
              </a:rPr>
              <a:t>config</a:t>
            </a:r>
            <a:r>
              <a:rPr lang="en-US" sz="1200" dirty="0">
                <a:solidFill>
                  <a:srgbClr val="0070C0"/>
                </a:solidFill>
              </a:rPr>
              <a:t>['</a:t>
            </a:r>
            <a:r>
              <a:rPr lang="en-US" sz="1200" dirty="0" err="1">
                <a:solidFill>
                  <a:srgbClr val="0070C0"/>
                </a:solidFill>
              </a:rPr>
              <a:t>smtp_port</a:t>
            </a:r>
            <a:r>
              <a:rPr lang="en-US" sz="1200" dirty="0">
                <a:solidFill>
                  <a:srgbClr val="0070C0"/>
                </a:solidFill>
              </a:rPr>
              <a:t>'] = 25;</a:t>
            </a:r>
          </a:p>
        </p:txBody>
      </p:sp>
    </p:spTree>
    <p:extLst>
      <p:ext uri="{BB962C8B-B14F-4D97-AF65-F5344CB8AC3E}">
        <p14:creationId xmlns:p14="http://schemas.microsoft.com/office/powerpoint/2010/main" val="46035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17828" y="189316"/>
            <a:ext cx="20669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Connection Refused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17828" y="587543"/>
            <a:ext cx="29525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/>
              <a:t>sudo</a:t>
            </a:r>
            <a:r>
              <a:rPr lang="en-US" sz="1400" dirty="0"/>
              <a:t> </a:t>
            </a:r>
            <a:r>
              <a:rPr lang="en-US" sz="1400" dirty="0" err="1"/>
              <a:t>systemctl</a:t>
            </a:r>
            <a:r>
              <a:rPr lang="en-US" sz="1400" dirty="0"/>
              <a:t> restart postfix dovecot</a:t>
            </a:r>
          </a:p>
        </p:txBody>
      </p:sp>
    </p:spTree>
    <p:extLst>
      <p:ext uri="{BB962C8B-B14F-4D97-AF65-F5344CB8AC3E}">
        <p14:creationId xmlns:p14="http://schemas.microsoft.com/office/powerpoint/2010/main" val="3872794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286000" y="2248585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4800" dirty="0" err="1" smtClean="0">
                <a:solidFill>
                  <a:srgbClr val="0070C0"/>
                </a:solidFill>
              </a:rPr>
              <a:t>Mauliate</a:t>
            </a:r>
            <a:r>
              <a:rPr lang="en-US" sz="4800" dirty="0" smtClean="0">
                <a:solidFill>
                  <a:srgbClr val="0070C0"/>
                </a:solidFill>
              </a:rPr>
              <a:t> </a:t>
            </a:r>
            <a:r>
              <a:rPr lang="en-US" sz="4800" dirty="0" err="1" smtClean="0">
                <a:solidFill>
                  <a:srgbClr val="0070C0"/>
                </a:solidFill>
              </a:rPr>
              <a:t>Godang</a:t>
            </a:r>
            <a:endParaRPr lang="en-US" sz="4800" dirty="0">
              <a:solidFill>
                <a:srgbClr val="0070C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30239" y="382990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</a:t>
            </a:r>
            <a:r>
              <a:rPr lang="en-US" sz="900" dirty="0" smtClean="0"/>
              <a:t>AmelOline/</a:t>
            </a:r>
            <a:endParaRPr lang="en-US" sz="900" dirty="0"/>
          </a:p>
        </p:txBody>
      </p:sp>
      <p:sp>
        <p:nvSpPr>
          <p:cNvPr id="6" name="Rectangle 5"/>
          <p:cNvSpPr/>
          <p:nvPr/>
        </p:nvSpPr>
        <p:spPr>
          <a:xfrm>
            <a:off x="7121843" y="3725296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7" name="Rectangle 6"/>
          <p:cNvSpPr/>
          <p:nvPr/>
        </p:nvSpPr>
        <p:spPr>
          <a:xfrm>
            <a:off x="5204820" y="3940647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827" y="4044357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12" y="4143395"/>
            <a:ext cx="35429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78880" y="4236349"/>
            <a:ext cx="409313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https://github.com/amelcharolinesgn2/Gyroscope-Sensor-Data-Accelerometer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52347" y="4362522"/>
            <a:ext cx="299294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</a:t>
            </a:r>
            <a:r>
              <a:rPr lang="en-US" sz="900" dirty="0"/>
              <a:t>github.com/amelcharolinesgn2/ANJAR_CCNP_Lab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6193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528" y="952746"/>
            <a:ext cx="3695924" cy="99417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skylab</a:t>
            </a:r>
            <a:r>
              <a:rPr lang="en-US" dirty="0"/>
              <a:t> </a:t>
            </a:r>
            <a:r>
              <a:rPr lang="en-US" dirty="0" err="1"/>
              <a:t>fusionflow</a:t>
            </a:r>
            <a:r>
              <a:rPr lang="en-US" dirty="0"/>
              <a:t>: cloud service </a:t>
            </a:r>
            <a:r>
              <a:rPr lang="en-US" dirty="0" smtClean="0"/>
              <a:t>platform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https</a:t>
            </a:r>
            <a:r>
              <a:rPr lang="en-US" dirty="0"/>
              <a:t>://www.skylabteam.com/fusionflow-for-serviceproviders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4819426" y="948061"/>
            <a:ext cx="3695924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GPU AAS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937760" y="2846688"/>
            <a:ext cx="3695924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1. </a:t>
            </a:r>
            <a:r>
              <a:rPr lang="en-US" dirty="0" err="1" smtClean="0"/>
              <a:t>skylab</a:t>
            </a:r>
            <a:r>
              <a:rPr lang="en-US" dirty="0" smtClean="0"/>
              <a:t> </a:t>
            </a:r>
            <a:r>
              <a:rPr lang="en-US" dirty="0" err="1"/>
              <a:t>fusionflow</a:t>
            </a:r>
            <a:r>
              <a:rPr lang="en-US" dirty="0"/>
              <a:t>: cloud service platform </a:t>
            </a:r>
            <a:endParaRPr lang="en-US" dirty="0" smtClean="0"/>
          </a:p>
          <a:p>
            <a:r>
              <a:rPr lang="en-US" dirty="0" smtClean="0"/>
              <a:t>2. GPU </a:t>
            </a:r>
            <a:r>
              <a:rPr lang="en-US" dirty="0"/>
              <a:t>AAS</a:t>
            </a:r>
          </a:p>
        </p:txBody>
      </p:sp>
    </p:spTree>
    <p:extLst>
      <p:ext uri="{BB962C8B-B14F-4D97-AF65-F5344CB8AC3E}">
        <p14:creationId xmlns:p14="http://schemas.microsoft.com/office/powerpoint/2010/main" val="36339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3946</TotalTime>
  <Words>2186</Words>
  <Application>Microsoft Office PowerPoint</Application>
  <PresentationFormat>On-screen Show (16:9)</PresentationFormat>
  <Paragraphs>574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Malgun Gothic</vt:lpstr>
      <vt:lpstr>Arial</vt:lpstr>
      <vt:lpstr>Arial Unicode MS</vt:lpstr>
      <vt:lpstr>Calibri</vt:lpstr>
      <vt:lpstr>Calibri Light</vt:lpstr>
      <vt:lpstr>Courier New</vt:lpstr>
      <vt:lpstr>Google Sans</vt:lpstr>
      <vt:lpstr>Open Sans</vt:lpstr>
      <vt:lpstr>Wingdings</vt:lpstr>
      <vt:lpstr>Office Theme</vt:lpstr>
      <vt:lpstr>PowerPoint Presentation</vt:lpstr>
      <vt:lpstr>PowerPoint Presentation</vt:lpstr>
      <vt:lpstr>Modem</vt:lpstr>
      <vt:lpstr>Cable Serial Router</vt:lpstr>
      <vt:lpstr>Cable Serial Router</vt:lpstr>
      <vt:lpstr>PowerPoint Presentation</vt:lpstr>
      <vt:lpstr>PowerPoint Presentation</vt:lpstr>
      <vt:lpstr>PowerPoint Presentation</vt:lpstr>
      <vt:lpstr>ServerA</vt:lpstr>
      <vt:lpstr> 2. Konfigurasi DHCP  sudo apt update  sudo apt install isc-dhcp-server       /etc/dhcp/dhcpd.conf: # Definisi Subnet untuk jaringan Server A subnet 192.168.10.0 netmask 255.255.255.0 {   range 192.168.10.50 192.168.10.100;      # Range IP untuk client jika ada di lokal   option routers 192.168.10.1;              # Gateway (IP fa0/1 Router 1)   option domain-name-servers 192.168.10.10; # IP DNS Server (Server A itu sendiri)   option domain-name "verdy.co.id";   default-lease-time 600;   max-lease-time 7200; } # Definisi Subnet untuk jaringan PC Client (Misal: 192.168.20.0/24) # Ubuntu butuh deklarasi subnet ini agar mau memproses request dari DHCP Relay subnet 192.168.20.0 netmask 255.255.255.0 {   range 192.168.20.10 192.168.20.50;   option routers 192.168.20.1;              # Gateway PC Client (IP Router 2 arah PC)   option domain-name-servers 192.168.10.10; # Tetap arahkan ke IP DNS Server A }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skylab fusionflow: cloud service platform  https://www.skylabteam.com/fusionflow-for-serviceproviders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Cloud Platform Official Icons and Sample Diagrams</dc:title>
  <dc:subject/>
  <dc:creator>pds</dc:creator>
  <cp:keywords/>
  <dc:description/>
  <cp:lastModifiedBy>Gde</cp:lastModifiedBy>
  <cp:revision>152</cp:revision>
  <dcterms:modified xsi:type="dcterms:W3CDTF">2026-04-30T02:59:22Z</dcterms:modified>
  <cp:category/>
</cp:coreProperties>
</file>